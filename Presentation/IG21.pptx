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trictFirstAndLastChars="0" autoCompressPictures="0">
  <p:sldMasterIdLst>
    <p:sldMasterId id="2147483648" r:id="rId1"/>
    <p:sldMasterId id="2147483651" r:id="rId3"/>
  </p:sldMasterIdLst>
  <p:notesMasterIdLst>
    <p:notesMasterId r:id="rId5"/>
  </p:notesMasterIdLst>
  <p:handoutMasterIdLst>
    <p:handoutMasterId r:id="rId32"/>
  </p:handoutMasterIdLst>
  <p:sldIdLst>
    <p:sldId id="325" r:id="rId4"/>
    <p:sldId id="839" r:id="rId6"/>
    <p:sldId id="840" r:id="rId7"/>
    <p:sldId id="841" r:id="rId8"/>
    <p:sldId id="859" r:id="rId9"/>
    <p:sldId id="884" r:id="rId10"/>
    <p:sldId id="885" r:id="rId11"/>
    <p:sldId id="843" r:id="rId12"/>
    <p:sldId id="892" r:id="rId13"/>
    <p:sldId id="883" r:id="rId14"/>
    <p:sldId id="845" r:id="rId15"/>
    <p:sldId id="888" r:id="rId16"/>
    <p:sldId id="898" r:id="rId17"/>
    <p:sldId id="889" r:id="rId18"/>
    <p:sldId id="890" r:id="rId19"/>
    <p:sldId id="900" r:id="rId20"/>
    <p:sldId id="899" r:id="rId21"/>
    <p:sldId id="873" r:id="rId22"/>
    <p:sldId id="876" r:id="rId23"/>
    <p:sldId id="878" r:id="rId24"/>
    <p:sldId id="880" r:id="rId25"/>
    <p:sldId id="879" r:id="rId26"/>
    <p:sldId id="891" r:id="rId27"/>
    <p:sldId id="854" r:id="rId28"/>
    <p:sldId id="860" r:id="rId29"/>
    <p:sldId id="901" r:id="rId30"/>
    <p:sldId id="858" r:id="rId31"/>
  </p:sldIdLst>
  <p:sldSz cx="9144000" cy="6858000" type="screen4x3"/>
  <p:notesSz cx="9942195" cy="6760845"/>
  <p:custDataLst>
    <p:tags r:id="rId36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89EA8C8-584C-4C01-89E3-CC153F351FCF}">
          <p14:sldIdLst>
            <p14:sldId id="325"/>
            <p14:sldId id="839"/>
            <p14:sldId id="840"/>
            <p14:sldId id="841"/>
            <p14:sldId id="859"/>
            <p14:sldId id="884"/>
            <p14:sldId id="885"/>
            <p14:sldId id="843"/>
            <p14:sldId id="892"/>
            <p14:sldId id="883"/>
            <p14:sldId id="845"/>
            <p14:sldId id="888"/>
            <p14:sldId id="898"/>
            <p14:sldId id="889"/>
            <p14:sldId id="890"/>
            <p14:sldId id="900"/>
            <p14:sldId id="899"/>
            <p14:sldId id="873"/>
            <p14:sldId id="876"/>
            <p14:sldId id="878"/>
            <p14:sldId id="880"/>
            <p14:sldId id="879"/>
            <p14:sldId id="891"/>
            <p14:sldId id="854"/>
            <p14:sldId id="860"/>
            <p14:sldId id="901"/>
            <p14:sldId id="85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823" userDrawn="1">
          <p15:clr>
            <a:srgbClr val="A4A3A4"/>
          </p15:clr>
        </p15:guide>
        <p15:guide id="2" pos="49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D5D6C6"/>
    <a:srgbClr val="008AD5"/>
    <a:srgbClr val="FFFFFF"/>
    <a:srgbClr val="00B5FF"/>
    <a:srgbClr val="009CF3"/>
    <a:srgbClr val="005493"/>
    <a:srgbClr val="0096FF"/>
    <a:srgbClr val="FF2F92"/>
    <a:srgbClr val="7A81FF"/>
    <a:srgbClr val="BB5C1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266" autoAdjust="0"/>
    <p:restoredTop sz="94082" autoAdjust="0"/>
  </p:normalViewPr>
  <p:slideViewPr>
    <p:cSldViewPr snapToGrid="0" showGuides="1">
      <p:cViewPr varScale="1">
        <p:scale>
          <a:sx n="116" d="100"/>
          <a:sy n="116" d="100"/>
        </p:scale>
        <p:origin x="2624" y="184"/>
      </p:cViewPr>
      <p:guideLst>
        <p:guide orient="horz" pos="823"/>
        <p:guide pos="499"/>
      </p:guideLst>
    </p:cSldViewPr>
  </p:slideViewPr>
  <p:outlineViewPr>
    <p:cViewPr>
      <p:scale>
        <a:sx n="33" d="100"/>
        <a:sy n="33" d="100"/>
      </p:scale>
      <p:origin x="0" y="-49901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-1315"/>
    </p:cViewPr>
  </p:sorterViewPr>
  <p:notesViewPr>
    <p:cSldViewPr snapToGrid="0">
      <p:cViewPr varScale="1">
        <p:scale>
          <a:sx n="77" d="100"/>
          <a:sy n="77" d="100"/>
        </p:scale>
        <p:origin x="1599" y="43"/>
      </p:cViewPr>
      <p:guideLst>
        <p:guide orient="horz" pos="2106"/>
        <p:guide pos="313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6" Type="http://schemas.openxmlformats.org/officeDocument/2006/relationships/tags" Target="tags/tag4.xml"/><Relationship Id="rId35" Type="http://schemas.openxmlformats.org/officeDocument/2006/relationships/tableStyles" Target="tableStyles.xml"/><Relationship Id="rId34" Type="http://schemas.openxmlformats.org/officeDocument/2006/relationships/viewProps" Target="viewProps.xml"/><Relationship Id="rId33" Type="http://schemas.openxmlformats.org/officeDocument/2006/relationships/presProps" Target="presProps.xml"/><Relationship Id="rId32" Type="http://schemas.openxmlformats.org/officeDocument/2006/relationships/handoutMaster" Target="handoutMasters/handoutMaster1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332288" cy="333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91428" tIns="45713" rIns="91428" bIns="45713" numCol="1" anchor="ctr" anchorCtr="0" compatLnSpc="1"/>
          <a:lstStyle>
            <a:lvl1pPr defTabSz="913130">
              <a:defRPr sz="1200" dirty="0">
                <a:latin typeface="Helvetica" panose="020B0604020202020204" pitchFamily="34" charset="0"/>
                <a:ea typeface="MS PGothic" panose="020B0600070205080204" pitchFamily="34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246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635625" y="0"/>
            <a:ext cx="4333875" cy="333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91428" tIns="45713" rIns="91428" bIns="45713" numCol="1" anchor="ctr" anchorCtr="0" compatLnSpc="1"/>
          <a:lstStyle>
            <a:lvl1pPr algn="r" defTabSz="913130">
              <a:defRPr sz="1200">
                <a:latin typeface="Helvetica" panose="020B0604020202020204" pitchFamily="34" charset="0"/>
                <a:ea typeface="MS PGothic" panose="020B0600070205080204" pitchFamily="34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246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438900"/>
            <a:ext cx="4332288" cy="333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91428" tIns="45713" rIns="91428" bIns="45713" numCol="1" anchor="b" anchorCtr="0" compatLnSpc="1"/>
          <a:lstStyle>
            <a:lvl1pPr defTabSz="913130">
              <a:defRPr sz="1200">
                <a:latin typeface="Helvetica" panose="020B0604020202020204" pitchFamily="34" charset="0"/>
                <a:ea typeface="MS PGothic" panose="020B0600070205080204" pitchFamily="34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246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635625" y="6438900"/>
            <a:ext cx="4333875" cy="333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91428" tIns="45713" rIns="91428" bIns="45713" numCol="1" anchor="b" anchorCtr="0" compatLnSpc="1"/>
          <a:lstStyle>
            <a:lvl1pPr algn="r" defTabSz="913130">
              <a:defRPr sz="1200">
                <a:latin typeface="Helvetica" panose="020B0604020202020204" pitchFamily="34" charset="0"/>
                <a:ea typeface="MS PGothic" panose="020B0600070205080204" pitchFamily="34" charset="-128"/>
              </a:defRPr>
            </a:lvl1pPr>
          </a:lstStyle>
          <a:p>
            <a:pPr>
              <a:defRPr/>
            </a:pPr>
            <a:fld id="{5FAB118C-9CC5-46C6-A261-8E8616325EE7}" type="slidenum">
              <a:rPr lang="en-US" altLang="en-US"/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332288" cy="333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91428" tIns="45713" rIns="91428" bIns="45713" numCol="1" anchor="ctr" anchorCtr="0" compatLnSpc="1"/>
          <a:lstStyle>
            <a:lvl1pPr defTabSz="913130">
              <a:defRPr sz="1200">
                <a:latin typeface="Helvetica" panose="020B0604020202020204" pitchFamily="34" charset="0"/>
                <a:ea typeface="MS PGothic" panose="020B0600070205080204" pitchFamily="34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47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35625" y="0"/>
            <a:ext cx="4333875" cy="333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91428" tIns="45713" rIns="91428" bIns="45713" numCol="1" anchor="ctr" anchorCtr="0" compatLnSpc="1"/>
          <a:lstStyle>
            <a:lvl1pPr algn="r" defTabSz="913130">
              <a:defRPr sz="1200">
                <a:latin typeface="Helvetica" panose="020B0604020202020204" pitchFamily="34" charset="0"/>
                <a:ea typeface="MS PGothic" panose="020B0600070205080204" pitchFamily="34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38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230563" y="500063"/>
            <a:ext cx="3400425" cy="255111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47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300163" y="3221038"/>
            <a:ext cx="7369175" cy="30511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91428" tIns="45713" rIns="91428" bIns="45713" numCol="1" anchor="ctr" anchorCtr="0" compatLnSpc="1"/>
          <a:lstStyle/>
          <a:p>
            <a:pPr lvl="0"/>
            <a:r>
              <a:rPr lang="en-US" noProof="0" dirty="0"/>
              <a:t>Click to edit Master text styles</a:t>
            </a:r>
            <a:endParaRPr lang="en-US" noProof="0" dirty="0"/>
          </a:p>
          <a:p>
            <a:pPr lvl="1"/>
            <a:r>
              <a:rPr lang="en-US" noProof="0" dirty="0"/>
              <a:t>Second level</a:t>
            </a:r>
            <a:endParaRPr lang="en-US" noProof="0" dirty="0"/>
          </a:p>
          <a:p>
            <a:pPr lvl="2"/>
            <a:r>
              <a:rPr lang="en-US" noProof="0" dirty="0"/>
              <a:t>Third level</a:t>
            </a:r>
            <a:endParaRPr lang="en-US" noProof="0" dirty="0"/>
          </a:p>
          <a:p>
            <a:pPr lvl="3"/>
            <a:r>
              <a:rPr lang="en-US" noProof="0" dirty="0"/>
              <a:t>Fourth level</a:t>
            </a:r>
            <a:endParaRPr lang="en-US" noProof="0" dirty="0"/>
          </a:p>
          <a:p>
            <a:pPr lvl="4"/>
            <a:r>
              <a:rPr lang="en-US" noProof="0" dirty="0"/>
              <a:t>Fifth level</a:t>
            </a:r>
            <a:endParaRPr lang="en-US" noProof="0" dirty="0"/>
          </a:p>
        </p:txBody>
      </p:sp>
      <p:sp>
        <p:nvSpPr>
          <p:cNvPr id="747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438900"/>
            <a:ext cx="4332288" cy="333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91428" tIns="45713" rIns="91428" bIns="45713" numCol="1" anchor="b" anchorCtr="0" compatLnSpc="1"/>
          <a:lstStyle>
            <a:lvl1pPr defTabSz="913130">
              <a:defRPr sz="1200">
                <a:latin typeface="Helvetica" panose="020B0604020202020204" pitchFamily="34" charset="0"/>
                <a:ea typeface="MS PGothic" panose="020B0600070205080204" pitchFamily="34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47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35625" y="6438900"/>
            <a:ext cx="4333875" cy="333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91428" tIns="45713" rIns="91428" bIns="45713" numCol="1" anchor="b" anchorCtr="0" compatLnSpc="1"/>
          <a:lstStyle>
            <a:lvl1pPr algn="r" defTabSz="913130">
              <a:defRPr sz="1200">
                <a:latin typeface="Helvetica" panose="020B0604020202020204" pitchFamily="34" charset="0"/>
                <a:ea typeface="MS PGothic" panose="020B0600070205080204" pitchFamily="34" charset="-128"/>
              </a:defRPr>
            </a:lvl1pPr>
          </a:lstStyle>
          <a:p>
            <a:pPr>
              <a:defRPr/>
            </a:pPr>
            <a:fld id="{CA46AE8F-55D5-467D-8760-46AABFD6E887}" type="slidenum">
              <a:rPr lang="en-US" altLang="en-US"/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rgbClr val="E36C0A"/>
        </a:solidFill>
        <a:latin typeface="Times New Roman" panose="02020603050405020304" charset="0"/>
        <a:ea typeface="MS PGothic" panose="020B0600070205080204" pitchFamily="34" charset="-128"/>
        <a:cs typeface="MS PGothic" panose="020B0600070205080204" pitchFamily="34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charset="0"/>
        <a:ea typeface="MS PGothic" panose="020B0600070205080204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46AE8F-55D5-467D-8760-46AABFD6E887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55373" y="685800"/>
            <a:ext cx="7901609" cy="1615966"/>
          </a:xfrm>
          <a:solidFill>
            <a:srgbClr val="D2691E"/>
          </a:solidFill>
          <a:ln>
            <a:solidFill>
              <a:srgbClr val="D2691E"/>
            </a:solidFill>
          </a:ln>
        </p:spPr>
        <p:txBody>
          <a:bodyPr/>
          <a:lstStyle>
            <a:lvl1pPr algn="ctr">
              <a:defRPr sz="32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0640" y="30480"/>
            <a:ext cx="8328752" cy="694064"/>
          </a:xfrm>
          <a:prstGeom prst="rect">
            <a:avLst/>
          </a:prstGeom>
          <a:solidFill>
            <a:srgbClr val="0037A4"/>
          </a:solidFill>
          <a:ln w="31750">
            <a:solidFill>
              <a:schemeClr val="bg1"/>
            </a:solidFill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marL="90805" indent="0">
              <a:defRPr/>
            </a:lvl1pPr>
          </a:lstStyle>
          <a:p>
            <a:pPr lvl="0"/>
            <a:r>
              <a:rPr lang="en-US" altLang="en-US" dirty="0"/>
              <a:t>Click to edit Master title style</a:t>
            </a:r>
            <a:endParaRPr lang="en-US" altLang="en-US" dirty="0"/>
          </a:p>
        </p:txBody>
      </p:sp>
      <p:sp>
        <p:nvSpPr>
          <p:cNvPr id="7" name="Rectangle 4"/>
          <p:cNvSpPr>
            <a:spLocks noGrp="1" noChangeArrowheads="1"/>
          </p:cNvSpPr>
          <p:nvPr>
            <p:ph idx="1"/>
          </p:nvPr>
        </p:nvSpPr>
        <p:spPr bwMode="auto">
          <a:xfrm>
            <a:off x="86197" y="782321"/>
            <a:ext cx="8953500" cy="5976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800">
                <a:latin typeface="Helvetica" panose="020B0604020202020204" pitchFamily="34" charset="0"/>
              </a:defRPr>
            </a:lvl1pPr>
            <a:lvl2pPr>
              <a:defRPr sz="1600">
                <a:latin typeface="Helvetica" panose="020B0604020202020204" pitchFamily="34" charset="0"/>
              </a:defRPr>
            </a:lvl2pPr>
            <a:lvl3pPr>
              <a:defRPr sz="1600">
                <a:latin typeface="Helvetica" panose="020B0604020202020204" pitchFamily="34" charset="0"/>
              </a:defRPr>
            </a:lvl3pPr>
            <a:lvl4pPr>
              <a:defRPr sz="1600">
                <a:latin typeface="Helvetica" panose="020B0604020202020204" pitchFamily="34" charset="0"/>
              </a:defRPr>
            </a:lvl4pPr>
            <a:lvl5pPr>
              <a:defRPr sz="1600">
                <a:latin typeface="Helvetica" panose="020B0604020202020204" pitchFamily="34" charset="0"/>
              </a:defRPr>
            </a:lvl5pPr>
          </a:lstStyle>
          <a:p>
            <a:pPr lvl="0"/>
            <a:r>
              <a:rPr lang="en-US" altLang="en-US" dirty="0"/>
              <a:t>Click to edit Master text styles</a:t>
            </a:r>
            <a:endParaRPr lang="en-US" altLang="en-US" dirty="0"/>
          </a:p>
          <a:p>
            <a:pPr lvl="1"/>
            <a:r>
              <a:rPr lang="en-US" altLang="en-US" dirty="0"/>
              <a:t>Second level</a:t>
            </a:r>
            <a:endParaRPr lang="en-US" altLang="en-US" dirty="0"/>
          </a:p>
          <a:p>
            <a:pPr lvl="2"/>
            <a:r>
              <a:rPr lang="en-US" altLang="en-US" dirty="0"/>
              <a:t>Third level</a:t>
            </a:r>
            <a:endParaRPr lang="en-US" altLang="en-US" dirty="0"/>
          </a:p>
          <a:p>
            <a:pPr lvl="3"/>
            <a:r>
              <a:rPr lang="en-US" altLang="en-US" dirty="0"/>
              <a:t>Fourth level</a:t>
            </a:r>
            <a:endParaRPr lang="en-US" altLang="en-US" dirty="0"/>
          </a:p>
          <a:p>
            <a:pPr lvl="4"/>
            <a:r>
              <a:rPr lang="en-US" altLang="en-US" dirty="0"/>
              <a:t>Fifth level  </a:t>
            </a:r>
            <a:endParaRPr lang="en-US" altLang="en-US" dirty="0"/>
          </a:p>
        </p:txBody>
      </p:sp>
      <p:cxnSp>
        <p:nvCxnSpPr>
          <p:cNvPr id="3" name="Straight Connector 2"/>
          <p:cNvCxnSpPr/>
          <p:nvPr userDrawn="1"/>
        </p:nvCxnSpPr>
        <p:spPr bwMode="auto">
          <a:xfrm>
            <a:off x="579120" y="6658235"/>
            <a:ext cx="793496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005493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0509C-50A6-7446-A231-A4C5FA90B28F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D7B32-6FB4-9B4F-9C66-D4AD63211B8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0509C-50A6-7446-A231-A4C5FA90B28F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D7B32-6FB4-9B4F-9C66-D4AD63211B8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0509C-50A6-7446-A231-A4C5FA90B28F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D7B32-6FB4-9B4F-9C66-D4AD63211B8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0509C-50A6-7446-A231-A4C5FA90B28F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D7B32-6FB4-9B4F-9C66-D4AD63211B8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0509C-50A6-7446-A231-A4C5FA90B28F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D7B32-6FB4-9B4F-9C66-D4AD63211B8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0509C-50A6-7446-A231-A4C5FA90B28F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D7B32-6FB4-9B4F-9C66-D4AD63211B8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0509C-50A6-7446-A231-A4C5FA90B28F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D7B32-6FB4-9B4F-9C66-D4AD63211B8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0509C-50A6-7446-A231-A4C5FA90B28F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D7B32-6FB4-9B4F-9C66-D4AD63211B8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0509C-50A6-7446-A231-A4C5FA90B28F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D7B32-6FB4-9B4F-9C66-D4AD63211B8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0509C-50A6-7446-A231-A4C5FA90B28F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D7B32-6FB4-9B4F-9C66-D4AD63211B8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0509C-50A6-7446-A231-A4C5FA90B28F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D7B32-6FB4-9B4F-9C66-D4AD63211B8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0509C-50A6-7446-A231-A4C5FA90B28F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D7B32-6FB4-9B4F-9C66-D4AD63211B8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1.xml"/><Relationship Id="rId8" Type="http://schemas.openxmlformats.org/officeDocument/2006/relationships/slideLayout" Target="../slideLayouts/slideLayout10.xml"/><Relationship Id="rId7" Type="http://schemas.openxmlformats.org/officeDocument/2006/relationships/slideLayout" Target="../slideLayouts/slideLayout9.xml"/><Relationship Id="rId6" Type="http://schemas.openxmlformats.org/officeDocument/2006/relationships/slideLayout" Target="../slideLayouts/slideLayout8.xml"/><Relationship Id="rId5" Type="http://schemas.openxmlformats.org/officeDocument/2006/relationships/slideLayout" Target="../slideLayouts/slideLayout7.xml"/><Relationship Id="rId4" Type="http://schemas.openxmlformats.org/officeDocument/2006/relationships/slideLayout" Target="../slideLayouts/slideLayout6.xml"/><Relationship Id="rId3" Type="http://schemas.openxmlformats.org/officeDocument/2006/relationships/slideLayout" Target="../slideLayouts/slideLayout5.xml"/><Relationship Id="rId2" Type="http://schemas.openxmlformats.org/officeDocument/2006/relationships/slideLayout" Target="../slideLayouts/slideLayout4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2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30480" y="27846"/>
            <a:ext cx="8328751" cy="694064"/>
          </a:xfrm>
          <a:prstGeom prst="rect">
            <a:avLst/>
          </a:prstGeom>
          <a:solidFill>
            <a:srgbClr val="0037A4"/>
          </a:solidFill>
          <a:ln w="31750">
            <a:solidFill>
              <a:schemeClr val="bg1"/>
            </a:solidFill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en-US" dirty="0"/>
              <a:t> Click to edit Master title style</a:t>
            </a:r>
            <a:endParaRPr lang="en-US" altLang="en-US" dirty="0"/>
          </a:p>
        </p:txBody>
      </p:sp>
      <p:sp>
        <p:nvSpPr>
          <p:cNvPr id="1027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86197" y="782321"/>
            <a:ext cx="8953500" cy="58315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 dirty="0"/>
              <a:t>Click to edit Master text styles</a:t>
            </a:r>
            <a:endParaRPr lang="en-US" altLang="en-US" dirty="0"/>
          </a:p>
          <a:p>
            <a:pPr lvl="1"/>
            <a:r>
              <a:rPr lang="en-US" altLang="en-US" dirty="0"/>
              <a:t>Second level</a:t>
            </a:r>
            <a:endParaRPr lang="en-US" altLang="en-US" dirty="0"/>
          </a:p>
          <a:p>
            <a:pPr lvl="2"/>
            <a:r>
              <a:rPr lang="en-US" altLang="en-US" dirty="0"/>
              <a:t>Third level</a:t>
            </a:r>
            <a:endParaRPr lang="en-US" altLang="en-US" dirty="0"/>
          </a:p>
          <a:p>
            <a:pPr lvl="3"/>
            <a:r>
              <a:rPr lang="en-US" altLang="en-US" dirty="0"/>
              <a:t>Fourth level</a:t>
            </a:r>
            <a:endParaRPr lang="en-US" altLang="en-US" dirty="0"/>
          </a:p>
          <a:p>
            <a:pPr lvl="4"/>
            <a:r>
              <a:rPr lang="en-US" altLang="en-US" dirty="0"/>
              <a:t>Fifth level  </a:t>
            </a:r>
            <a:endParaRPr lang="en-US" altLang="en-US" dirty="0"/>
          </a:p>
        </p:txBody>
      </p:sp>
      <p:sp>
        <p:nvSpPr>
          <p:cNvPr id="1028" name="Text Box 11"/>
          <p:cNvSpPr txBox="1">
            <a:spLocks noChangeArrowheads="1"/>
          </p:cNvSpPr>
          <p:nvPr userDrawn="1"/>
        </p:nvSpPr>
        <p:spPr bwMode="auto">
          <a:xfrm>
            <a:off x="4259263" y="6126163"/>
            <a:ext cx="1928812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fld id="{FEE6AF91-C5F0-494A-81BE-8C742BFB874C}" type="datetime2">
              <a:rPr lang="en-US" altLang="en-US" sz="1000" b="1" smtClean="0">
                <a:solidFill>
                  <a:schemeClr val="bg1"/>
                </a:solidFill>
                <a:latin typeface="Helvetica" panose="020B0604020202020204" pitchFamily="34" charset="0"/>
              </a:rPr>
            </a:fld>
            <a:endParaRPr lang="en-US" altLang="en-US" sz="1000" b="1">
              <a:solidFill>
                <a:schemeClr val="bg1"/>
              </a:solidFill>
              <a:latin typeface="Helvetica" panose="020B0604020202020204" pitchFamily="34" charset="0"/>
            </a:endParaRPr>
          </a:p>
        </p:txBody>
      </p:sp>
      <p:pic>
        <p:nvPicPr>
          <p:cNvPr id="3" name="Picture 2" descr="JUIT Office Photos | Glassdoor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349072" y="42901"/>
            <a:ext cx="815248" cy="679009"/>
          </a:xfrm>
          <a:prstGeom prst="rect">
            <a:avLst/>
          </a:prstGeom>
          <a:noFill/>
        </p:spPr>
      </p:pic>
      <p:sp>
        <p:nvSpPr>
          <p:cNvPr id="2" name="Footer Placeholder 11"/>
          <p:cNvSpPr txBox="1"/>
          <p:nvPr userDrawn="1"/>
        </p:nvSpPr>
        <p:spPr>
          <a:xfrm>
            <a:off x="123673" y="6687228"/>
            <a:ext cx="8694256" cy="195391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kumimoji="0" sz="1200" kern="1200">
                <a:solidFill>
                  <a:schemeClr val="bg2">
                    <a:shade val="50000"/>
                    <a:satMod val="200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950" dirty="0">
                <a:solidFill>
                  <a:srgbClr val="002060"/>
                </a:solidFill>
                <a:latin typeface="Palatino" pitchFamily="2" charset="77"/>
                <a:ea typeface="Palatino" pitchFamily="2" charset="77"/>
              </a:rPr>
              <a:t>       </a:t>
            </a:r>
            <a:r>
              <a:rPr lang="en-US" sz="900" dirty="0">
                <a:solidFill>
                  <a:srgbClr val="002060"/>
                </a:solidFill>
                <a:latin typeface="Palatino" pitchFamily="2" charset="77"/>
                <a:ea typeface="Palatino" pitchFamily="2" charset="77"/>
              </a:rPr>
              <a:t>Major Project – I (18B19CI791) End-Term Evaluation (ETE) | Department of CSE &amp; IT | AY 2025-26. </a:t>
            </a:r>
            <a:endParaRPr lang="en-US" sz="900" dirty="0">
              <a:solidFill>
                <a:srgbClr val="002060"/>
              </a:solidFill>
              <a:latin typeface="Palatino" pitchFamily="2" charset="77"/>
              <a:ea typeface="Palatino" pitchFamily="2" charset="77"/>
            </a:endParaRPr>
          </a:p>
        </p:txBody>
      </p:sp>
      <p:sp>
        <p:nvSpPr>
          <p:cNvPr id="4" name="Footer Placeholder 11"/>
          <p:cNvSpPr txBox="1"/>
          <p:nvPr userDrawn="1"/>
        </p:nvSpPr>
        <p:spPr>
          <a:xfrm>
            <a:off x="8798560" y="6613912"/>
            <a:ext cx="259243" cy="246062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kumimoji="0" sz="1200" kern="1200">
                <a:solidFill>
                  <a:schemeClr val="bg2">
                    <a:shade val="50000"/>
                    <a:satMod val="200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950" dirty="0">
              <a:solidFill>
                <a:srgbClr val="002060"/>
              </a:solidFill>
              <a:latin typeface="Palatino" pitchFamily="2" charset="77"/>
              <a:ea typeface="Palatino" pitchFamily="2" charset="77"/>
            </a:endParaRPr>
          </a:p>
        </p:txBody>
      </p:sp>
      <p:sp>
        <p:nvSpPr>
          <p:cNvPr id="5" name="TextBox 4"/>
          <p:cNvSpPr txBox="1"/>
          <p:nvPr userDrawn="1"/>
        </p:nvSpPr>
        <p:spPr>
          <a:xfrm>
            <a:off x="8798560" y="6644391"/>
            <a:ext cx="36576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EF37DA46-7849-8B45-8870-09779661198C}" type="slidenum">
              <a:rPr lang="en-US" sz="900" smtClean="0">
                <a:solidFill>
                  <a:srgbClr val="005493"/>
                </a:solidFill>
                <a:latin typeface="Palatino" pitchFamily="2" charset="77"/>
                <a:ea typeface="Palatino" pitchFamily="2" charset="77"/>
              </a:rPr>
            </a:fld>
            <a:r>
              <a:rPr lang="en-US" sz="900" dirty="0">
                <a:solidFill>
                  <a:srgbClr val="005493"/>
                </a:solidFill>
                <a:latin typeface="Palatino" pitchFamily="2" charset="77"/>
                <a:ea typeface="Palatino" pitchFamily="2" charset="77"/>
              </a:rPr>
              <a:t>.</a:t>
            </a:r>
            <a:endParaRPr lang="en-US" sz="900" dirty="0">
              <a:solidFill>
                <a:srgbClr val="005493"/>
              </a:solidFill>
              <a:latin typeface="Palatino" pitchFamily="2" charset="77"/>
              <a:ea typeface="Palatino" pitchFamily="2" charset="7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+mn-lt"/>
          <a:ea typeface="MS PGothic" panose="020B0600070205080204" pitchFamily="34" charset="-128"/>
          <a:cs typeface="MS PGothic" panose="020B0600070205080204" pitchFamily="34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bg1"/>
          </a:solidFill>
          <a:latin typeface="Helvetica" panose="020B0604020202020204" pitchFamily="34" charset="0"/>
          <a:ea typeface="MS PGothic" panose="020B0600070205080204" pitchFamily="34" charset="-128"/>
          <a:cs typeface="MS PGothic" panose="020B0600070205080204" pitchFamily="34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bg1"/>
          </a:solidFill>
          <a:latin typeface="Helvetica" panose="020B0604020202020204" pitchFamily="34" charset="0"/>
          <a:ea typeface="MS PGothic" panose="020B0600070205080204" pitchFamily="34" charset="-128"/>
          <a:cs typeface="MS PGothic" panose="020B0600070205080204" pitchFamily="34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bg1"/>
          </a:solidFill>
          <a:latin typeface="Helvetica" panose="020B0604020202020204" pitchFamily="34" charset="0"/>
          <a:ea typeface="MS PGothic" panose="020B0600070205080204" pitchFamily="34" charset="-128"/>
          <a:cs typeface="MS PGothic" panose="020B0600070205080204" pitchFamily="34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bg1"/>
          </a:solidFill>
          <a:latin typeface="Helvetica" panose="020B0604020202020204" pitchFamily="34" charset="0"/>
          <a:ea typeface="MS PGothic" panose="020B0600070205080204" pitchFamily="34" charset="-128"/>
          <a:cs typeface="MS PGothic" panose="020B0600070205080204" pitchFamily="34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</a:defRPr>
      </a:lvl9pPr>
    </p:titleStyle>
    <p:bodyStyle>
      <a:lvl1pPr marL="342900" indent="-342900" algn="just" rtl="0" eaLnBrk="0" fontAlgn="base" hangingPunct="0">
        <a:lnSpc>
          <a:spcPct val="150000"/>
        </a:lnSpc>
        <a:spcBef>
          <a:spcPct val="35000"/>
        </a:spcBef>
        <a:spcAft>
          <a:spcPct val="0"/>
        </a:spcAft>
        <a:buClr>
          <a:schemeClr val="tx1"/>
        </a:buClr>
        <a:buSzPct val="125000"/>
        <a:buFont typeface="Arial" panose="020B0604020202020204" pitchFamily="34" charset="0"/>
        <a:buChar char="•"/>
        <a:defRPr kumimoji="1" sz="1800">
          <a:solidFill>
            <a:schemeClr val="tx1"/>
          </a:solidFill>
          <a:latin typeface="Helvetica" panose="020B0604020202020204" pitchFamily="34" charset="0"/>
          <a:ea typeface="Tahoma" panose="020B0604030504040204" pitchFamily="34" charset="0"/>
          <a:cs typeface="Tahoma" panose="020B0604030504040204" pitchFamily="34" charset="0"/>
        </a:defRPr>
      </a:lvl1pPr>
      <a:lvl2pPr marL="742950" indent="-285750" algn="just" rtl="0" eaLnBrk="0" fontAlgn="base" hangingPunct="0">
        <a:lnSpc>
          <a:spcPct val="150000"/>
        </a:lnSpc>
        <a:spcBef>
          <a:spcPct val="35000"/>
        </a:spcBef>
        <a:spcAft>
          <a:spcPct val="0"/>
        </a:spcAft>
        <a:buClr>
          <a:schemeClr val="tx1"/>
        </a:buClr>
        <a:buSzPct val="100000"/>
        <a:buFont typeface="Courier New" panose="02070309020205020404" pitchFamily="49" charset="0"/>
        <a:buChar char="o"/>
        <a:defRPr kumimoji="1" sz="1600">
          <a:solidFill>
            <a:schemeClr val="tx1"/>
          </a:solidFill>
          <a:latin typeface="Helvetica" panose="020B0604020202020204" pitchFamily="34" charset="0"/>
          <a:ea typeface="Tahoma" panose="020B0604030504040204" pitchFamily="34" charset="0"/>
          <a:cs typeface="Tahoma" panose="020B0604030504040204" pitchFamily="34" charset="0"/>
        </a:defRPr>
      </a:lvl2pPr>
      <a:lvl3pPr marL="1085850" indent="-228600" algn="just" rtl="0" eaLnBrk="0" fontAlgn="base" hangingPunct="0">
        <a:lnSpc>
          <a:spcPct val="150000"/>
        </a:lnSpc>
        <a:spcBef>
          <a:spcPct val="35000"/>
        </a:spcBef>
        <a:spcAft>
          <a:spcPct val="0"/>
        </a:spcAft>
        <a:buClr>
          <a:srgbClr val="009900"/>
        </a:buClr>
        <a:buSzPct val="75000"/>
        <a:buFont typeface="Webdings" panose="05030102010509060703" pitchFamily="18" charset="2"/>
        <a:buChar char="4"/>
        <a:defRPr kumimoji="1" sz="1600">
          <a:solidFill>
            <a:schemeClr val="tx1"/>
          </a:solidFill>
          <a:latin typeface="Helvetica" panose="020B0604020202020204" pitchFamily="34" charset="0"/>
          <a:ea typeface="Tahoma" panose="020B0604030504040204" pitchFamily="34" charset="0"/>
          <a:cs typeface="Tahoma" panose="020B0604030504040204" pitchFamily="34" charset="0"/>
        </a:defRPr>
      </a:lvl3pPr>
      <a:lvl4pPr marL="1428750" indent="-228600" algn="just" rtl="0" eaLnBrk="0" fontAlgn="base" hangingPunct="0">
        <a:lnSpc>
          <a:spcPct val="150000"/>
        </a:lnSpc>
        <a:spcBef>
          <a:spcPct val="35000"/>
        </a:spcBef>
        <a:spcAft>
          <a:spcPct val="0"/>
        </a:spcAft>
        <a:buClr>
          <a:schemeClr val="hlink"/>
        </a:buClr>
        <a:buSzPct val="75000"/>
        <a:buChar char="–"/>
        <a:defRPr kumimoji="1" sz="1600">
          <a:solidFill>
            <a:schemeClr val="tx1"/>
          </a:solidFill>
          <a:latin typeface="Helvetica" panose="020B0604020202020204" pitchFamily="34" charset="0"/>
          <a:ea typeface="Tahoma" panose="020B0604030504040204" pitchFamily="34" charset="0"/>
          <a:cs typeface="Tahoma" panose="020B0604030504040204" pitchFamily="34" charset="0"/>
        </a:defRPr>
      </a:lvl4pPr>
      <a:lvl5pPr marL="1771650" indent="-228600" algn="just" rtl="0" eaLnBrk="0" fontAlgn="base" hangingPunct="0">
        <a:lnSpc>
          <a:spcPct val="150000"/>
        </a:lnSpc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 sz="1600">
          <a:solidFill>
            <a:schemeClr val="tx1"/>
          </a:solidFill>
          <a:latin typeface="Helvetica" panose="020B0604020202020204" pitchFamily="34" charset="0"/>
          <a:ea typeface="Tahoma" panose="020B0604030504040204" pitchFamily="34" charset="0"/>
          <a:cs typeface="Tahoma" panose="020B0604030504040204" pitchFamily="34" charset="0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0509C-50A6-7446-A231-A4C5FA90B28F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4D7B32-6FB4-9B4F-9C66-D4AD63211B8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2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hyperlink" Target="https://help.figma.com/hc/en-us/articles/14552802134807-Lesson-1-Welcome-to-design-systems" TargetMode="External"/><Relationship Id="rId5" Type="http://schemas.openxmlformats.org/officeDocument/2006/relationships/hyperlink" Target="https://www.looppanel.com/blog/user-interviews" TargetMode="External"/><Relationship Id="rId4" Type="http://schemas.openxmlformats.org/officeDocument/2006/relationships/hyperlink" Target="https://m3.material.io/" TargetMode="External"/><Relationship Id="rId3" Type="http://schemas.openxmlformats.org/officeDocument/2006/relationships/hyperlink" Target="https://www.invoca.com/blog/customer-service-tips-succeed" TargetMode="External"/><Relationship Id="rId2" Type="http://schemas.openxmlformats.org/officeDocument/2006/relationships/hyperlink" Target="https://www.techmagic.co/blog/product-analytics-guide" TargetMode="External"/><Relationship Id="rId1" Type="http://schemas.openxmlformats.org/officeDocument/2006/relationships/hyperlink" Target="https://olvy.co/top-pm-articles" TargetMode="Externa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hyperlink" Target="https://doi.org/10.1186/s40537-020-0285-1&#13;" TargetMode="External"/><Relationship Id="rId1" Type="http://schemas.openxmlformats.org/officeDocument/2006/relationships/hyperlink" Target="https://doi.org/10.3390/w15081518" TargetMode="Externa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3367405"/>
            <a:ext cx="9144000" cy="1499235"/>
          </a:xfrm>
          <a:solidFill>
            <a:srgbClr val="0037A4"/>
          </a:solidFill>
          <a:ln w="19050">
            <a:solidFill>
              <a:schemeClr val="bg1"/>
            </a:solidFill>
          </a:ln>
        </p:spPr>
        <p:txBody>
          <a:bodyPr anchor="t"/>
          <a:lstStyle/>
          <a:p>
            <a:pPr eaLnBrk="1" hangingPunct="1">
              <a:lnSpc>
                <a:spcPct val="150000"/>
              </a:lnSpc>
            </a:pPr>
            <a:r>
              <a:rPr lang="en-US" altLang="en-US" sz="2800" b="1" dirty="0">
                <a:cs typeface="Tahoma" panose="020B0604030504040204" pitchFamily="34" charset="0"/>
              </a:rPr>
              <a:t>Product Management &amp; Data-Driven Solutions For Industrial Water Management</a:t>
            </a:r>
            <a:endParaRPr lang="en-US" altLang="en-US" sz="2800" b="1" dirty="0">
              <a:cs typeface="Tahoma" panose="020B060403050404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457427" y="2108091"/>
            <a:ext cx="6229141" cy="106952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N" sz="2400" b="1" dirty="0">
                <a:latin typeface="Palatino" pitchFamily="2" charset="77"/>
                <a:ea typeface="Palatino" pitchFamily="2" charset="77"/>
                <a:cs typeface="Times New Roman" panose="02020603050405020304" charset="0"/>
              </a:rPr>
              <a:t>Major Project - I (18B19CI791) | AY 2025-26</a:t>
            </a:r>
            <a:endParaRPr lang="en-IN" sz="2400" b="1" dirty="0">
              <a:latin typeface="Palatino" pitchFamily="2" charset="77"/>
              <a:ea typeface="Palatino" pitchFamily="2" charset="77"/>
              <a:cs typeface="Times New Roman" panose="02020603050405020304" charset="0"/>
            </a:endParaRPr>
          </a:p>
          <a:p>
            <a:pPr algn="ctr">
              <a:lnSpc>
                <a:spcPct val="150000"/>
              </a:lnSpc>
            </a:pPr>
            <a:r>
              <a:rPr lang="en-IN" sz="2000" b="1" dirty="0">
                <a:latin typeface="Palatino" pitchFamily="2" charset="77"/>
                <a:ea typeface="Palatino" pitchFamily="2" charset="77"/>
                <a:cs typeface="Times New Roman" panose="02020603050405020304" charset="0"/>
              </a:rPr>
              <a:t>End-Term Evaluation | December 2025.</a:t>
            </a:r>
            <a:endParaRPr lang="en-IN" sz="2000" b="1" dirty="0">
              <a:latin typeface="Palatino" pitchFamily="2" charset="77"/>
              <a:ea typeface="Palatino" pitchFamily="2" charset="77"/>
              <a:cs typeface="Times New Roman" panose="0202060305040502030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17525" y="5041265"/>
            <a:ext cx="3620770" cy="15494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b="1" dirty="0">
                <a:latin typeface="+mn-lt"/>
                <a:ea typeface="Palatino" pitchFamily="2" charset="77"/>
                <a:cs typeface="+mn-lt"/>
              </a:rPr>
              <a:t>Group No.: </a:t>
            </a:r>
            <a:r>
              <a:rPr lang="en-GB" b="1">
                <a:solidFill>
                  <a:schemeClr val="dk1"/>
                </a:solidFill>
                <a:latin typeface="+mn-lt"/>
                <a:ea typeface="Helvetica Neue" panose="020B0604020202020204"/>
                <a:cs typeface="+mn-lt"/>
                <a:sym typeface="Helvetica Neue" panose="020B0604020202020204"/>
              </a:rPr>
              <a:t>IG21</a:t>
            </a:r>
            <a:endParaRPr lang="en-US" b="1" dirty="0">
              <a:latin typeface="+mn-lt"/>
              <a:ea typeface="Palatino" pitchFamily="2" charset="77"/>
              <a:cs typeface="+mn-lt"/>
            </a:endParaRPr>
          </a:p>
          <a:p>
            <a:endParaRPr lang="en-IN" sz="1600" dirty="0">
              <a:latin typeface="Helvetica" panose="020B0604020202020204" pitchFamily="34" charset="0"/>
              <a:ea typeface="Palatino" pitchFamily="2" charset="77"/>
              <a:cs typeface="Times New Roman" panose="02020603050405020304" charset="0"/>
            </a:endParaRPr>
          </a:p>
          <a:p>
            <a:pPr>
              <a:lnSpc>
                <a:spcPct val="114000"/>
              </a:lnSpc>
            </a:pPr>
            <a:r>
              <a:rPr lang="en-IN" sz="1600" b="1" dirty="0">
                <a:latin typeface="Helvetica" panose="020B0604020202020204" pitchFamily="34" charset="0"/>
                <a:ea typeface="Palatino" pitchFamily="2" charset="77"/>
                <a:cs typeface="Times New Roman" panose="02020603050405020304" charset="0"/>
              </a:rPr>
              <a:t>Team Member </a:t>
            </a:r>
            <a:endParaRPr lang="en-US" sz="1600" b="1" dirty="0">
              <a:latin typeface="Helvetica" panose="020B0604020202020204" pitchFamily="34" charset="0"/>
              <a:ea typeface="Palatino" pitchFamily="2" charset="77"/>
              <a:cs typeface="Times New Roman" panose="02020603050405020304" charset="0"/>
            </a:endParaRPr>
          </a:p>
          <a:p>
            <a:pPr marL="285750" indent="-285750">
              <a:lnSpc>
                <a:spcPct val="125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GB" altLang="en-US" sz="15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Saurav Kumar (221030345)</a:t>
            </a:r>
            <a:endParaRPr lang="en-US" sz="15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endParaRPr lang="en-US" sz="1600" dirty="0">
              <a:latin typeface="Helvetica" panose="020B0604020202020204" pitchFamily="34" charset="0"/>
              <a:ea typeface="Palatino" pitchFamily="2" charset="77"/>
              <a:cs typeface="Times New Roman" panose="0202060305040502030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138930" y="5017770"/>
            <a:ext cx="4851400" cy="13481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1800" b="1" dirty="0">
                <a:latin typeface="Helvetica" panose="020B06040202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Supervisor</a:t>
            </a:r>
            <a:endParaRPr lang="en-US" sz="1800" b="1" dirty="0">
              <a:latin typeface="Helvetica" panose="020B060402020202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marR="0" lvl="0" indent="-342900" algn="l" rtl="0">
              <a:lnSpc>
                <a:spcPct val="12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</a:pPr>
            <a:r>
              <a:rPr lang="en-GB" sz="1500">
                <a:solidFill>
                  <a:schemeClr val="dk1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  <a:t>Name: </a:t>
            </a:r>
            <a:r>
              <a:rPr lang="en-GB" sz="1500" b="1">
                <a:solidFill>
                  <a:schemeClr val="dk1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  <a:t>Ms. Palak Aar</a:t>
            </a:r>
            <a:endParaRPr sz="1500" b="1"/>
          </a:p>
          <a:p>
            <a:pPr marL="357505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dk1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  <a:t>Designation: </a:t>
            </a:r>
            <a:r>
              <a:rPr lang="en-GB" sz="1500" b="1">
                <a:solidFill>
                  <a:schemeClr val="dk1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  <a:t>Assistant Professor (Grade-I), Department of Computer Science &amp; Engineering and Information Technology</a:t>
            </a:r>
            <a:endParaRPr lang="en-US" sz="15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2492" y="-165253"/>
            <a:ext cx="1178805" cy="895833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4901" y="160424"/>
            <a:ext cx="1015707" cy="345492"/>
          </a:xfrm>
          <a:prstGeom prst="rect">
            <a:avLst/>
          </a:prstGeom>
        </p:spPr>
      </p:pic>
      <p:pic>
        <p:nvPicPr>
          <p:cNvPr id="12" name="Picture 11" descr="JUIT Office Photos | Glassdoor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017" y="93342"/>
            <a:ext cx="815248" cy="679009"/>
          </a:xfrm>
          <a:prstGeom prst="rect">
            <a:avLst/>
          </a:prstGeom>
          <a:noFill/>
        </p:spPr>
      </p:pic>
      <p:sp>
        <p:nvSpPr>
          <p:cNvPr id="2" name="Footer Placeholder 15"/>
          <p:cNvSpPr txBox="1"/>
          <p:nvPr/>
        </p:nvSpPr>
        <p:spPr>
          <a:xfrm>
            <a:off x="-2" y="601361"/>
            <a:ext cx="9144000" cy="1411285"/>
          </a:xfrm>
          <a:prstGeom prst="rect">
            <a:avLst/>
          </a:prstGeom>
        </p:spPr>
        <p:txBody>
          <a:bodyPr anchor="b"/>
          <a:lstStyle/>
          <a:p>
            <a:pPr algn="ctr" eaLnBrk="1" fontAlgn="auto" hangingPunct="1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IN" sz="2800" b="1" i="0" u="none" strike="noStrike" kern="1200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Palatino" pitchFamily="2" charset="77"/>
                <a:ea typeface="Palatino" pitchFamily="2" charset="77"/>
                <a:cs typeface="Times New Roman" panose="02020603050405020304" charset="0"/>
              </a:rPr>
              <a:t>Jaypee University of Information Technology</a:t>
            </a:r>
            <a:endParaRPr kumimoji="0" lang="en-IN" sz="2800" b="1" i="0" u="none" strike="noStrike" kern="1200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Palatino" pitchFamily="2" charset="77"/>
              <a:ea typeface="Palatino" pitchFamily="2" charset="77"/>
              <a:cs typeface="Times New Roman" panose="02020603050405020304" charset="0"/>
            </a:endParaRPr>
          </a:p>
          <a:p>
            <a:pPr marL="0" marR="0" lvl="0" indent="0" algn="ctr" defTabSz="914400" rtl="0" eaLnBrk="1" fontAlgn="auto" latinLnBrk="0" hangingPunct="1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IN" sz="2600" b="1" i="0" u="none" strike="noStrike" kern="1200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Palatino" pitchFamily="2" charset="77"/>
                <a:ea typeface="Palatino" pitchFamily="2" charset="77"/>
                <a:cs typeface="Times New Roman" panose="02020603050405020304" charset="0"/>
              </a:rPr>
              <a:t>Department of Computer Science and Engineering and Information Technology</a:t>
            </a:r>
            <a:endParaRPr kumimoji="0" lang="en-IN" sz="2600" b="1" i="0" u="none" strike="noStrike" kern="1200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Palatino" pitchFamily="2" charset="77"/>
              <a:ea typeface="Palatino" pitchFamily="2" charset="77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  <a:endParaRPr lang="en-US" dirty="0"/>
          </a:p>
        </p:txBody>
      </p:sp>
      <p:sp>
        <p:nvSpPr>
          <p:cNvPr id="4" name="Content Placeholder 2"/>
          <p:cNvSpPr txBox="1"/>
          <p:nvPr/>
        </p:nvSpPr>
        <p:spPr bwMode="auto">
          <a:xfrm>
            <a:off x="76835" y="804545"/>
            <a:ext cx="4712335" cy="5795010"/>
          </a:xfrm>
          <a:prstGeom prst="rect">
            <a:avLst/>
          </a:prstGeom>
          <a:noFill/>
          <a:ln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  <a:defRPr kumimoji="1" sz="1800">
                <a:solidFill>
                  <a:schemeClr val="tx1"/>
                </a:solidFill>
                <a:latin typeface="Helvetica" panose="020B060402020202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  <a:defRPr kumimoji="1" sz="1600">
                <a:solidFill>
                  <a:schemeClr val="tx1"/>
                </a:solidFill>
                <a:latin typeface="Helvetica" panose="020B060402020202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 sz="1600">
                <a:solidFill>
                  <a:schemeClr val="tx1"/>
                </a:solidFill>
                <a:latin typeface="Helvetica" panose="020B060402020202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4287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1600">
                <a:solidFill>
                  <a:schemeClr val="tx1"/>
                </a:solidFill>
                <a:latin typeface="Helvetica" panose="020B060402020202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7716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9pPr>
          </a:lstStyle>
          <a:p>
            <a:pPr marL="357505" indent="-262255" algn="just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ea typeface="Palatino" pitchFamily="2" charset="77"/>
              </a:rPr>
              <a:t>Introduction</a:t>
            </a:r>
            <a:endParaRPr lang="en-IN" sz="1600" dirty="0">
              <a:ea typeface="Palatino" pitchFamily="2" charset="77"/>
            </a:endParaRPr>
          </a:p>
          <a:p>
            <a:pPr marL="357505" indent="-262255" algn="just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ea typeface="Palatino" pitchFamily="2" charset="77"/>
              </a:rPr>
              <a:t>Problem Statement</a:t>
            </a:r>
            <a:endParaRPr lang="en-IN" sz="1600" dirty="0">
              <a:ea typeface="Palatino" pitchFamily="2" charset="77"/>
            </a:endParaRPr>
          </a:p>
          <a:p>
            <a:pPr marL="357505" indent="-262255" algn="just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ea typeface="Palatino" pitchFamily="2" charset="77"/>
              </a:rPr>
              <a:t>Objectives</a:t>
            </a:r>
            <a:endParaRPr lang="en-IN" sz="1600" dirty="0">
              <a:ea typeface="Palatino" pitchFamily="2" charset="77"/>
            </a:endParaRPr>
          </a:p>
          <a:p>
            <a:pPr marL="357505" indent="-262255">
              <a:lnSpc>
                <a:spcPct val="140000"/>
              </a:lnSpc>
            </a:pPr>
            <a:r>
              <a:rPr lang="en-IN" sz="1600" dirty="0">
                <a:ea typeface="Palatino" pitchFamily="2" charset="77"/>
              </a:rPr>
              <a:t>Literature Review</a:t>
            </a:r>
            <a:endParaRPr lang="en-IN" sz="1600" dirty="0">
              <a:ea typeface="Palatino" pitchFamily="2" charset="77"/>
            </a:endParaRPr>
          </a:p>
          <a:p>
            <a:pPr marL="357505" indent="-262255">
              <a:lnSpc>
                <a:spcPct val="140000"/>
              </a:lnSpc>
            </a:pPr>
            <a:r>
              <a:rPr lang="en-IN" sz="1600" dirty="0">
                <a:ea typeface="Palatino" pitchFamily="2" charset="77"/>
              </a:rPr>
              <a:t>Work Done (after Mid-Term Evaluation)</a:t>
            </a:r>
            <a:endParaRPr lang="en-IN" sz="1600" dirty="0">
              <a:ea typeface="Palatino" pitchFamily="2" charset="77"/>
            </a:endParaRPr>
          </a:p>
          <a:p>
            <a:pPr marL="357505" indent="-262255" algn="just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ea typeface="Palatino" pitchFamily="2" charset="77"/>
              </a:rPr>
              <a:t>Project Design</a:t>
            </a:r>
            <a:r>
              <a:rPr lang="en-GB" altLang="en-IN" sz="1600" dirty="0">
                <a:ea typeface="Palatino" pitchFamily="2" charset="77"/>
              </a:rPr>
              <a:t> and Development</a:t>
            </a:r>
            <a:endParaRPr lang="en-IN" sz="1600" dirty="0">
              <a:ea typeface="Palatino" pitchFamily="2" charset="77"/>
            </a:endParaRPr>
          </a:p>
          <a:p>
            <a:pPr marL="357505" indent="-262255">
              <a:lnSpc>
                <a:spcPct val="140000"/>
              </a:lnSpc>
            </a:pPr>
            <a:r>
              <a:rPr lang="en-IN" sz="1600" dirty="0">
                <a:ea typeface="Palatino" pitchFamily="2" charset="77"/>
              </a:rPr>
              <a:t>Tools</a:t>
            </a:r>
            <a:r>
              <a:rPr lang="en-GB" altLang="en-IN" sz="1600" dirty="0">
                <a:ea typeface="Palatino" pitchFamily="2" charset="77"/>
              </a:rPr>
              <a:t> and</a:t>
            </a:r>
            <a:r>
              <a:rPr lang="en-IN" sz="1600" dirty="0">
                <a:ea typeface="Palatino" pitchFamily="2" charset="77"/>
              </a:rPr>
              <a:t>Technologies</a:t>
            </a:r>
            <a:endParaRPr lang="en-IN" sz="1600" dirty="0">
              <a:ea typeface="Palatino" pitchFamily="2" charset="77"/>
            </a:endParaRPr>
          </a:p>
          <a:p>
            <a:pPr marL="357505" indent="-262255">
              <a:lnSpc>
                <a:spcPct val="140000"/>
              </a:lnSpc>
            </a:pPr>
            <a:r>
              <a:rPr lang="en-IN" sz="1600" dirty="0">
                <a:ea typeface="Palatino" pitchFamily="2" charset="77"/>
              </a:rPr>
              <a:t>Dat</a:t>
            </a:r>
            <a:r>
              <a:rPr lang="en-GB" altLang="en-IN" sz="1600" dirty="0">
                <a:ea typeface="Palatino" pitchFamily="2" charset="77"/>
              </a:rPr>
              <a:t>a Sources and Field Inputs</a:t>
            </a:r>
            <a:endParaRPr lang="en-IN" sz="1600" dirty="0">
              <a:ea typeface="Palatino" pitchFamily="2" charset="77"/>
            </a:endParaRPr>
          </a:p>
          <a:p>
            <a:pPr marL="357505" indent="-262255">
              <a:lnSpc>
                <a:spcPct val="140000"/>
              </a:lnSpc>
            </a:pPr>
            <a:r>
              <a:rPr lang="en-IN" sz="1600" dirty="0">
                <a:ea typeface="Palatino" pitchFamily="2" charset="77"/>
              </a:rPr>
              <a:t>Implementation</a:t>
            </a:r>
            <a:endParaRPr lang="en-IN" sz="1600" dirty="0">
              <a:ea typeface="Palatino" pitchFamily="2" charset="77"/>
            </a:endParaRPr>
          </a:p>
          <a:p>
            <a:pPr marL="357505" indent="-262255">
              <a:lnSpc>
                <a:spcPct val="140000"/>
              </a:lnSpc>
            </a:pPr>
            <a:r>
              <a:rPr lang="en-IN" sz="1600" dirty="0">
                <a:ea typeface="Palatino" pitchFamily="2" charset="77"/>
                <a:sym typeface="+mn-ea"/>
              </a:rPr>
              <a:t>Experimental Results and Evaluati</a:t>
            </a:r>
            <a:r>
              <a:rPr lang="en-GB" altLang="en-IN" sz="1600" dirty="0">
                <a:ea typeface="Palatino" pitchFamily="2" charset="77"/>
                <a:sym typeface="+mn-ea"/>
              </a:rPr>
              <a:t>on</a:t>
            </a:r>
            <a:endParaRPr lang="en-IN" sz="1600" dirty="0">
              <a:ea typeface="Palatino" pitchFamily="2" charset="77"/>
            </a:endParaRPr>
          </a:p>
          <a:p>
            <a:pPr marL="357505" indent="-262255">
              <a:lnSpc>
                <a:spcPct val="140000"/>
              </a:lnSpc>
            </a:pPr>
            <a:r>
              <a:rPr lang="en-GB" sz="1600">
                <a:sym typeface="+mn-ea"/>
              </a:rPr>
              <a:t>Client Engagement and Business Analysis</a:t>
            </a:r>
            <a:endParaRPr lang="en-US" sz="1600" dirty="0"/>
          </a:p>
          <a:p>
            <a:pPr marL="357505" indent="-262255">
              <a:lnSpc>
                <a:spcPct val="140000"/>
              </a:lnSpc>
            </a:pPr>
            <a:r>
              <a:rPr lang="en-IN" sz="1600" dirty="0">
                <a:ea typeface="Palatino" pitchFamily="2" charset="77"/>
              </a:rPr>
              <a:t>Key Learnings</a:t>
            </a:r>
            <a:endParaRPr lang="en-IN" sz="1600" dirty="0">
              <a:ea typeface="Palatino" pitchFamily="2" charset="77"/>
            </a:endParaRPr>
          </a:p>
          <a:p>
            <a:pPr marL="357505" indent="-262255">
              <a:lnSpc>
                <a:spcPct val="140000"/>
              </a:lnSpc>
            </a:pPr>
            <a:endParaRPr lang="en-IN" sz="1600" dirty="0">
              <a:ea typeface="Palatino" pitchFamily="2" charset="77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IN" altLang="en-US" sz="1600" kern="0" dirty="0">
              <a:ea typeface="MS PGothic" panose="020B0600070205080204" pitchFamily="34" charset="-128"/>
            </a:endParaRPr>
          </a:p>
        </p:txBody>
      </p:sp>
      <p:sp>
        <p:nvSpPr>
          <p:cNvPr id="3" name="Content Placeholder 2"/>
          <p:cNvSpPr txBox="1"/>
          <p:nvPr/>
        </p:nvSpPr>
        <p:spPr bwMode="auto">
          <a:xfrm>
            <a:off x="4959350" y="804545"/>
            <a:ext cx="4107815" cy="5795010"/>
          </a:xfrm>
          <a:prstGeom prst="rect">
            <a:avLst/>
          </a:prstGeom>
          <a:noFill/>
          <a:ln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  <a:defRPr kumimoji="1" sz="1800">
                <a:solidFill>
                  <a:schemeClr val="tx1"/>
                </a:solidFill>
                <a:latin typeface="Helvetica" panose="020B060402020202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  <a:defRPr kumimoji="1" sz="1600">
                <a:solidFill>
                  <a:schemeClr val="tx1"/>
                </a:solidFill>
                <a:latin typeface="Helvetica" panose="020B060402020202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 sz="1600">
                <a:solidFill>
                  <a:schemeClr val="tx1"/>
                </a:solidFill>
                <a:latin typeface="Helvetica" panose="020B060402020202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4287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1600">
                <a:solidFill>
                  <a:schemeClr val="tx1"/>
                </a:solidFill>
                <a:latin typeface="Helvetica" panose="020B060402020202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7716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9pPr>
          </a:lstStyle>
          <a:p>
            <a:pPr marL="357505" indent="-262255">
              <a:lnSpc>
                <a:spcPct val="140000"/>
              </a:lnSpc>
            </a:pPr>
            <a:r>
              <a:rPr lang="en-IN" sz="1600" dirty="0">
                <a:ea typeface="Palatino" pitchFamily="2" charset="77"/>
                <a:sym typeface="+mn-ea"/>
              </a:rPr>
              <a:t>Work Contribution and Attendance</a:t>
            </a:r>
            <a:endParaRPr lang="en-IN" sz="1600" dirty="0">
              <a:ea typeface="Palatino" pitchFamily="2" charset="77"/>
            </a:endParaRPr>
          </a:p>
          <a:p>
            <a:pPr marL="357505" indent="-262255">
              <a:lnSpc>
                <a:spcPct val="140000"/>
              </a:lnSpc>
            </a:pPr>
            <a:r>
              <a:rPr lang="en-IN" sz="1600" dirty="0">
                <a:ea typeface="Palatino" pitchFamily="2" charset="77"/>
                <a:sym typeface="+mn-ea"/>
              </a:rPr>
              <a:t>Supervisor Interactions</a:t>
            </a:r>
            <a:endParaRPr lang="en-IN" sz="1600" dirty="0">
              <a:ea typeface="Palatino" pitchFamily="2" charset="77"/>
            </a:endParaRPr>
          </a:p>
          <a:p>
            <a:pPr marL="357505" indent="-262255">
              <a:lnSpc>
                <a:spcPct val="140000"/>
              </a:lnSpc>
            </a:pPr>
            <a:r>
              <a:rPr lang="en-IN" sz="1600" dirty="0">
                <a:ea typeface="Palatino" pitchFamily="2" charset="77"/>
              </a:rPr>
              <a:t>Future Work</a:t>
            </a:r>
            <a:endParaRPr lang="en-IN" sz="1600" dirty="0">
              <a:ea typeface="Palatino" pitchFamily="2" charset="77"/>
            </a:endParaRPr>
          </a:p>
          <a:p>
            <a:pPr marL="357505" indent="-262255">
              <a:lnSpc>
                <a:spcPct val="140000"/>
              </a:lnSpc>
            </a:pPr>
            <a:r>
              <a:rPr lang="en-IN" sz="1600" dirty="0">
                <a:ea typeface="Palatino" pitchFamily="2" charset="77"/>
              </a:rPr>
              <a:t>Project Plan</a:t>
            </a:r>
            <a:endParaRPr lang="en-IN" sz="1600" dirty="0">
              <a:ea typeface="Palatino" pitchFamily="2" charset="77"/>
            </a:endParaRPr>
          </a:p>
          <a:p>
            <a:pPr marL="357505" indent="-262255" algn="just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ea typeface="Palatino" pitchFamily="2" charset="77"/>
              </a:rPr>
              <a:t>References</a:t>
            </a:r>
            <a:endParaRPr lang="en-IN" sz="1600" dirty="0">
              <a:ea typeface="Palatino" pitchFamily="2" charset="77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IN" altLang="en-US" sz="1600" kern="0" dirty="0">
              <a:ea typeface="MS PGothic" panose="020B0600070205080204" pitchFamily="34" charset="-12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en-US" dirty="0"/>
          </a:p>
        </p:txBody>
      </p:sp>
      <p:sp>
        <p:nvSpPr>
          <p:cNvPr id="4" name="Content Placeholder 2"/>
          <p:cNvSpPr txBox="1"/>
          <p:nvPr/>
        </p:nvSpPr>
        <p:spPr bwMode="auto">
          <a:xfrm>
            <a:off x="76835" y="804545"/>
            <a:ext cx="8956675" cy="5542915"/>
          </a:xfrm>
          <a:prstGeom prst="rect">
            <a:avLst/>
          </a:prstGeom>
          <a:noFill/>
          <a:ln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  <a:defRPr kumimoji="1" sz="1800">
                <a:solidFill>
                  <a:schemeClr val="tx1"/>
                </a:solidFill>
                <a:latin typeface="Helvetica" panose="020B060402020202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  <a:defRPr kumimoji="1" sz="1600">
                <a:solidFill>
                  <a:schemeClr val="tx1"/>
                </a:solidFill>
                <a:latin typeface="Helvetica" panose="020B060402020202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 sz="1600">
                <a:solidFill>
                  <a:schemeClr val="tx1"/>
                </a:solidFill>
                <a:latin typeface="Helvetica" panose="020B060402020202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4287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1600">
                <a:solidFill>
                  <a:schemeClr val="tx1"/>
                </a:solidFill>
                <a:latin typeface="Helvetica" panose="020B060402020202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7716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9pPr>
          </a:lstStyle>
          <a:p>
            <a:pPr marL="457200" lvl="0" indent="-33020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GB" sz="1700" b="1">
                <a:solidFill>
                  <a:schemeClr val="dk1"/>
                </a:solidFill>
                <a:sym typeface="+mn-ea"/>
              </a:rPr>
              <a:t>Project Title:</a:t>
            </a:r>
            <a:r>
              <a:rPr lang="en-GB" sz="1700">
                <a:solidFill>
                  <a:schemeClr val="dk1"/>
                </a:solidFill>
                <a:sym typeface="+mn-ea"/>
              </a:rPr>
              <a:t> Product Management &amp; Data-Driven Solutions for Industrial Water Conservation.</a:t>
            </a:r>
            <a:endParaRPr sz="1700">
              <a:solidFill>
                <a:schemeClr val="dk1"/>
              </a:solidFill>
            </a:endParaRPr>
          </a:p>
          <a:p>
            <a:pPr marL="457200" lvl="0" indent="-33020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GB" sz="1700" b="1">
                <a:solidFill>
                  <a:schemeClr val="dk1"/>
                </a:solidFill>
                <a:sym typeface="+mn-ea"/>
              </a:rPr>
              <a:t>Internship Organisation: </a:t>
            </a:r>
            <a:r>
              <a:rPr lang="en-US" altLang="en-US" sz="1700">
                <a:solidFill>
                  <a:schemeClr val="dk1"/>
                </a:solidFill>
                <a:sym typeface="+mn-ea"/>
              </a:rPr>
              <a:t>FluxGen Sustainable Technologies Pvt. Ltd.</a:t>
            </a:r>
            <a:r>
              <a:rPr lang="en-GB" sz="1700">
                <a:solidFill>
                  <a:schemeClr val="dk1"/>
                </a:solidFill>
                <a:sym typeface="+mn-ea"/>
              </a:rPr>
              <a:t>, </a:t>
            </a:r>
            <a:r>
              <a:rPr lang="en-US" altLang="en-US" sz="1700">
                <a:solidFill>
                  <a:schemeClr val="dk1"/>
                </a:solidFill>
              </a:rPr>
              <a:t>a clean-tech organization providing IoT-based industrial water intelligence solutions.</a:t>
            </a:r>
            <a:endParaRPr lang="en-US" altLang="en-US" sz="1700">
              <a:solidFill>
                <a:schemeClr val="dk1"/>
              </a:solidFill>
            </a:endParaRPr>
          </a:p>
          <a:p>
            <a:pPr marL="457200" lvl="0" indent="-33020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GB" sz="1700" b="1">
                <a:solidFill>
                  <a:schemeClr val="dk1"/>
                </a:solidFill>
                <a:sym typeface="+mn-ea"/>
              </a:rPr>
              <a:t>Role:</a:t>
            </a:r>
            <a:r>
              <a:rPr lang="en-GB" sz="1700">
                <a:solidFill>
                  <a:schemeClr val="dk1"/>
                </a:solidFill>
                <a:sym typeface="+mn-ea"/>
              </a:rPr>
              <a:t> Product Management Intern.</a:t>
            </a:r>
            <a:endParaRPr lang="en-GB" sz="1700">
              <a:solidFill>
                <a:schemeClr val="dk1"/>
              </a:solidFill>
              <a:sym typeface="+mn-ea"/>
            </a:endParaRPr>
          </a:p>
          <a:p>
            <a:pPr marL="457200" lvl="0" indent="-33020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altLang="en-US" sz="1700" b="1" dirty="0">
                <a:ea typeface="Palatino" pitchFamily="2" charset="77"/>
              </a:rPr>
              <a:t>Project Context</a:t>
            </a:r>
            <a:r>
              <a:rPr lang="en-GB" altLang="en-US" sz="1700" b="1" dirty="0">
                <a:ea typeface="Palatino" pitchFamily="2" charset="77"/>
              </a:rPr>
              <a:t>:</a:t>
            </a:r>
            <a:r>
              <a:rPr lang="en-GB" altLang="en-US" sz="1700" dirty="0">
                <a:ea typeface="Palatino" pitchFamily="2" charset="77"/>
              </a:rPr>
              <a:t> </a:t>
            </a:r>
            <a:endParaRPr lang="en-GB" altLang="en-US" sz="1700" dirty="0">
              <a:ea typeface="Palatino" pitchFamily="2" charset="77"/>
            </a:endParaRPr>
          </a:p>
          <a:p>
            <a:pPr marL="869950" lvl="1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</a:pPr>
            <a:r>
              <a:rPr lang="en-US" altLang="en-US" sz="1695" dirty="0">
                <a:ea typeface="Palatino" pitchFamily="2" charset="77"/>
              </a:rPr>
              <a:t>Contributing to the development of FluxGen’s industrial water-intelligence platform.</a:t>
            </a:r>
            <a:endParaRPr lang="en-US" altLang="en-US" sz="1695" dirty="0">
              <a:ea typeface="Palatino" pitchFamily="2" charset="77"/>
            </a:endParaRPr>
          </a:p>
          <a:p>
            <a:pPr marL="869950" lvl="1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</a:pPr>
            <a:r>
              <a:rPr lang="en-US" altLang="en-US" sz="1695" dirty="0">
                <a:ea typeface="Palatino" pitchFamily="2" charset="77"/>
              </a:rPr>
              <a:t>Conducted field studies across multiple industries to analyze water usage, losses, and operational gaps.</a:t>
            </a:r>
            <a:endParaRPr lang="en-US" altLang="en-US" sz="1695" dirty="0">
              <a:ea typeface="Palatino" pitchFamily="2" charset="77"/>
            </a:endParaRPr>
          </a:p>
          <a:p>
            <a:pPr marL="869950" lvl="1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</a:pPr>
            <a:r>
              <a:rPr lang="en-US" altLang="en-US" sz="1695" dirty="0">
                <a:ea typeface="Palatino" pitchFamily="2" charset="77"/>
              </a:rPr>
              <a:t>Worked on product workflows including offline data sync, leakage detection logic, and dashboard features.</a:t>
            </a:r>
            <a:endParaRPr lang="en-US" altLang="en-US" sz="1695" dirty="0">
              <a:ea typeface="Palatino" pitchFamily="2" charset="77"/>
            </a:endParaRPr>
          </a:p>
          <a:p>
            <a:pPr marL="869950" lvl="1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</a:pPr>
            <a:r>
              <a:rPr lang="en-US" altLang="en-US" sz="1695" dirty="0">
                <a:ea typeface="Palatino" pitchFamily="2" charset="77"/>
              </a:rPr>
              <a:t>Performed in-depth flowmeter benchmarking across </a:t>
            </a:r>
            <a:r>
              <a:rPr lang="en-GB" altLang="en-US" sz="1695" dirty="0">
                <a:ea typeface="Palatino" pitchFamily="2" charset="77"/>
              </a:rPr>
              <a:t>multiple</a:t>
            </a:r>
            <a:r>
              <a:rPr lang="en-US" altLang="en-US" sz="1695" dirty="0">
                <a:ea typeface="Palatino" pitchFamily="2" charset="77"/>
              </a:rPr>
              <a:t> parameters.</a:t>
            </a:r>
            <a:endParaRPr lang="en-US" altLang="en-US" sz="1695" dirty="0">
              <a:ea typeface="Palatino" pitchFamily="2" charset="77"/>
            </a:endParaRPr>
          </a:p>
          <a:p>
            <a:pPr marL="869950" lvl="1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</a:pPr>
            <a:r>
              <a:rPr lang="en-US" altLang="en-US" sz="1695" dirty="0">
                <a:ea typeface="Palatino" pitchFamily="2" charset="77"/>
              </a:rPr>
              <a:t>Developed PRDs, user stories, and requirement mappings to support product planning and decision-making.</a:t>
            </a:r>
            <a:endParaRPr lang="en-US" altLang="en-US" sz="1695" dirty="0">
              <a:ea typeface="Palatino" pitchFamily="2" charset="77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  <a:endParaRPr lang="en-US" dirty="0"/>
          </a:p>
        </p:txBody>
      </p:sp>
      <p:sp>
        <p:nvSpPr>
          <p:cNvPr id="4" name="Content Placeholder 2"/>
          <p:cNvSpPr txBox="1"/>
          <p:nvPr/>
        </p:nvSpPr>
        <p:spPr bwMode="auto">
          <a:xfrm>
            <a:off x="76835" y="804545"/>
            <a:ext cx="8821420" cy="5761990"/>
          </a:xfrm>
          <a:prstGeom prst="rect">
            <a:avLst/>
          </a:prstGeom>
          <a:noFill/>
          <a:ln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  <a:defRPr kumimoji="1" sz="1800">
                <a:solidFill>
                  <a:schemeClr val="tx1"/>
                </a:solidFill>
                <a:latin typeface="Helvetica" panose="020B060402020202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  <a:defRPr kumimoji="1" sz="1600">
                <a:solidFill>
                  <a:schemeClr val="tx1"/>
                </a:solidFill>
                <a:latin typeface="Helvetica" panose="020B060402020202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 sz="1600">
                <a:solidFill>
                  <a:schemeClr val="tx1"/>
                </a:solidFill>
                <a:latin typeface="Helvetica" panose="020B060402020202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4287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1600">
                <a:solidFill>
                  <a:schemeClr val="tx1"/>
                </a:solidFill>
                <a:latin typeface="Helvetica" panose="020B060402020202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7716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9pPr>
          </a:lstStyle>
          <a:p>
            <a:pPr marL="381000" indent="-285750">
              <a:lnSpc>
                <a:spcPct val="170000"/>
              </a:lnSpc>
            </a:pPr>
            <a:r>
              <a:rPr lang="en-US" altLang="en-US" sz="1800" b="1" dirty="0"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rPr>
              <a:t>Water Losses</a:t>
            </a:r>
            <a:r>
              <a:rPr lang="en-GB" altLang="en-US" sz="1800" b="1" dirty="0"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rPr>
              <a:t>:</a:t>
            </a:r>
            <a:r>
              <a:rPr lang="en-GB" altLang="en-US" sz="1800" dirty="0"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rPr>
              <a:t> </a:t>
            </a:r>
            <a:r>
              <a:rPr lang="en-US" altLang="en-US" sz="1800" dirty="0"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rPr>
              <a:t>Industries face significant untracked water losses and inefficiencies.</a:t>
            </a:r>
            <a:endParaRPr lang="en-US" altLang="en-US" sz="1800" dirty="0">
              <a:latin typeface="Arial" panose="020B0604020202020204" pitchFamily="34" charset="0"/>
              <a:ea typeface="Palatino" pitchFamily="2" charset="77"/>
              <a:cs typeface="Arial" panose="020B0604020202020204" pitchFamily="34" charset="0"/>
            </a:endParaRPr>
          </a:p>
          <a:p>
            <a:pPr marL="381000" indent="-285750">
              <a:lnSpc>
                <a:spcPct val="170000"/>
              </a:lnSpc>
            </a:pPr>
            <a:r>
              <a:rPr lang="en-US" altLang="en-US" sz="1800" b="1" dirty="0"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rPr>
              <a:t>Data Gaps</a:t>
            </a:r>
            <a:r>
              <a:rPr lang="en-GB" altLang="en-US" sz="1800" b="1" dirty="0"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rPr>
              <a:t>: </a:t>
            </a:r>
            <a:r>
              <a:rPr lang="en-US" altLang="en-US" sz="1800" dirty="0"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rPr>
              <a:t>Sensor downtime and offline periods lead to missing or unreliable data.</a:t>
            </a:r>
            <a:endParaRPr lang="en-US" altLang="en-US" sz="1800" dirty="0">
              <a:latin typeface="Arial" panose="020B0604020202020204" pitchFamily="34" charset="0"/>
              <a:ea typeface="Palatino" pitchFamily="2" charset="77"/>
              <a:cs typeface="Arial" panose="020B0604020202020204" pitchFamily="34" charset="0"/>
            </a:endParaRPr>
          </a:p>
          <a:p>
            <a:pPr marL="381000" indent="-285750">
              <a:lnSpc>
                <a:spcPct val="170000"/>
              </a:lnSpc>
            </a:pPr>
            <a:r>
              <a:rPr lang="en-US" altLang="en-US" sz="1800" b="1" dirty="0"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rPr>
              <a:t>Low Visibility</a:t>
            </a:r>
            <a:r>
              <a:rPr lang="en-GB" altLang="en-US" sz="1800" b="1" dirty="0"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rPr>
              <a:t>:</a:t>
            </a:r>
            <a:r>
              <a:rPr lang="en-GB" altLang="en-US" sz="1800" dirty="0"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rPr>
              <a:t> </a:t>
            </a:r>
            <a:r>
              <a:rPr lang="en-US" altLang="en-US" sz="1800" dirty="0"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rPr>
              <a:t>Decision-makers lack real-time insights for monitoring consumption trends.</a:t>
            </a:r>
            <a:endParaRPr lang="en-US" altLang="en-US" sz="1800" dirty="0">
              <a:latin typeface="Arial" panose="020B0604020202020204" pitchFamily="34" charset="0"/>
              <a:ea typeface="Palatino" pitchFamily="2" charset="77"/>
              <a:cs typeface="Arial" panose="020B0604020202020204" pitchFamily="34" charset="0"/>
            </a:endParaRPr>
          </a:p>
          <a:p>
            <a:pPr marL="381000" indent="-285750">
              <a:lnSpc>
                <a:spcPct val="170000"/>
              </a:lnSpc>
            </a:pPr>
            <a:r>
              <a:rPr lang="en-US" altLang="en-US" sz="1800" b="1" dirty="0"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rPr>
              <a:t>Meter Issues</a:t>
            </a:r>
            <a:r>
              <a:rPr lang="en-GB" altLang="en-US" sz="1800" b="1" dirty="0"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rPr>
              <a:t>:</a:t>
            </a:r>
            <a:r>
              <a:rPr lang="en-GB" altLang="en-US" sz="1800" dirty="0"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rPr>
              <a:t> </a:t>
            </a:r>
            <a:r>
              <a:rPr lang="en-US" altLang="en-US" sz="1800" dirty="0"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rPr>
              <a:t>Inconsistent meter performance affects accuracy and reporting.</a:t>
            </a:r>
            <a:endParaRPr lang="en-US" altLang="en-US" sz="1800" dirty="0">
              <a:latin typeface="Arial" panose="020B0604020202020204" pitchFamily="34" charset="0"/>
              <a:ea typeface="Palatino" pitchFamily="2" charset="77"/>
              <a:cs typeface="Arial" panose="020B0604020202020204" pitchFamily="34" charset="0"/>
            </a:endParaRPr>
          </a:p>
          <a:p>
            <a:pPr marL="381000" indent="-285750">
              <a:lnSpc>
                <a:spcPct val="170000"/>
              </a:lnSpc>
            </a:pPr>
            <a:r>
              <a:rPr lang="en-US" altLang="en-US" sz="1800" b="1" dirty="0"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rPr>
              <a:t>No Detection Logic</a:t>
            </a:r>
            <a:r>
              <a:rPr lang="en-GB" altLang="en-US" sz="1800" b="1" dirty="0"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rPr>
              <a:t>:</a:t>
            </a:r>
            <a:r>
              <a:rPr lang="en-GB" altLang="en-US" sz="1800" dirty="0"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rPr>
              <a:t> </a:t>
            </a:r>
            <a:r>
              <a:rPr lang="en-US" altLang="en-US" sz="1800" dirty="0"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rPr>
              <a:t>Absence of structured leakage identification leads to delayed action.</a:t>
            </a:r>
            <a:endParaRPr lang="en-US" altLang="en-US" sz="1800" dirty="0">
              <a:latin typeface="Arial" panose="020B0604020202020204" pitchFamily="34" charset="0"/>
              <a:ea typeface="Palatino" pitchFamily="2" charset="77"/>
              <a:cs typeface="Arial" panose="020B0604020202020204" pitchFamily="34" charset="0"/>
            </a:endParaRPr>
          </a:p>
          <a:p>
            <a:pPr marL="381000" indent="-285750">
              <a:lnSpc>
                <a:spcPct val="170000"/>
              </a:lnSpc>
            </a:pPr>
            <a:r>
              <a:rPr lang="en-US" altLang="en-US" sz="1800" b="1" dirty="0"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rPr>
              <a:t>Fragmented Workflow</a:t>
            </a:r>
            <a:r>
              <a:rPr lang="en-GB" altLang="en-US" sz="1800" b="1" dirty="0"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rPr>
              <a:t>:</a:t>
            </a:r>
            <a:r>
              <a:rPr lang="en-GB" altLang="en-US" sz="1800" dirty="0"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rPr>
              <a:t> </a:t>
            </a:r>
            <a:r>
              <a:rPr lang="en-US" altLang="en-US" sz="1800" dirty="0"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rPr>
              <a:t>Field realities are not translated into product features.</a:t>
            </a:r>
            <a:endParaRPr lang="en-US" altLang="en-US" sz="1800" dirty="0">
              <a:latin typeface="Arial" panose="020B0604020202020204" pitchFamily="34" charset="0"/>
              <a:ea typeface="Palatino" pitchFamily="2" charset="77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  <a:endParaRPr lang="en-US" dirty="0"/>
          </a:p>
        </p:txBody>
      </p:sp>
      <p:sp>
        <p:nvSpPr>
          <p:cNvPr id="4" name="Content Placeholder 2"/>
          <p:cNvSpPr txBox="1"/>
          <p:nvPr/>
        </p:nvSpPr>
        <p:spPr bwMode="auto">
          <a:xfrm>
            <a:off x="77118" y="804232"/>
            <a:ext cx="8956714" cy="5761822"/>
          </a:xfrm>
          <a:prstGeom prst="rect">
            <a:avLst/>
          </a:prstGeom>
          <a:noFill/>
          <a:ln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  <a:defRPr kumimoji="1" sz="1800">
                <a:solidFill>
                  <a:schemeClr val="tx1"/>
                </a:solidFill>
                <a:latin typeface="Helvetica" panose="020B060402020202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  <a:defRPr kumimoji="1" sz="1600">
                <a:solidFill>
                  <a:schemeClr val="tx1"/>
                </a:solidFill>
                <a:latin typeface="Helvetica" panose="020B060402020202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 sz="1600">
                <a:solidFill>
                  <a:schemeClr val="tx1"/>
                </a:solidFill>
                <a:latin typeface="Helvetica" panose="020B060402020202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4287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1600">
                <a:solidFill>
                  <a:schemeClr val="tx1"/>
                </a:solidFill>
                <a:latin typeface="Helvetica" panose="020B060402020202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7716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9pPr>
          </a:lstStyle>
          <a:p>
            <a:pPr marL="357505" indent="-262255">
              <a:lnSpc>
                <a:spcPct val="150000"/>
              </a:lnSpc>
            </a:pPr>
            <a:r>
              <a:rPr lang="en-US" altLang="en-US" sz="1700" b="1" dirty="0">
                <a:ea typeface="Palatino" pitchFamily="2" charset="77"/>
              </a:rPr>
              <a:t>Field Understanding:</a:t>
            </a:r>
            <a:r>
              <a:rPr lang="en-US" altLang="en-US" sz="1700" dirty="0">
                <a:ea typeface="Palatino" pitchFamily="2" charset="77"/>
              </a:rPr>
              <a:t> Conduct site visits and observe sensor deployment</a:t>
            </a:r>
            <a:r>
              <a:rPr lang="en-GB" altLang="en-US" sz="1700" dirty="0">
                <a:ea typeface="Palatino" pitchFamily="2" charset="77"/>
              </a:rPr>
              <a:t>.</a:t>
            </a:r>
            <a:r>
              <a:rPr lang="en-US" altLang="en-US" sz="1700" dirty="0">
                <a:ea typeface="Palatino" pitchFamily="2" charset="77"/>
              </a:rPr>
              <a:t> </a:t>
            </a:r>
            <a:endParaRPr lang="en-US" altLang="en-US" sz="1700" dirty="0">
              <a:ea typeface="Palatino" pitchFamily="2" charset="77"/>
            </a:endParaRPr>
          </a:p>
          <a:p>
            <a:pPr marL="357505" indent="-262255">
              <a:lnSpc>
                <a:spcPct val="150000"/>
              </a:lnSpc>
            </a:pPr>
            <a:r>
              <a:rPr lang="en-US" altLang="en-US" sz="1700" b="1" dirty="0">
                <a:ea typeface="Palatino" pitchFamily="2" charset="77"/>
              </a:rPr>
              <a:t>Client Data Analysis:</a:t>
            </a:r>
            <a:r>
              <a:rPr lang="en-US" altLang="en-US" sz="1700" dirty="0">
                <a:ea typeface="Palatino" pitchFamily="2" charset="77"/>
              </a:rPr>
              <a:t> Evaluate industrial water usage trends and inefficiencies through detailed datasets.</a:t>
            </a:r>
            <a:endParaRPr lang="en-US" altLang="en-US" sz="1700" dirty="0">
              <a:ea typeface="Palatino" pitchFamily="2" charset="77"/>
            </a:endParaRPr>
          </a:p>
          <a:p>
            <a:pPr marL="357505" indent="-262255">
              <a:lnSpc>
                <a:spcPct val="150000"/>
              </a:lnSpc>
            </a:pPr>
            <a:r>
              <a:rPr lang="en-US" altLang="en-US" sz="1700" b="1" dirty="0">
                <a:ea typeface="Palatino" pitchFamily="2" charset="77"/>
              </a:rPr>
              <a:t>Product Documentation:</a:t>
            </a:r>
            <a:r>
              <a:rPr lang="en-US" altLang="en-US" sz="1700" dirty="0">
                <a:ea typeface="Palatino" pitchFamily="2" charset="77"/>
              </a:rPr>
              <a:t> Create PRDs, mockups, interview insights, and user stories for feature planning.</a:t>
            </a:r>
            <a:endParaRPr lang="en-US" altLang="en-US" sz="1700" dirty="0">
              <a:ea typeface="Palatino" pitchFamily="2" charset="77"/>
            </a:endParaRPr>
          </a:p>
          <a:p>
            <a:pPr marL="357505" indent="-262255">
              <a:lnSpc>
                <a:spcPct val="150000"/>
              </a:lnSpc>
            </a:pPr>
            <a:r>
              <a:rPr lang="en-US" altLang="en-US" sz="1700" b="1" dirty="0">
                <a:ea typeface="Palatino" pitchFamily="2" charset="77"/>
              </a:rPr>
              <a:t>Strategic Research:</a:t>
            </a:r>
            <a:r>
              <a:rPr lang="en-US" altLang="en-US" sz="1700" dirty="0">
                <a:ea typeface="Palatino" pitchFamily="2" charset="77"/>
              </a:rPr>
              <a:t> Explore remote sensing, catchment intelligence, and water insights.</a:t>
            </a:r>
            <a:endParaRPr lang="en-US" altLang="en-US" sz="1700" dirty="0">
              <a:ea typeface="Palatino" pitchFamily="2" charset="77"/>
            </a:endParaRPr>
          </a:p>
          <a:p>
            <a:pPr marL="357505" indent="-262255">
              <a:lnSpc>
                <a:spcPct val="150000"/>
              </a:lnSpc>
            </a:pPr>
            <a:r>
              <a:rPr lang="en-US" altLang="en-US" sz="1700" b="1" dirty="0">
                <a:ea typeface="Palatino" pitchFamily="2" charset="77"/>
                <a:sym typeface="+mn-ea"/>
              </a:rPr>
              <a:t>Client Engagement:</a:t>
            </a:r>
            <a:r>
              <a:rPr lang="en-US" altLang="en-US" sz="1700" dirty="0">
                <a:ea typeface="Palatino" pitchFamily="2" charset="77"/>
                <a:sym typeface="+mn-ea"/>
              </a:rPr>
              <a:t> Support key accounts with dashboard</a:t>
            </a:r>
            <a:r>
              <a:rPr lang="en-GB" altLang="en-US" sz="1700" dirty="0">
                <a:ea typeface="Palatino" pitchFamily="2" charset="77"/>
                <a:sym typeface="+mn-ea"/>
              </a:rPr>
              <a:t> setup</a:t>
            </a:r>
            <a:r>
              <a:rPr lang="en-US" altLang="en-US" sz="1700" dirty="0">
                <a:ea typeface="Palatino" pitchFamily="2" charset="77"/>
                <a:sym typeface="+mn-ea"/>
              </a:rPr>
              <a:t>, and ongoing analysis</a:t>
            </a:r>
            <a:r>
              <a:rPr lang="en-GB" altLang="en-US" sz="1700" dirty="0">
                <a:ea typeface="Palatino" pitchFamily="2" charset="77"/>
                <a:sym typeface="+mn-ea"/>
              </a:rPr>
              <a:t> to understand usage trends and inefficiencies</a:t>
            </a:r>
            <a:r>
              <a:rPr lang="en-US" altLang="en-US" sz="1700" dirty="0">
                <a:ea typeface="Palatino" pitchFamily="2" charset="77"/>
                <a:sym typeface="+mn-ea"/>
              </a:rPr>
              <a:t>.</a:t>
            </a:r>
            <a:endParaRPr lang="en-US" altLang="en-US" sz="1700" dirty="0">
              <a:ea typeface="Palatino" pitchFamily="2" charset="77"/>
            </a:endParaRPr>
          </a:p>
          <a:p>
            <a:pPr marL="357505" indent="-262255">
              <a:lnSpc>
                <a:spcPct val="150000"/>
              </a:lnSpc>
            </a:pPr>
            <a:r>
              <a:rPr lang="en-US" altLang="en-US" sz="1700" b="1" dirty="0">
                <a:ea typeface="Palatino" pitchFamily="2" charset="77"/>
              </a:rPr>
              <a:t>Flowmeter Evaluation:</a:t>
            </a:r>
            <a:r>
              <a:rPr lang="en-US" altLang="en-US" sz="1700" dirty="0">
                <a:ea typeface="Palatino" pitchFamily="2" charset="77"/>
              </a:rPr>
              <a:t> Benchmark flowmeters across accuracy, stability, and field performance parameters.</a:t>
            </a:r>
            <a:endParaRPr lang="en-US" altLang="en-US" sz="1700" dirty="0">
              <a:ea typeface="Palatino" pitchFamily="2" charset="77"/>
            </a:endParaRPr>
          </a:p>
          <a:p>
            <a:pPr marL="357505" indent="-262255">
              <a:lnSpc>
                <a:spcPct val="150000"/>
              </a:lnSpc>
            </a:pPr>
            <a:r>
              <a:rPr lang="en-US" altLang="en-US" sz="1700" b="1" dirty="0">
                <a:ea typeface="Palatino" pitchFamily="2" charset="77"/>
              </a:rPr>
              <a:t>System Reliability:</a:t>
            </a:r>
            <a:r>
              <a:rPr lang="en-US" altLang="en-US" sz="1700" dirty="0">
                <a:ea typeface="Palatino" pitchFamily="2" charset="77"/>
              </a:rPr>
              <a:t> Design offline data-buffering flows and leakage-detection logic for zero-loss monitoring.</a:t>
            </a:r>
            <a:endParaRPr lang="en-US" altLang="en-US" sz="1700" dirty="0">
              <a:ea typeface="Palatino" pitchFamily="2" charset="77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>
                <a:ea typeface="Palatino" pitchFamily="2" charset="77"/>
              </a:rPr>
              <a:t>Literature Review</a:t>
            </a:r>
            <a:endParaRPr lang="en-US" b="0" dirty="0"/>
          </a:p>
        </p:txBody>
      </p:sp>
      <p:sp>
        <p:nvSpPr>
          <p:cNvPr id="4" name="Content Placeholder 2"/>
          <p:cNvSpPr txBox="1"/>
          <p:nvPr/>
        </p:nvSpPr>
        <p:spPr bwMode="auto">
          <a:xfrm>
            <a:off x="77118" y="804231"/>
            <a:ext cx="8956714" cy="5794873"/>
          </a:xfrm>
          <a:prstGeom prst="rect">
            <a:avLst/>
          </a:prstGeom>
          <a:noFill/>
          <a:ln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  <a:defRPr kumimoji="1" sz="1800">
                <a:solidFill>
                  <a:schemeClr val="tx1"/>
                </a:solidFill>
                <a:latin typeface="Helvetica" panose="020B060402020202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  <a:defRPr kumimoji="1" sz="1600">
                <a:solidFill>
                  <a:schemeClr val="tx1"/>
                </a:solidFill>
                <a:latin typeface="Helvetica" panose="020B060402020202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 sz="1600">
                <a:solidFill>
                  <a:schemeClr val="tx1"/>
                </a:solidFill>
                <a:latin typeface="Helvetica" panose="020B060402020202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4287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1600">
                <a:solidFill>
                  <a:schemeClr val="tx1"/>
                </a:solidFill>
                <a:latin typeface="Helvetica" panose="020B060402020202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7716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9pPr>
          </a:lstStyle>
          <a:p>
            <a:pPr marL="95250" indent="0">
              <a:buNone/>
            </a:pPr>
            <a:endParaRPr lang="en-IN" sz="1800" dirty="0">
              <a:ea typeface="Palatino" pitchFamily="2" charset="77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10168" y="881348"/>
          <a:ext cx="8923655" cy="5892165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542256"/>
                <a:gridCol w="1760270"/>
                <a:gridCol w="1465243"/>
                <a:gridCol w="1421176"/>
                <a:gridCol w="1828800"/>
                <a:gridCol w="1905918"/>
              </a:tblGrid>
              <a:tr h="76016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0" i="0" u="none" strike="noStrike" cap="none">
                          <a:ea typeface="Helvetica Neue" panose="020B0604020202020204"/>
                          <a:cs typeface="+mn-lt"/>
                          <a:sym typeface="Helvetica Neue" panose="020B0604020202020204"/>
                        </a:rPr>
                        <a:t>S. No.</a:t>
                      </a:r>
                      <a:endParaRPr lang="en-GB" sz="1200" b="0" i="0" u="none" strike="noStrike" cap="none">
                        <a:ea typeface="Helvetica Neue" panose="020B0604020202020204"/>
                        <a:cs typeface="+mn-lt"/>
                        <a:sym typeface="Helvetica Neue" panose="020B0604020202020204"/>
                      </a:endParaRPr>
                    </a:p>
                  </a:txBody>
                  <a:tcPr marL="91450" marR="91450" marT="34300" marB="34300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0">
                          <a:ea typeface="Helvetica Neue" panose="020B0604020202020204"/>
                          <a:cs typeface="+mn-lt"/>
                          <a:sym typeface="Helvetica Neue" panose="020B0604020202020204"/>
                        </a:rPr>
                        <a:t>Platform/Concept Explored</a:t>
                      </a:r>
                      <a:endParaRPr lang="en-GB" sz="1200" b="0">
                        <a:ea typeface="Helvetica Neue" panose="020B0604020202020204"/>
                        <a:cs typeface="+mn-lt"/>
                        <a:sym typeface="Helvetica Neue" panose="020B0604020202020204"/>
                      </a:endParaRPr>
                    </a:p>
                  </a:txBody>
                  <a:tcPr marL="91450" marR="91450" marT="34300" marB="34300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0">
                          <a:ea typeface="Helvetica Neue" panose="020B0604020202020204"/>
                          <a:cs typeface="+mn-lt"/>
                          <a:sym typeface="Helvetica Neue" panose="020B0604020202020204"/>
                        </a:rPr>
                        <a:t>Source/Reference</a:t>
                      </a:r>
                      <a:br>
                        <a:rPr lang="en-GB" sz="1200" b="0" i="0" u="none" strike="noStrike" cap="none">
                          <a:ea typeface="Helvetica Neue" panose="020B0604020202020204"/>
                          <a:cs typeface="+mn-lt"/>
                          <a:sym typeface="Helvetica Neue" panose="020B0604020202020204"/>
                        </a:rPr>
                      </a:br>
                      <a:r>
                        <a:rPr lang="en-GB" sz="1200" b="0" i="0" u="none" strike="noStrike" cap="none">
                          <a:ea typeface="Helvetica Neue" panose="020B0604020202020204"/>
                          <a:cs typeface="+mn-lt"/>
                          <a:sym typeface="Helvetica Neue" panose="020B0604020202020204"/>
                        </a:rPr>
                        <a:t>(Year)</a:t>
                      </a:r>
                      <a:endParaRPr lang="en-GB" sz="1200" b="0">
                        <a:ea typeface="Helvetica Neue" panose="020B0604020202020204"/>
                        <a:cs typeface="+mn-lt"/>
                        <a:sym typeface="Helvetica Neue" panose="020B0604020202020204"/>
                      </a:endParaRPr>
                    </a:p>
                  </a:txBody>
                  <a:tcPr marL="91450" marR="91450" marT="34300" marB="34300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0" i="0" u="none" strike="noStrike" cap="none">
                          <a:ea typeface="Helvetica Neue" panose="020B0604020202020204"/>
                          <a:cs typeface="+mn-lt"/>
                          <a:sym typeface="Helvetica Neue" panose="020B0604020202020204"/>
                        </a:rPr>
                        <a:t>Tools/</a:t>
                      </a:r>
                      <a:endParaRPr sz="1200">
                        <a:cs typeface="+mn-lt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0" i="0" u="none" strike="noStrike" cap="none">
                          <a:ea typeface="Helvetica Neue" panose="020B0604020202020204"/>
                          <a:cs typeface="+mn-lt"/>
                          <a:sym typeface="Helvetica Neue" panose="020B0604020202020204"/>
                        </a:rPr>
                        <a:t>Techniques</a:t>
                      </a:r>
                      <a:endParaRPr sz="1200">
                        <a:cs typeface="+mn-lt"/>
                      </a:endParaRPr>
                    </a:p>
                  </a:txBody>
                  <a:tcPr marL="91450" marR="91450" marT="34300" marB="34300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0" i="0" u="none" strike="noStrike" cap="none">
                          <a:ea typeface="Helvetica Neue" panose="020B0604020202020204"/>
                          <a:cs typeface="+mn-lt"/>
                          <a:sym typeface="Helvetica Neue" panose="020B0604020202020204"/>
                        </a:rPr>
                        <a:t>Key Findings/</a:t>
                      </a:r>
                      <a:endParaRPr sz="1200">
                        <a:cs typeface="+mn-lt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0">
                          <a:ea typeface="Helvetica Neue" panose="020B0604020202020204"/>
                          <a:cs typeface="+mn-lt"/>
                          <a:sym typeface="Helvetica Neue" panose="020B0604020202020204"/>
                        </a:rPr>
                        <a:t>Insights</a:t>
                      </a:r>
                      <a:endParaRPr sz="1200">
                        <a:cs typeface="+mn-lt"/>
                      </a:endParaRPr>
                    </a:p>
                  </a:txBody>
                  <a:tcPr marL="91450" marR="91450" marT="34300" marB="34300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0" i="0" u="none" strike="noStrike" cap="none">
                          <a:ea typeface="Helvetica Neue" panose="020B0604020202020204"/>
                          <a:cs typeface="+mn-lt"/>
                          <a:sym typeface="Helvetica Neue" panose="020B0604020202020204"/>
                        </a:rPr>
                        <a:t>Limitations/</a:t>
                      </a:r>
                      <a:endParaRPr sz="1200">
                        <a:cs typeface="+mn-lt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0" i="0" u="none" strike="noStrike" cap="none">
                          <a:ea typeface="Helvetica Neue" panose="020B0604020202020204"/>
                          <a:cs typeface="+mn-lt"/>
                          <a:sym typeface="Helvetica Neue" panose="020B0604020202020204"/>
                        </a:rPr>
                        <a:t>Gaps Identified</a:t>
                      </a:r>
                      <a:endParaRPr sz="1200">
                        <a:cs typeface="+mn-lt"/>
                      </a:endParaRPr>
                    </a:p>
                  </a:txBody>
                  <a:tcPr marL="91450" marR="91450" marT="34300" marB="34300">
                    <a:solidFill>
                      <a:schemeClr val="accent6">
                        <a:lumMod val="50000"/>
                      </a:schemeClr>
                    </a:solidFill>
                  </a:tcPr>
                </a:tc>
              </a:tr>
              <a:tr h="1405890"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1</a:t>
                      </a:r>
                      <a:endParaRPr sz="1200"/>
                    </a:p>
                  </a:txBody>
                  <a:tcPr marL="0" marR="0" marT="0" marB="0" anchor="ctr" anchorCtr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Rainwater harvesting, treatment &amp; analytics</a:t>
                      </a:r>
                      <a:endParaRPr sz="1200"/>
                    </a:p>
                  </a:txBody>
                  <a:tcPr marL="0" marR="0" marT="0" marB="0" anchor="ctr" anchorCtr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Raimondi et al., 2023 [</a:t>
                      </a:r>
                      <a:r>
                        <a:rPr lang="en-GB" sz="1200"/>
                        <a:t>1</a:t>
                      </a:r>
                      <a:r>
                        <a:rPr sz="1200"/>
                        <a:t>]</a:t>
                      </a:r>
                      <a:endParaRPr sz="1200"/>
                    </a:p>
                  </a:txBody>
                  <a:tcPr marL="0" marR="0" marT="0" marB="0" anchor="ctr" anchorCtr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RWH system assessment, monitoring frameworks, treatment methods</a:t>
                      </a:r>
                      <a:endParaRPr sz="1200"/>
                    </a:p>
                  </a:txBody>
                  <a:tcPr marL="0" marR="0" marT="0" marB="0" anchor="ctr" anchorCtr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Provides a detailed review of modern rainwater harvesting systems and highlights potential for integrating monitoring + analytics for better water management</a:t>
                      </a:r>
                      <a:endParaRPr sz="1200"/>
                    </a:p>
                  </a:txBody>
                  <a:tcPr marL="0" marR="0" marT="0" marB="0" anchor="ctr" anchorCtr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Limited evidence of real-time IoT deployments; mostly conceptual review</a:t>
                      </a:r>
                      <a:endParaRPr sz="1200"/>
                    </a:p>
                  </a:txBody>
                  <a:tcPr marL="0" marR="0" marT="0" marB="0" anchor="ctr" anchorCtr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</a:tr>
              <a:tr h="1415415"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2</a:t>
                      </a:r>
                      <a:endParaRPr sz="1200"/>
                    </a:p>
                  </a:txBody>
                  <a:tcPr marL="0" marR="0" marT="0" marB="0" anchor="ctr" anchorCtr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Rainwater harvesting, treatment &amp; analytics</a:t>
                      </a:r>
                      <a:endParaRPr sz="1200"/>
                    </a:p>
                  </a:txBody>
                  <a:tcPr marL="0" marR="0" marT="0" marB="0" anchor="ctr" anchorCtr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Raimondi et al., 2023 [</a:t>
                      </a:r>
                      <a:r>
                        <a:rPr lang="en-GB" sz="1200"/>
                        <a:t>2</a:t>
                      </a:r>
                      <a:r>
                        <a:rPr sz="1200"/>
                        <a:t>]</a:t>
                      </a:r>
                      <a:endParaRPr sz="1200"/>
                    </a:p>
                  </a:txBody>
                  <a:tcPr marL="0" marR="0" marT="0" marB="0" anchor="ctr" anchorCtr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RWH system assessment, monitoring frameworks, treatment methods</a:t>
                      </a:r>
                      <a:endParaRPr sz="1200"/>
                    </a:p>
                  </a:txBody>
                  <a:tcPr marL="0" marR="0" marT="0" marB="0" anchor="ctr" anchorCtr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Provides a detailed review of modern rainwater harvesting systems and highlights potential for integrating monitoring + analytics for better water management</a:t>
                      </a:r>
                      <a:endParaRPr sz="1200"/>
                    </a:p>
                  </a:txBody>
                  <a:tcPr marL="0" marR="0" marT="0" marB="0" anchor="ctr" anchorCtr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Limited evidence of real-time IoT deployments; mostly conceptual review</a:t>
                      </a:r>
                      <a:endParaRPr sz="1200"/>
                    </a:p>
                  </a:txBody>
                  <a:tcPr marL="0" marR="0" marT="0" marB="0" anchor="ctr" anchorCtr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110680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0" i="0">
                          <a:ea typeface="Helvetica Neue" panose="020B0604020202020204"/>
                          <a:cs typeface="+mn-lt"/>
                          <a:sym typeface="Helvetica Neue" panose="020B0604020202020204"/>
                        </a:rPr>
                        <a:t>3.</a:t>
                      </a:r>
                      <a:endParaRPr lang="en-GB" sz="1200" b="0" i="0">
                        <a:ea typeface="Helvetica Neue" panose="020B0604020202020204"/>
                        <a:cs typeface="+mn-lt"/>
                        <a:sym typeface="Helvetica Neue" panose="020B0604020202020204"/>
                      </a:endParaRPr>
                    </a:p>
                  </a:txBody>
                  <a:tcPr marL="91450" marR="91450" marT="34300" marB="34300" anchor="ctr" anchorCtr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ea typeface="Helvetica Neue" panose="020B0604020202020204"/>
                          <a:cs typeface="+mn-lt"/>
                          <a:sym typeface="Helvetica Neue" panose="020B0604020202020204"/>
                        </a:rPr>
                        <a:t>Customer handling and review</a:t>
                      </a:r>
                      <a:endParaRPr lang="en-GB" sz="1200" b="0" i="0">
                        <a:ea typeface="Helvetica Neue" panose="020B0604020202020204"/>
                        <a:cs typeface="+mn-lt"/>
                        <a:sym typeface="Helvetica Neue" panose="020B0604020202020204"/>
                      </a:endParaRPr>
                    </a:p>
                  </a:txBody>
                  <a:tcPr marL="91450" marR="91450" marT="34300" marB="3430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ea typeface="Helvetica Neue" panose="020B0604020202020204"/>
                          <a:cs typeface="+mn-lt"/>
                          <a:sym typeface="Helvetica Neue" panose="020B0604020202020204"/>
                        </a:rPr>
                        <a:t> 20 Customer Service Steps You Need to Succeed In 2024-Invoca (2024)</a:t>
                      </a:r>
                      <a:endParaRPr lang="en-GB" sz="1200" b="0" i="0">
                        <a:ea typeface="Helvetica Neue" panose="020B0604020202020204"/>
                        <a:cs typeface="+mn-lt"/>
                        <a:sym typeface="Helvetica Neue" panose="020B0604020202020204"/>
                      </a:endParaRPr>
                    </a:p>
                  </a:txBody>
                  <a:tcPr marL="91450" marR="91450" marT="34300" marB="3430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ea typeface="Helvetica Neue" panose="020B0604020202020204"/>
                          <a:cs typeface="+mn-lt"/>
                          <a:sym typeface="Helvetica Neue" panose="020B0604020202020204"/>
                        </a:rPr>
                        <a:t>Communication, Problem Solving</a:t>
                      </a:r>
                      <a:endParaRPr lang="en-GB" sz="1200" b="0" i="0">
                        <a:ea typeface="Helvetica Neue" panose="020B0604020202020204"/>
                        <a:cs typeface="+mn-lt"/>
                        <a:sym typeface="Helvetica Neue" panose="020B0604020202020204"/>
                      </a:endParaRPr>
                    </a:p>
                  </a:txBody>
                  <a:tcPr marL="91450" marR="91450" marT="34300" marB="3430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ea typeface="Helvetica Neue" panose="020B0604020202020204"/>
                          <a:cs typeface="+mn-lt"/>
                          <a:sym typeface="Helvetica Neue" panose="020B0604020202020204"/>
                        </a:rPr>
                        <a:t>Learn to manage client issues, provide guidance and gather feedback</a:t>
                      </a:r>
                      <a:endParaRPr lang="en-GB" sz="1200" b="0" i="0">
                        <a:ea typeface="Helvetica Neue" panose="020B0604020202020204"/>
                        <a:cs typeface="+mn-lt"/>
                        <a:sym typeface="Helvetica Neue" panose="020B0604020202020204"/>
                      </a:endParaRPr>
                    </a:p>
                  </a:txBody>
                  <a:tcPr marL="91450" marR="91450" marT="34300" marB="3430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0" lvl="0" indent="-635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/>
                        <a:buNone/>
                      </a:pPr>
                      <a:r>
                        <a:rPr lang="en-GB" sz="1200">
                          <a:ea typeface="Helvetica Neue" panose="020B0604020202020204"/>
                          <a:cs typeface="+mn-lt"/>
                          <a:sym typeface="Helvetica Neue" panose="020B0604020202020204"/>
                        </a:rPr>
                        <a:t> Requires deeper expertise for large-scale client handling</a:t>
                      </a:r>
                      <a:endParaRPr lang="en-GB" sz="1200" b="0" i="0">
                        <a:ea typeface="Helvetica Neue" panose="020B0604020202020204"/>
                        <a:cs typeface="+mn-lt"/>
                        <a:sym typeface="Helvetica Neue" panose="020B0604020202020204"/>
                      </a:endParaRPr>
                    </a:p>
                  </a:txBody>
                  <a:tcPr marL="91450" marR="91450" marT="34300" marB="3430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</a:tr>
              <a:tr h="120363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0" i="0">
                          <a:ea typeface="Helvetica Neue" panose="020B0604020202020204"/>
                          <a:cs typeface="+mn-lt"/>
                          <a:sym typeface="Helvetica Neue" panose="020B0604020202020204"/>
                        </a:rPr>
                        <a:t>4.</a:t>
                      </a:r>
                      <a:endParaRPr lang="en-GB" sz="1200" b="0" i="0">
                        <a:ea typeface="Helvetica Neue" panose="020B0604020202020204"/>
                        <a:cs typeface="+mn-lt"/>
                        <a:sym typeface="Helvetica Neue" panose="020B0604020202020204"/>
                      </a:endParaRPr>
                    </a:p>
                  </a:txBody>
                  <a:tcPr marL="91450" marR="91450" marT="34300" marB="34300" anchor="ctr" anchorCtr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ea typeface="Helvetica Neue" panose="020B0604020202020204"/>
                          <a:cs typeface="+mn-lt"/>
                          <a:sym typeface="Helvetica Neue" panose="020B0604020202020204"/>
                        </a:rPr>
                        <a:t>Material Design 3 (Design principles)</a:t>
                      </a:r>
                      <a:endParaRPr lang="en-GB" sz="1200" b="0" i="0">
                        <a:ea typeface="Helvetica Neue" panose="020B0604020202020204"/>
                        <a:cs typeface="+mn-lt"/>
                        <a:sym typeface="Helvetica Neue" panose="020B0604020202020204"/>
                      </a:endParaRPr>
                    </a:p>
                  </a:txBody>
                  <a:tcPr marL="91450" marR="91450" marT="34300" marB="3430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ea typeface="Helvetica Neue" panose="020B0604020202020204"/>
                          <a:cs typeface="+mn-lt"/>
                          <a:sym typeface="Helvetica Neue" panose="020B0604020202020204"/>
                        </a:rPr>
                        <a:t>Material Design 3 - Google’s latest open source design system (m3.material.io)(2025)</a:t>
                      </a:r>
                      <a:endParaRPr lang="en-GB" sz="1200" b="0" i="0">
                        <a:ea typeface="Helvetica Neue" panose="020B0604020202020204"/>
                        <a:cs typeface="+mn-lt"/>
                        <a:sym typeface="Helvetica Neue" panose="020B0604020202020204"/>
                      </a:endParaRPr>
                    </a:p>
                  </a:txBody>
                  <a:tcPr marL="91450" marR="91450" marT="34300" marB="3430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ea typeface="Helvetica Neue" panose="020B0604020202020204"/>
                          <a:cs typeface="+mn-lt"/>
                          <a:sym typeface="Helvetica Neue" panose="020B0604020202020204"/>
                        </a:rPr>
                        <a:t>UI guidelines Component usage</a:t>
                      </a:r>
                      <a:endParaRPr lang="en-GB" sz="1200" b="0" i="0">
                        <a:ea typeface="Helvetica Neue" panose="020B0604020202020204"/>
                        <a:cs typeface="+mn-lt"/>
                        <a:sym typeface="Helvetica Neue" panose="020B0604020202020204"/>
                      </a:endParaRPr>
                    </a:p>
                  </a:txBody>
                  <a:tcPr marL="91450" marR="91450" marT="34300" marB="3430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ea typeface="Helvetica Neue" panose="020B0604020202020204"/>
                          <a:cs typeface="+mn-lt"/>
                          <a:sym typeface="Helvetica Neue" panose="020B0604020202020204"/>
                        </a:rPr>
                        <a:t>Learned how design consistency improves usability and accessibility</a:t>
                      </a:r>
                      <a:endParaRPr lang="en-GB" sz="1200" b="0" i="0">
                        <a:ea typeface="Helvetica Neue" panose="020B0604020202020204"/>
                        <a:cs typeface="+mn-lt"/>
                        <a:sym typeface="Helvetica Neue" panose="020B0604020202020204"/>
                      </a:endParaRPr>
                    </a:p>
                  </a:txBody>
                  <a:tcPr marL="91450" marR="91450" marT="34300" marB="3430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0" lvl="0" indent="-635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/>
                        <a:buNone/>
                      </a:pPr>
                      <a:r>
                        <a:rPr lang="en-GB" sz="1200">
                          <a:ea typeface="Helvetica Neue" panose="020B0604020202020204"/>
                          <a:cs typeface="+mn-lt"/>
                          <a:sym typeface="Helvetica Neue" panose="020B0604020202020204"/>
                        </a:rPr>
                        <a:t> Needs more hands on application</a:t>
                      </a:r>
                      <a:endParaRPr lang="en-GB" sz="1200" b="0" i="0">
                        <a:ea typeface="Helvetica Neue" panose="020B0604020202020204"/>
                        <a:cs typeface="+mn-lt"/>
                        <a:sym typeface="Helvetica Neue" panose="020B0604020202020204"/>
                      </a:endParaRPr>
                    </a:p>
                  </a:txBody>
                  <a:tcPr marL="91450" marR="91450" marT="34300" marB="3430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>
                <a:ea typeface="Palatino" pitchFamily="2" charset="77"/>
              </a:rPr>
              <a:t>Literature Review (</a:t>
            </a:r>
            <a:r>
              <a:rPr lang="en-IN" sz="2400" dirty="0" err="1">
                <a:ea typeface="Palatino" pitchFamily="2" charset="77"/>
              </a:rPr>
              <a:t>cont</a:t>
            </a:r>
            <a:r>
              <a:rPr lang="en-IN" sz="2400" dirty="0">
                <a:ea typeface="Palatino" pitchFamily="2" charset="77"/>
              </a:rPr>
              <a:t>…)</a:t>
            </a:r>
            <a:endParaRPr lang="en-US" b="0" dirty="0"/>
          </a:p>
        </p:txBody>
      </p:sp>
      <p:sp>
        <p:nvSpPr>
          <p:cNvPr id="4" name="Content Placeholder 2"/>
          <p:cNvSpPr txBox="1"/>
          <p:nvPr/>
        </p:nvSpPr>
        <p:spPr bwMode="auto">
          <a:xfrm>
            <a:off x="77118" y="804231"/>
            <a:ext cx="8956714" cy="5794873"/>
          </a:xfrm>
          <a:prstGeom prst="rect">
            <a:avLst/>
          </a:prstGeom>
          <a:noFill/>
          <a:ln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  <a:defRPr kumimoji="1" sz="1800">
                <a:solidFill>
                  <a:schemeClr val="tx1"/>
                </a:solidFill>
                <a:latin typeface="Helvetica" panose="020B060402020202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  <a:defRPr kumimoji="1" sz="1600">
                <a:solidFill>
                  <a:schemeClr val="tx1"/>
                </a:solidFill>
                <a:latin typeface="Helvetica" panose="020B060402020202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 sz="1600">
                <a:solidFill>
                  <a:schemeClr val="tx1"/>
                </a:solidFill>
                <a:latin typeface="Helvetica" panose="020B060402020202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4287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1600">
                <a:solidFill>
                  <a:schemeClr val="tx1"/>
                </a:solidFill>
                <a:latin typeface="Helvetica" panose="020B060402020202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7716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9pPr>
          </a:lstStyle>
          <a:p>
            <a:pPr marL="95250" indent="0">
              <a:buNone/>
            </a:pPr>
            <a:endParaRPr lang="en-IN" sz="1800" dirty="0">
              <a:ea typeface="Palatino" pitchFamily="2" charset="77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09855" y="881380"/>
          <a:ext cx="8923655" cy="302006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542290"/>
                <a:gridCol w="1760220"/>
                <a:gridCol w="1464945"/>
                <a:gridCol w="1421765"/>
                <a:gridCol w="1828800"/>
                <a:gridCol w="1905635"/>
              </a:tblGrid>
              <a:tr h="70866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b="0" i="0" u="none" strike="noStrike" cap="none">
                          <a:ea typeface="Helvetica Neue" panose="020B0604020202020204"/>
                          <a:cs typeface="+mn-lt"/>
                          <a:sym typeface="Helvetica Neue" panose="020B0604020202020204"/>
                        </a:rPr>
                        <a:t>S. No.</a:t>
                      </a:r>
                      <a:endParaRPr lang="en-GB" sz="1400" b="0" i="0" u="none" strike="noStrike" cap="none">
                        <a:ea typeface="Helvetica Neue" panose="020B0604020202020204"/>
                        <a:cs typeface="+mn-lt"/>
                        <a:sym typeface="Helvetica Neue" panose="020B0604020202020204"/>
                      </a:endParaRPr>
                    </a:p>
                  </a:txBody>
                  <a:tcPr marL="91450" marR="91450" marT="34300" marB="34300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b="0">
                          <a:ea typeface="Helvetica Neue" panose="020B0604020202020204"/>
                          <a:cs typeface="+mn-lt"/>
                          <a:sym typeface="Helvetica Neue" panose="020B0604020202020204"/>
                        </a:rPr>
                        <a:t>Platform/Concept Explored</a:t>
                      </a:r>
                      <a:endParaRPr lang="en-GB" sz="1400" b="0">
                        <a:ea typeface="Helvetica Neue" panose="020B0604020202020204"/>
                        <a:cs typeface="+mn-lt"/>
                        <a:sym typeface="Helvetica Neue" panose="020B0604020202020204"/>
                      </a:endParaRPr>
                    </a:p>
                  </a:txBody>
                  <a:tcPr marL="91450" marR="91450" marT="34300" marB="34300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b="0">
                          <a:ea typeface="Helvetica Neue" panose="020B0604020202020204"/>
                          <a:cs typeface="+mn-lt"/>
                          <a:sym typeface="Helvetica Neue" panose="020B0604020202020204"/>
                        </a:rPr>
                        <a:t>Source/Reference</a:t>
                      </a:r>
                      <a:br>
                        <a:rPr lang="en-GB" sz="1400" b="0" i="0" u="none" strike="noStrike" cap="none">
                          <a:ea typeface="Helvetica Neue" panose="020B0604020202020204"/>
                          <a:cs typeface="+mn-lt"/>
                          <a:sym typeface="Helvetica Neue" panose="020B0604020202020204"/>
                        </a:rPr>
                      </a:br>
                      <a:r>
                        <a:rPr lang="en-GB" sz="1400" b="0" i="0" u="none" strike="noStrike" cap="none">
                          <a:ea typeface="Helvetica Neue" panose="020B0604020202020204"/>
                          <a:cs typeface="+mn-lt"/>
                          <a:sym typeface="Helvetica Neue" panose="020B0604020202020204"/>
                        </a:rPr>
                        <a:t>(Year)</a:t>
                      </a:r>
                      <a:endParaRPr lang="en-GB" sz="1400" b="0">
                        <a:ea typeface="Helvetica Neue" panose="020B0604020202020204"/>
                        <a:cs typeface="+mn-lt"/>
                        <a:sym typeface="Helvetica Neue" panose="020B0604020202020204"/>
                      </a:endParaRPr>
                    </a:p>
                  </a:txBody>
                  <a:tcPr marL="91450" marR="91450" marT="34300" marB="34300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b="0" i="0" u="none" strike="noStrike" cap="none">
                          <a:ea typeface="Helvetica Neue" panose="020B0604020202020204"/>
                          <a:cs typeface="+mn-lt"/>
                          <a:sym typeface="Helvetica Neue" panose="020B0604020202020204"/>
                        </a:rPr>
                        <a:t>Tools/</a:t>
                      </a:r>
                      <a:endParaRPr sz="1400">
                        <a:cs typeface="+mn-lt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b="0" i="0" u="none" strike="noStrike" cap="none">
                          <a:ea typeface="Helvetica Neue" panose="020B0604020202020204"/>
                          <a:cs typeface="+mn-lt"/>
                          <a:sym typeface="Helvetica Neue" panose="020B0604020202020204"/>
                        </a:rPr>
                        <a:t>Techniques</a:t>
                      </a:r>
                      <a:endParaRPr sz="1400">
                        <a:cs typeface="+mn-lt"/>
                      </a:endParaRPr>
                    </a:p>
                  </a:txBody>
                  <a:tcPr marL="91450" marR="91450" marT="34300" marB="34300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b="0" i="0" u="none" strike="noStrike" cap="none">
                          <a:ea typeface="Helvetica Neue" panose="020B0604020202020204"/>
                          <a:cs typeface="+mn-lt"/>
                          <a:sym typeface="Helvetica Neue" panose="020B0604020202020204"/>
                        </a:rPr>
                        <a:t>Key Findings/</a:t>
                      </a:r>
                      <a:endParaRPr sz="1400">
                        <a:cs typeface="+mn-lt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b="0">
                          <a:ea typeface="Helvetica Neue" panose="020B0604020202020204"/>
                          <a:cs typeface="+mn-lt"/>
                          <a:sym typeface="Helvetica Neue" panose="020B0604020202020204"/>
                        </a:rPr>
                        <a:t>Insights</a:t>
                      </a:r>
                      <a:endParaRPr sz="1400">
                        <a:cs typeface="+mn-lt"/>
                      </a:endParaRPr>
                    </a:p>
                  </a:txBody>
                  <a:tcPr marL="91450" marR="91450" marT="34300" marB="34300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b="0" i="0" u="none" strike="noStrike" cap="none">
                          <a:ea typeface="Helvetica Neue" panose="020B0604020202020204"/>
                          <a:cs typeface="+mn-lt"/>
                          <a:sym typeface="Helvetica Neue" panose="020B0604020202020204"/>
                        </a:rPr>
                        <a:t>Limitations/</a:t>
                      </a:r>
                      <a:endParaRPr sz="1400">
                        <a:cs typeface="+mn-lt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b="0" i="0" u="none" strike="noStrike" cap="none">
                          <a:ea typeface="Helvetica Neue" panose="020B0604020202020204"/>
                          <a:cs typeface="+mn-lt"/>
                          <a:sym typeface="Helvetica Neue" panose="020B0604020202020204"/>
                        </a:rPr>
                        <a:t>Gaps Identified</a:t>
                      </a:r>
                      <a:endParaRPr sz="1400">
                        <a:cs typeface="+mn-lt"/>
                      </a:endParaRPr>
                    </a:p>
                  </a:txBody>
                  <a:tcPr marL="91450" marR="91450" marT="34300" marB="34300">
                    <a:solidFill>
                      <a:schemeClr val="accent6">
                        <a:lumMod val="50000"/>
                      </a:schemeClr>
                    </a:solidFill>
                  </a:tcPr>
                </a:tc>
              </a:tr>
              <a:tr h="117602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ea typeface="Helvetica Neue" panose="020B0604020202020204"/>
                          <a:cs typeface="+mn-lt"/>
                          <a:sym typeface="Helvetica Neue" panose="020B0604020202020204"/>
                        </a:rPr>
                        <a:t>5. </a:t>
                      </a:r>
                      <a:endParaRPr lang="en-GB" sz="1200">
                        <a:ea typeface="Helvetica Neue" panose="020B0604020202020204"/>
                        <a:cs typeface="+mn-lt"/>
                        <a:sym typeface="Helvetica Neue" panose="020B0604020202020204"/>
                      </a:endParaRPr>
                    </a:p>
                  </a:txBody>
                  <a:tcPr marL="91450" marR="91450" marT="34300" marB="3430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ea typeface="Helvetica Neue" panose="020B0604020202020204"/>
                          <a:cs typeface="+mn-lt"/>
                          <a:sym typeface="Helvetica Neue" panose="020B0604020202020204"/>
                        </a:rPr>
                        <a:t>Types of user interviews</a:t>
                      </a:r>
                      <a:endParaRPr lang="en-GB" sz="1200" b="0" i="0">
                        <a:ea typeface="Helvetica Neue" panose="020B0604020202020204"/>
                        <a:cs typeface="+mn-lt"/>
                        <a:sym typeface="Helvetica Neue" panose="020B0604020202020204"/>
                      </a:endParaRPr>
                    </a:p>
                  </a:txBody>
                  <a:tcPr marL="91450" marR="91450" marT="34300" marB="3430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ea typeface="Helvetica Neue" panose="020B0604020202020204"/>
                          <a:cs typeface="+mn-lt"/>
                          <a:sym typeface="Helvetica Neue" panose="020B0604020202020204"/>
                        </a:rPr>
                        <a:t>The Ultimate Guide to User Interviews 2025</a:t>
                      </a:r>
                      <a:endParaRPr lang="en-GB" sz="1200" b="0" i="0">
                        <a:ea typeface="Helvetica Neue" panose="020B0604020202020204"/>
                        <a:cs typeface="+mn-lt"/>
                        <a:sym typeface="Helvetica Neue" panose="020B0604020202020204"/>
                      </a:endParaRPr>
                    </a:p>
                  </a:txBody>
                  <a:tcPr marL="91450" marR="91450" marT="34300" marB="3430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ea typeface="Helvetica Neue" panose="020B0604020202020204"/>
                          <a:cs typeface="+mn-lt"/>
                          <a:sym typeface="Helvetica Neue" panose="020B0604020202020204"/>
                        </a:rPr>
                        <a:t> Interview Techniques User Testing</a:t>
                      </a:r>
                      <a:endParaRPr lang="en-GB" sz="1200" b="0" i="0">
                        <a:ea typeface="Helvetica Neue" panose="020B0604020202020204"/>
                        <a:cs typeface="+mn-lt"/>
                        <a:sym typeface="Helvetica Neue" panose="020B0604020202020204"/>
                      </a:endParaRPr>
                    </a:p>
                  </a:txBody>
                  <a:tcPr marL="91450" marR="91450" marT="34300" marB="3430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ea typeface="Helvetica Neue" panose="020B0604020202020204"/>
                          <a:cs typeface="+mn-lt"/>
                          <a:sym typeface="Helvetica Neue" panose="020B0604020202020204"/>
                        </a:rPr>
                        <a:t> Interview Techniques User Testing Learn structured unstructured and contextual inquiry Methods</a:t>
                      </a:r>
                      <a:endParaRPr lang="en-GB" sz="1200" b="0" i="0">
                        <a:ea typeface="Helvetica Neue" panose="020B0604020202020204"/>
                        <a:cs typeface="+mn-lt"/>
                        <a:sym typeface="Helvetica Neue" panose="020B0604020202020204"/>
                      </a:endParaRPr>
                    </a:p>
                  </a:txBody>
                  <a:tcPr marL="91450" marR="91450" marT="34300" marB="3430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0" lvl="0" indent="-635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/>
                        <a:buNone/>
                      </a:pPr>
                      <a:r>
                        <a:rPr lang="en-GB" sz="1200">
                          <a:ea typeface="Helvetica Neue" panose="020B0604020202020204"/>
                          <a:cs typeface="+mn-lt"/>
                          <a:sym typeface="Helvetica Neue" panose="020B0604020202020204"/>
                        </a:rPr>
                        <a:t> need more practise in real world interviews</a:t>
                      </a:r>
                      <a:endParaRPr lang="en-GB" sz="1200" b="0" i="0">
                        <a:ea typeface="Helvetica Neue" panose="020B0604020202020204"/>
                        <a:cs typeface="+mn-lt"/>
                        <a:sym typeface="Helvetica Neue" panose="020B0604020202020204"/>
                      </a:endParaRPr>
                    </a:p>
                  </a:txBody>
                  <a:tcPr marL="91450" marR="91450" marT="34300" marB="3430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</a:tr>
              <a:tr h="113538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ea typeface="Helvetica Neue" panose="020B0604020202020204"/>
                          <a:cs typeface="+mn-lt"/>
                          <a:sym typeface="Helvetica Neue" panose="020B0604020202020204"/>
                        </a:rPr>
                        <a:t>6.</a:t>
                      </a:r>
                      <a:endParaRPr lang="en-GB" sz="1200">
                        <a:ea typeface="Helvetica Neue" panose="020B0604020202020204"/>
                        <a:cs typeface="+mn-lt"/>
                        <a:sym typeface="Helvetica Neue" panose="020B0604020202020204"/>
                      </a:endParaRPr>
                    </a:p>
                  </a:txBody>
                  <a:tcPr marL="91450" marR="91450" marT="34300" marB="3430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ea typeface="Helvetica Neue" panose="020B0604020202020204"/>
                          <a:cs typeface="+mn-lt"/>
                          <a:sym typeface="Helvetica Neue" panose="020B0604020202020204"/>
                        </a:rPr>
                        <a:t> Design System 101</a:t>
                      </a:r>
                      <a:endParaRPr lang="en-GB" sz="1200" b="0" i="0">
                        <a:ea typeface="Helvetica Neue" panose="020B0604020202020204"/>
                        <a:cs typeface="+mn-lt"/>
                        <a:sym typeface="Helvetica Neue" panose="020B0604020202020204"/>
                      </a:endParaRPr>
                    </a:p>
                  </a:txBody>
                  <a:tcPr marL="91450" marR="91450" marT="34300" marB="3430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ea typeface="Helvetica Neue" panose="020B0604020202020204"/>
                          <a:cs typeface="+mn-lt"/>
                          <a:sym typeface="Helvetica Neue" panose="020B0604020202020204"/>
                        </a:rPr>
                        <a:t>Lesson 1 : Welcome to design systems Figma Learn (2025)</a:t>
                      </a:r>
                      <a:endParaRPr lang="en-GB" sz="1200" b="0" i="0">
                        <a:ea typeface="Helvetica Neue" panose="020B0604020202020204"/>
                        <a:cs typeface="+mn-lt"/>
                        <a:sym typeface="Helvetica Neue" panose="020B0604020202020204"/>
                      </a:endParaRPr>
                    </a:p>
                  </a:txBody>
                  <a:tcPr marL="91450" marR="91450" marT="34300" marB="3430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ea typeface="Helvetica Neue" panose="020B0604020202020204"/>
                          <a:cs typeface="+mn-lt"/>
                          <a:sym typeface="Helvetica Neue" panose="020B0604020202020204"/>
                        </a:rPr>
                        <a:t>Design system component Libraries</a:t>
                      </a:r>
                      <a:endParaRPr lang="en-GB" sz="1200" b="0" i="0">
                        <a:ea typeface="Helvetica Neue" panose="020B0604020202020204"/>
                        <a:cs typeface="+mn-lt"/>
                        <a:sym typeface="Helvetica Neue" panose="020B0604020202020204"/>
                      </a:endParaRPr>
                    </a:p>
                  </a:txBody>
                  <a:tcPr marL="91450" marR="91450" marT="34300" marB="3430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ea typeface="Helvetica Neue" panose="020B0604020202020204"/>
                          <a:cs typeface="+mn-lt"/>
                          <a:sym typeface="Helvetica Neue" panose="020B0604020202020204"/>
                        </a:rPr>
                        <a:t>Understood our design systems create scalable, cohesive experiences</a:t>
                      </a:r>
                      <a:endParaRPr lang="en-GB" sz="1200" b="0" i="0">
                        <a:ea typeface="Helvetica Neue" panose="020B0604020202020204"/>
                        <a:cs typeface="+mn-lt"/>
                        <a:sym typeface="Helvetica Neue" panose="020B0604020202020204"/>
                      </a:endParaRPr>
                    </a:p>
                  </a:txBody>
                  <a:tcPr marL="91450" marR="91450" marT="34300" marB="3430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0" lvl="0" indent="-635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/>
                        <a:buNone/>
                      </a:pPr>
                      <a:r>
                        <a:rPr lang="en-GB" sz="1200">
                          <a:ea typeface="Helvetica Neue" panose="020B0604020202020204"/>
                          <a:cs typeface="+mn-lt"/>
                          <a:sym typeface="Helvetica Neue" panose="020B0604020202020204"/>
                        </a:rPr>
                        <a:t> Long term practice required to build and maintain systems</a:t>
                      </a:r>
                      <a:endParaRPr lang="en-GB" sz="1200" b="0" i="0">
                        <a:ea typeface="Helvetica Neue" panose="020B0604020202020204"/>
                        <a:cs typeface="+mn-lt"/>
                        <a:sym typeface="Helvetica Neue" panose="020B0604020202020204"/>
                      </a:endParaRPr>
                    </a:p>
                  </a:txBody>
                  <a:tcPr marL="91450" marR="91450" marT="34300" marB="3430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09855" y="3904615"/>
          <a:ext cx="8923655" cy="232664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542290"/>
                <a:gridCol w="1760220"/>
                <a:gridCol w="1464945"/>
                <a:gridCol w="1421765"/>
                <a:gridCol w="1828800"/>
                <a:gridCol w="1905635"/>
              </a:tblGrid>
              <a:tr h="11366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0" i="0" u="none" strike="noStrike" cap="none">
                          <a:solidFill>
                            <a:schemeClr val="tx1"/>
                          </a:solidFill>
                          <a:ea typeface="Helvetica Neue" panose="020B0604020202020204"/>
                          <a:cs typeface="+mn-lt"/>
                          <a:sym typeface="Helvetica Neue" panose="020B0604020202020204"/>
                        </a:rPr>
                        <a:t>7.</a:t>
                      </a:r>
                      <a:endParaRPr lang="en-GB" sz="1200" b="0" i="0" u="none" strike="noStrike" cap="none">
                        <a:solidFill>
                          <a:schemeClr val="tx1"/>
                        </a:solidFill>
                        <a:ea typeface="Helvetica Neue" panose="020B0604020202020204"/>
                        <a:cs typeface="+mn-lt"/>
                        <a:sym typeface="Helvetica Neue" panose="020B0604020202020204"/>
                      </a:endParaRPr>
                    </a:p>
                  </a:txBody>
                  <a:tcPr marL="91450" marR="91450" marT="34300" marB="3430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0">
                          <a:solidFill>
                            <a:schemeClr val="tx1"/>
                          </a:solidFill>
                          <a:ea typeface="Helvetica Neue" panose="020B0604020202020204"/>
                          <a:cs typeface="+mn-lt"/>
                          <a:sym typeface="Helvetica Neue" panose="020B0604020202020204"/>
                        </a:rPr>
                        <a:t>Product Management</a:t>
                      </a:r>
                      <a:endParaRPr lang="en-GB" sz="1200" b="0" i="0">
                        <a:solidFill>
                          <a:schemeClr val="tx1"/>
                        </a:solidFill>
                        <a:ea typeface="Helvetica Neue" panose="020B0604020202020204"/>
                        <a:cs typeface="+mn-lt"/>
                        <a:sym typeface="Helvetica Neue" panose="020B0604020202020204"/>
                      </a:endParaRPr>
                    </a:p>
                  </a:txBody>
                  <a:tcPr marL="91450" marR="91450" marT="34300" marB="3430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0">
                          <a:solidFill>
                            <a:schemeClr val="tx1"/>
                          </a:solidFill>
                          <a:ea typeface="Helvetica Neue" panose="020B0604020202020204"/>
                          <a:cs typeface="+mn-lt"/>
                          <a:sym typeface="Helvetica Neue" panose="020B0604020202020204"/>
                        </a:rPr>
                        <a:t>Top 200+ Product Management Articles 2024: Essential Reads for PM Success(2024)</a:t>
                      </a:r>
                      <a:endParaRPr lang="en-GB" sz="1200" b="0" i="0">
                        <a:solidFill>
                          <a:schemeClr val="tx1"/>
                        </a:solidFill>
                        <a:ea typeface="Helvetica Neue" panose="020B0604020202020204"/>
                        <a:cs typeface="+mn-lt"/>
                        <a:sym typeface="Helvetica Neue" panose="020B0604020202020204"/>
                      </a:endParaRPr>
                    </a:p>
                  </a:txBody>
                  <a:tcPr marL="91450" marR="91450" marT="34300" marB="3430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0">
                          <a:solidFill>
                            <a:schemeClr val="tx1"/>
                          </a:solidFill>
                          <a:ea typeface="Helvetica Neue" panose="020B0604020202020204"/>
                          <a:cs typeface="+mn-lt"/>
                          <a:sym typeface="Helvetica Neue" panose="020B0604020202020204"/>
                        </a:rPr>
                        <a:t>Roadmapping, prioritization frameworks</a:t>
                      </a:r>
                      <a:endParaRPr lang="en-GB" sz="1200" b="0" i="0">
                        <a:solidFill>
                          <a:schemeClr val="tx1"/>
                        </a:solidFill>
                        <a:ea typeface="Helvetica Neue" panose="020B0604020202020204"/>
                        <a:cs typeface="+mn-lt"/>
                        <a:sym typeface="Helvetica Neue" panose="020B0604020202020204"/>
                      </a:endParaRPr>
                    </a:p>
                  </a:txBody>
                  <a:tcPr marL="91450" marR="91450" marT="34300" marB="3430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0">
                          <a:solidFill>
                            <a:schemeClr val="tx1"/>
                          </a:solidFill>
                          <a:ea typeface="Helvetica Neue" panose="020B0604020202020204"/>
                          <a:cs typeface="+mn-lt"/>
                          <a:sym typeface="Helvetica Neue" panose="020B0604020202020204"/>
                        </a:rPr>
                        <a:t>Understood how to align product goals with customer needs</a:t>
                      </a:r>
                      <a:endParaRPr lang="en-GB" sz="1200" b="0" i="0">
                        <a:solidFill>
                          <a:schemeClr val="tx1"/>
                        </a:solidFill>
                        <a:ea typeface="Helvetica Neue" panose="020B0604020202020204"/>
                        <a:cs typeface="+mn-lt"/>
                        <a:sym typeface="Helvetica Neue" panose="020B0604020202020204"/>
                      </a:endParaRPr>
                    </a:p>
                  </a:txBody>
                  <a:tcPr marL="91450" marR="91450" marT="34300" marB="3430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0" lvl="0" indent="-635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/>
                        <a:buNone/>
                      </a:pPr>
                      <a:r>
                        <a:rPr lang="en-GB" sz="1200" b="0">
                          <a:solidFill>
                            <a:schemeClr val="tx1"/>
                          </a:solidFill>
                          <a:ea typeface="Helvetica Neue" panose="020B0604020202020204"/>
                          <a:cs typeface="+mn-lt"/>
                          <a:sym typeface="Helvetica Neue" panose="020B0604020202020204"/>
                        </a:rPr>
                        <a:t>Needs more real-world exposure</a:t>
                      </a:r>
                      <a:endParaRPr lang="en-GB" sz="1200" b="0" i="0">
                        <a:solidFill>
                          <a:schemeClr val="tx1"/>
                        </a:solidFill>
                        <a:ea typeface="Helvetica Neue" panose="020B0604020202020204"/>
                        <a:cs typeface="+mn-lt"/>
                        <a:sym typeface="Helvetica Neue" panose="020B0604020202020204"/>
                      </a:endParaRPr>
                    </a:p>
                  </a:txBody>
                  <a:tcPr marL="91450" marR="91450" marT="34300" marB="3430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</a:tr>
              <a:tr h="116078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0" i="0">
                          <a:ea typeface="Helvetica Neue" panose="020B0604020202020204"/>
                          <a:cs typeface="+mn-lt"/>
                          <a:sym typeface="Helvetica Neue" panose="020B0604020202020204"/>
                        </a:rPr>
                        <a:t>8.</a:t>
                      </a:r>
                      <a:endParaRPr lang="en-GB" sz="1200" b="0" i="0">
                        <a:ea typeface="Helvetica Neue" panose="020B0604020202020204"/>
                        <a:cs typeface="+mn-lt"/>
                        <a:sym typeface="Helvetica Neue" panose="020B0604020202020204"/>
                      </a:endParaRPr>
                    </a:p>
                  </a:txBody>
                  <a:tcPr marL="91450" marR="91450" marT="34300" marB="3430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ea typeface="Helvetica Neue" panose="020B0604020202020204"/>
                          <a:cs typeface="+mn-lt"/>
                          <a:sym typeface="Helvetica Neue" panose="020B0604020202020204"/>
                        </a:rPr>
                        <a:t>Product Analysis</a:t>
                      </a:r>
                      <a:endParaRPr lang="en-GB" sz="1200" b="0" i="0">
                        <a:ea typeface="Helvetica Neue" panose="020B0604020202020204"/>
                        <a:cs typeface="+mn-lt"/>
                        <a:sym typeface="Helvetica Neue" panose="020B0604020202020204"/>
                      </a:endParaRPr>
                    </a:p>
                  </a:txBody>
                  <a:tcPr marL="91450" marR="91450" marT="34300" marB="3430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ea typeface="Helvetica Neue" panose="020B0604020202020204"/>
                          <a:cs typeface="+mn-lt"/>
                          <a:sym typeface="Helvetica Neue" panose="020B0604020202020204"/>
                        </a:rPr>
                        <a:t>Product Analysis in 2024: Ultimate Guide - TechMagic (2024)</a:t>
                      </a:r>
                      <a:endParaRPr lang="en-GB" sz="1200" b="0" i="0">
                        <a:ea typeface="Helvetica Neue" panose="020B0604020202020204"/>
                        <a:cs typeface="+mn-lt"/>
                        <a:sym typeface="Helvetica Neue" panose="020B0604020202020204"/>
                      </a:endParaRPr>
                    </a:p>
                  </a:txBody>
                  <a:tcPr marL="91450" marR="91450" marT="34300" marB="3430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ea typeface="Helvetica Neue" panose="020B0604020202020204"/>
                          <a:cs typeface="+mn-lt"/>
                          <a:sym typeface="Helvetica Neue" panose="020B0604020202020204"/>
                        </a:rPr>
                        <a:t>Data </a:t>
                      </a:r>
                      <a:r>
                        <a:rPr lang="en-GB" sz="1200">
                          <a:ea typeface="Helvetica Neue" panose="020B0604020202020204"/>
                          <a:cs typeface="+mn-lt"/>
                          <a:sym typeface="Helvetica Neue" panose="020B0604020202020204"/>
                        </a:rPr>
                        <a:t>Analysis, dashboard design</a:t>
                      </a:r>
                      <a:endParaRPr lang="en-GB" sz="1200" b="0" i="0">
                        <a:ea typeface="Helvetica Neue" panose="020B0604020202020204"/>
                        <a:cs typeface="+mn-lt"/>
                        <a:sym typeface="Helvetica Neue" panose="020B0604020202020204"/>
                      </a:endParaRPr>
                    </a:p>
                  </a:txBody>
                  <a:tcPr marL="91450" marR="91450" marT="34300" marB="3430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ea typeface="Helvetica Neue" panose="020B0604020202020204"/>
                          <a:cs typeface="+mn-lt"/>
                          <a:sym typeface="Helvetica Neue" panose="020B0604020202020204"/>
                        </a:rPr>
                        <a:t>Gained skills in identifying patterns, improving usability</a:t>
                      </a:r>
                      <a:endParaRPr lang="en-GB" sz="1200" b="0" i="0">
                        <a:ea typeface="Helvetica Neue" panose="020B0604020202020204"/>
                        <a:cs typeface="+mn-lt"/>
                        <a:sym typeface="Helvetica Neue" panose="020B0604020202020204"/>
                      </a:endParaRPr>
                    </a:p>
                  </a:txBody>
                  <a:tcPr marL="91450" marR="91450" marT="34300" marB="3430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0" lvl="0" indent="-635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/>
                        <a:buNone/>
                      </a:pPr>
                      <a:r>
                        <a:rPr lang="en-GB" sz="1200">
                          <a:ea typeface="Helvetica Neue" panose="020B0604020202020204"/>
                          <a:cs typeface="+mn-lt"/>
                          <a:sym typeface="Helvetica Neue" panose="020B0604020202020204"/>
                        </a:rPr>
                        <a:t> Advanced analytical expertise yet to be developed</a:t>
                      </a:r>
                      <a:endParaRPr lang="en-GB" sz="1200" b="0" i="0">
                        <a:ea typeface="Helvetica Neue" panose="020B0604020202020204"/>
                        <a:cs typeface="+mn-lt"/>
                        <a:sym typeface="Helvetica Neue" panose="020B0604020202020204"/>
                      </a:endParaRPr>
                    </a:p>
                  </a:txBody>
                  <a:tcPr marL="91450" marR="91450" marT="34300" marB="3430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ea typeface="Palatino" pitchFamily="2" charset="77"/>
              </a:rPr>
              <a:t>Work Done (after Mid-Term Evaluation)</a:t>
            </a:r>
            <a:endParaRPr lang="en-US" dirty="0"/>
          </a:p>
        </p:txBody>
      </p:sp>
      <p:sp>
        <p:nvSpPr>
          <p:cNvPr id="4" name="Content Placeholder 2"/>
          <p:cNvSpPr txBox="1"/>
          <p:nvPr/>
        </p:nvSpPr>
        <p:spPr bwMode="auto">
          <a:xfrm>
            <a:off x="77118" y="804231"/>
            <a:ext cx="8956714" cy="5794873"/>
          </a:xfrm>
          <a:prstGeom prst="rect">
            <a:avLst/>
          </a:prstGeom>
          <a:noFill/>
          <a:ln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  <a:defRPr kumimoji="1" sz="1800">
                <a:solidFill>
                  <a:schemeClr val="tx1"/>
                </a:solidFill>
                <a:latin typeface="Helvetica" panose="020B060402020202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  <a:defRPr kumimoji="1" sz="1600">
                <a:solidFill>
                  <a:schemeClr val="tx1"/>
                </a:solidFill>
                <a:latin typeface="Helvetica" panose="020B060402020202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 sz="1600">
                <a:solidFill>
                  <a:schemeClr val="tx1"/>
                </a:solidFill>
                <a:latin typeface="Helvetica" panose="020B060402020202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4287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1600">
                <a:solidFill>
                  <a:schemeClr val="tx1"/>
                </a:solidFill>
                <a:latin typeface="Helvetica" panose="020B060402020202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7716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9pPr>
          </a:lstStyle>
          <a:p>
            <a:pPr marL="357505" indent="-262255">
              <a:lnSpc>
                <a:spcPct val="170000"/>
              </a:lnSpc>
            </a:pPr>
            <a:r>
              <a:rPr lang="en-US" altLang="en-US" sz="1800" b="1" dirty="0">
                <a:ea typeface="Palatino" pitchFamily="2" charset="77"/>
              </a:rPr>
              <a:t>ASV Contribution:</a:t>
            </a:r>
            <a:r>
              <a:rPr lang="en-US" altLang="en-US" sz="1800" dirty="0">
                <a:ea typeface="Palatino" pitchFamily="2" charset="77"/>
              </a:rPr>
              <a:t> Supported analysis for autonomous surface vehicle data validation and prepared inputs for the ISRO/NRSC collaboration deck.</a:t>
            </a:r>
            <a:endParaRPr lang="en-US" altLang="en-US" sz="1800" dirty="0">
              <a:ea typeface="Palatino" pitchFamily="2" charset="77"/>
            </a:endParaRPr>
          </a:p>
          <a:p>
            <a:pPr marL="357505" indent="-262255">
              <a:lnSpc>
                <a:spcPct val="170000"/>
              </a:lnSpc>
            </a:pPr>
            <a:r>
              <a:rPr lang="en-US" altLang="en-US" sz="1800" b="1" dirty="0">
                <a:ea typeface="Palatino" pitchFamily="2" charset="77"/>
              </a:rPr>
              <a:t>Hospital Audit:</a:t>
            </a:r>
            <a:r>
              <a:rPr lang="en-US" altLang="en-US" sz="1800" dirty="0">
                <a:ea typeface="Palatino" pitchFamily="2" charset="77"/>
              </a:rPr>
              <a:t> Conducted a detailed block-wise water usage study for a major multispecialty hospital and identified key inefficiency points.</a:t>
            </a:r>
            <a:endParaRPr lang="en-US" altLang="en-US" sz="1800" dirty="0">
              <a:ea typeface="Palatino" pitchFamily="2" charset="77"/>
            </a:endParaRPr>
          </a:p>
          <a:p>
            <a:pPr marL="357505" indent="-262255">
              <a:lnSpc>
                <a:spcPct val="170000"/>
              </a:lnSpc>
            </a:pPr>
            <a:r>
              <a:rPr lang="en-US" altLang="en-US" sz="1800" b="1" dirty="0">
                <a:ea typeface="Palatino" pitchFamily="2" charset="77"/>
              </a:rPr>
              <a:t>Flowmeter Benchmarking:</a:t>
            </a:r>
            <a:r>
              <a:rPr lang="en-US" altLang="en-US" sz="1800" dirty="0">
                <a:ea typeface="Palatino" pitchFamily="2" charset="77"/>
              </a:rPr>
              <a:t> Expanded the comparison study by adding new technical, operational, and field parameters to improve meter selection decisions</a:t>
            </a:r>
            <a:endParaRPr lang="en-US" altLang="en-US" sz="1800" dirty="0">
              <a:ea typeface="Palatino" pitchFamily="2" charset="77"/>
            </a:endParaRPr>
          </a:p>
          <a:p>
            <a:pPr marL="357505" indent="-262255">
              <a:lnSpc>
                <a:spcPct val="170000"/>
              </a:lnSpc>
            </a:pPr>
            <a:r>
              <a:rPr lang="en-US" altLang="en-US" sz="1800" b="1" dirty="0">
                <a:ea typeface="Palatino" pitchFamily="2" charset="77"/>
              </a:rPr>
              <a:t>Offline Sync Flow:</a:t>
            </a:r>
            <a:r>
              <a:rPr lang="en-US" altLang="en-US" sz="1800" dirty="0">
                <a:ea typeface="Palatino" pitchFamily="2" charset="77"/>
              </a:rPr>
              <a:t> Designed the complete offline storage hierarchy and sync process to ensure zero data loss during connectivity failures.</a:t>
            </a:r>
            <a:endParaRPr lang="en-US" altLang="en-US" sz="1800" dirty="0">
              <a:ea typeface="Palatino" pitchFamily="2" charset="77"/>
            </a:endParaRPr>
          </a:p>
          <a:p>
            <a:pPr marL="357505" indent="-262255">
              <a:lnSpc>
                <a:spcPct val="170000"/>
              </a:lnSpc>
            </a:pPr>
            <a:r>
              <a:rPr lang="en-US" altLang="en-US" sz="1800" b="1" dirty="0">
                <a:ea typeface="Palatino" pitchFamily="2" charset="77"/>
              </a:rPr>
              <a:t>Leakage Detection Logic:</a:t>
            </a:r>
            <a:r>
              <a:rPr lang="en-US" altLang="en-US" sz="1800" dirty="0">
                <a:ea typeface="Palatino" pitchFamily="2" charset="77"/>
              </a:rPr>
              <a:t> Developed rule-based conditions and threshold patterns to detect abnormal flows and leakage signatures.</a:t>
            </a:r>
            <a:endParaRPr lang="en-US" altLang="en-US" sz="1800" dirty="0">
              <a:ea typeface="Palatino" pitchFamily="2" charset="77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sym typeface="+mn-ea"/>
              </a:rPr>
              <a:t>Product Design &amp; Development</a:t>
            </a:r>
            <a:endParaRPr lang="en-US" dirty="0"/>
          </a:p>
        </p:txBody>
      </p:sp>
      <p:sp>
        <p:nvSpPr>
          <p:cNvPr id="4" name="Content Placeholder 2"/>
          <p:cNvSpPr txBox="1"/>
          <p:nvPr/>
        </p:nvSpPr>
        <p:spPr bwMode="auto">
          <a:xfrm>
            <a:off x="76835" y="804545"/>
            <a:ext cx="8900160" cy="5795010"/>
          </a:xfrm>
          <a:prstGeom prst="rect">
            <a:avLst/>
          </a:prstGeom>
          <a:noFill/>
          <a:ln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  <a:defRPr kumimoji="1" sz="1800">
                <a:solidFill>
                  <a:schemeClr val="tx1"/>
                </a:solidFill>
                <a:latin typeface="Helvetica" panose="020B060402020202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  <a:defRPr kumimoji="1" sz="1600">
                <a:solidFill>
                  <a:schemeClr val="tx1"/>
                </a:solidFill>
                <a:latin typeface="Helvetica" panose="020B060402020202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 sz="1600">
                <a:solidFill>
                  <a:schemeClr val="tx1"/>
                </a:solidFill>
                <a:latin typeface="Helvetica" panose="020B060402020202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4287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1600">
                <a:solidFill>
                  <a:schemeClr val="tx1"/>
                </a:solidFill>
                <a:latin typeface="Helvetica" panose="020B060402020202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7716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9pPr>
          </a:lstStyle>
          <a:p>
            <a:pPr marL="381000" indent="-285750"/>
            <a:r>
              <a:rPr lang="en-US" altLang="en-US" b="1" dirty="0">
                <a:ea typeface="Palatino" pitchFamily="2" charset="77"/>
              </a:rPr>
              <a:t>System Understanding: </a:t>
            </a:r>
            <a:r>
              <a:rPr lang="en-US" altLang="en-US" dirty="0">
                <a:ea typeface="Palatino" pitchFamily="2" charset="77"/>
              </a:rPr>
              <a:t>Mapped how industrial flowmeters, gateways, and cloud components interact within the water-monitoring setup.</a:t>
            </a:r>
            <a:endParaRPr lang="en-US" altLang="en-US" b="1" dirty="0">
              <a:ea typeface="Palatino" pitchFamily="2" charset="77"/>
            </a:endParaRPr>
          </a:p>
          <a:p>
            <a:pPr marL="381000" indent="-285750"/>
            <a:r>
              <a:rPr lang="en-US" altLang="en-US" b="1" dirty="0">
                <a:ea typeface="Palatino" pitchFamily="2" charset="77"/>
              </a:rPr>
              <a:t>Data Workflow Design: </a:t>
            </a:r>
            <a:r>
              <a:rPr lang="en-US" altLang="en-US" dirty="0">
                <a:ea typeface="Palatino" pitchFamily="2" charset="77"/>
              </a:rPr>
              <a:t>Structured the complete data path</a:t>
            </a:r>
            <a:r>
              <a:rPr lang="en-GB" altLang="en-US" dirty="0">
                <a:ea typeface="Palatino" pitchFamily="2" charset="77"/>
              </a:rPr>
              <a:t>, </a:t>
            </a:r>
            <a:r>
              <a:rPr lang="en-US" altLang="en-US" dirty="0">
                <a:ea typeface="Palatino" pitchFamily="2" charset="77"/>
              </a:rPr>
              <a:t>from meter readings to preprocessing, validation, aggregation, and reporting.</a:t>
            </a:r>
            <a:endParaRPr lang="en-US" altLang="en-US" dirty="0">
              <a:ea typeface="Palatino" pitchFamily="2" charset="77"/>
            </a:endParaRPr>
          </a:p>
          <a:p>
            <a:pPr marL="381000" indent="-285750"/>
            <a:r>
              <a:rPr lang="en-US" altLang="en-US" b="1" dirty="0">
                <a:ea typeface="Palatino" pitchFamily="2" charset="77"/>
              </a:rPr>
              <a:t>Offline Functionality: </a:t>
            </a:r>
            <a:r>
              <a:rPr lang="en-US" altLang="en-US" dirty="0">
                <a:ea typeface="Palatino" pitchFamily="2" charset="77"/>
              </a:rPr>
              <a:t>Designed a reliable offline buffering mechanism and a state-machine sync protocol to prevent data loss during outages.</a:t>
            </a:r>
            <a:endParaRPr lang="en-US" altLang="en-US" b="1" dirty="0">
              <a:ea typeface="Palatino" pitchFamily="2" charset="77"/>
            </a:endParaRPr>
          </a:p>
          <a:p>
            <a:pPr marL="381000" indent="-285750"/>
            <a:r>
              <a:rPr lang="en-US" altLang="en-US" b="1" dirty="0">
                <a:ea typeface="Palatino" pitchFamily="2" charset="77"/>
              </a:rPr>
              <a:t>Leakage Detection Logic: </a:t>
            </a:r>
            <a:r>
              <a:rPr lang="en-US" altLang="en-US" dirty="0">
                <a:ea typeface="Palatino" pitchFamily="2" charset="77"/>
              </a:rPr>
              <a:t>Built a rule-based detection framework using temporal thresholds to flag abnormal continuous flow patterns.</a:t>
            </a:r>
            <a:endParaRPr lang="en-US" altLang="en-US" dirty="0">
              <a:ea typeface="Palatino" pitchFamily="2" charset="77"/>
            </a:endParaRPr>
          </a:p>
          <a:p>
            <a:pPr marL="381000" indent="-285750"/>
            <a:r>
              <a:rPr lang="en-US" altLang="en-US" b="1" dirty="0">
                <a:ea typeface="Palatino" pitchFamily="2" charset="77"/>
              </a:rPr>
              <a:t>Flowmeter Benchmarking: </a:t>
            </a:r>
            <a:r>
              <a:rPr lang="en-US" altLang="en-US" dirty="0">
                <a:ea typeface="Palatino" pitchFamily="2" charset="77"/>
              </a:rPr>
              <a:t>Evaluated multiple meter types across accuracy, stability, installation constraints, and field performance.</a:t>
            </a:r>
            <a:endParaRPr lang="en-US" altLang="en-US" dirty="0">
              <a:ea typeface="Palatino" pitchFamily="2" charset="77"/>
            </a:endParaRPr>
          </a:p>
          <a:p>
            <a:pPr marL="381000" indent="-285750"/>
            <a:r>
              <a:rPr lang="en-US" altLang="en-US" b="1" dirty="0">
                <a:ea typeface="Palatino" pitchFamily="2" charset="77"/>
              </a:rPr>
              <a:t>Feature Development: </a:t>
            </a:r>
            <a:r>
              <a:rPr lang="en-US" altLang="en-US" dirty="0">
                <a:ea typeface="Palatino" pitchFamily="2" charset="77"/>
              </a:rPr>
              <a:t>Contributed to volumetric savings calculations, KPI definitions, and alert/notification flows for dashboard improvement.</a:t>
            </a:r>
            <a:endParaRPr lang="en-US" altLang="en-US" dirty="0">
              <a:ea typeface="Palatino" pitchFamily="2" charset="77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sym typeface="+mn-ea"/>
              </a:rPr>
              <a:t>Product Design &amp; Development</a:t>
            </a:r>
            <a:r>
              <a:rPr lang="en-IN" sz="2400" dirty="0">
                <a:ea typeface="Palatino" pitchFamily="2" charset="77"/>
              </a:rPr>
              <a:t> </a:t>
            </a:r>
            <a:r>
              <a:rPr lang="en-IN" sz="2400" b="0" dirty="0">
                <a:ea typeface="Palatino" pitchFamily="2" charset="77"/>
              </a:rPr>
              <a:t>(</a:t>
            </a:r>
            <a:r>
              <a:rPr lang="en-IN" sz="2400" b="0" dirty="0" err="1">
                <a:ea typeface="Palatino" pitchFamily="2" charset="77"/>
              </a:rPr>
              <a:t>cont</a:t>
            </a:r>
            <a:r>
              <a:rPr lang="en-IN" sz="2400" b="0" dirty="0">
                <a:ea typeface="Palatino" pitchFamily="2" charset="77"/>
              </a:rPr>
              <a:t>…)</a:t>
            </a:r>
            <a:endParaRPr lang="en-US" b="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rcRect l="6091" t="10700" r="13732" b="17539"/>
          <a:stretch>
            <a:fillRect/>
          </a:stretch>
        </p:blipFill>
        <p:spPr>
          <a:xfrm>
            <a:off x="929640" y="1448435"/>
            <a:ext cx="7218680" cy="4131945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1937385" y="5803265"/>
            <a:ext cx="5287645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95250" indent="0" algn="ctr">
              <a:buNone/>
            </a:pPr>
            <a:r>
              <a:rPr lang="en-US" sz="1600" dirty="0">
                <a:latin typeface="+mn-lt"/>
                <a:cs typeface="+mn-lt"/>
                <a:sym typeface="+mn-ea"/>
              </a:rPr>
              <a:t>End-to-End Water Intelligence Architecture</a:t>
            </a:r>
            <a:endParaRPr lang="en-US" sz="1600" dirty="0">
              <a:latin typeface="+mn-lt"/>
              <a:cs typeface="+mn-lt"/>
              <a:sym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sym typeface="+mn-ea"/>
              </a:rPr>
              <a:t>Product Design &amp; Development</a:t>
            </a:r>
            <a:r>
              <a:rPr lang="en-IN" sz="2400" dirty="0">
                <a:ea typeface="Palatino" pitchFamily="2" charset="77"/>
              </a:rPr>
              <a:t> </a:t>
            </a:r>
            <a:r>
              <a:rPr lang="en-IN" sz="2400" b="0" dirty="0">
                <a:ea typeface="Palatino" pitchFamily="2" charset="77"/>
              </a:rPr>
              <a:t>(</a:t>
            </a:r>
            <a:r>
              <a:rPr lang="en-IN" sz="2400" b="0" dirty="0" err="1">
                <a:ea typeface="Palatino" pitchFamily="2" charset="77"/>
              </a:rPr>
              <a:t>cont</a:t>
            </a:r>
            <a:r>
              <a:rPr lang="en-IN" sz="2400" b="0" dirty="0">
                <a:ea typeface="Palatino" pitchFamily="2" charset="77"/>
              </a:rPr>
              <a:t>…)</a:t>
            </a:r>
            <a:endParaRPr lang="en-US" b="0" dirty="0"/>
          </a:p>
        </p:txBody>
      </p:sp>
      <p:sp>
        <p:nvSpPr>
          <p:cNvPr id="4" name="Content Placeholder 2"/>
          <p:cNvSpPr txBox="1"/>
          <p:nvPr/>
        </p:nvSpPr>
        <p:spPr bwMode="auto">
          <a:xfrm>
            <a:off x="76835" y="804545"/>
            <a:ext cx="8662035" cy="5795010"/>
          </a:xfrm>
          <a:prstGeom prst="rect">
            <a:avLst/>
          </a:prstGeom>
          <a:noFill/>
          <a:ln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marL="342900" indent="-3429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  <a:defRPr kumimoji="1" sz="1800">
                <a:solidFill>
                  <a:schemeClr val="tx1"/>
                </a:solidFill>
                <a:latin typeface="Helvetica" panose="020B060402020202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  <a:defRPr kumimoji="1" sz="1600">
                <a:solidFill>
                  <a:schemeClr val="tx1"/>
                </a:solidFill>
                <a:latin typeface="Helvetica" panose="020B060402020202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 sz="1600">
                <a:solidFill>
                  <a:schemeClr val="tx1"/>
                </a:solidFill>
                <a:latin typeface="Helvetica" panose="020B060402020202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4287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1600">
                <a:solidFill>
                  <a:schemeClr val="tx1"/>
                </a:solidFill>
                <a:latin typeface="Helvetica" panose="020B060402020202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7716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9pPr>
          </a:lstStyle>
          <a:p>
            <a:pPr marL="95250" indent="0">
              <a:buNone/>
            </a:pPr>
            <a:endParaRPr lang="en-GB" altLang="en-IN" sz="2000" b="1" dirty="0">
              <a:ea typeface="Palatino" pitchFamily="2" charset="77"/>
            </a:endParaRPr>
          </a:p>
          <a:p>
            <a:pPr marL="95250" indent="0">
              <a:buNone/>
            </a:pPr>
            <a:endParaRPr lang="en-GB" altLang="en-IN" sz="2000" b="1" dirty="0">
              <a:ea typeface="Palatino" pitchFamily="2" charset="77"/>
            </a:endParaRPr>
          </a:p>
          <a:p>
            <a:pPr marL="95250" indent="0">
              <a:buNone/>
            </a:pPr>
            <a:endParaRPr lang="en-GB" altLang="en-IN" sz="2000" b="1" dirty="0">
              <a:ea typeface="Palatino" pitchFamily="2" charset="77"/>
            </a:endParaRPr>
          </a:p>
          <a:p>
            <a:pPr marL="95250" indent="0">
              <a:buNone/>
            </a:pPr>
            <a:endParaRPr lang="en-GB" altLang="en-IN" sz="2000" b="1" dirty="0">
              <a:ea typeface="Palatino" pitchFamily="2" charset="77"/>
            </a:endParaRPr>
          </a:p>
          <a:p>
            <a:pPr marL="95250" indent="0">
              <a:buNone/>
            </a:pPr>
            <a:endParaRPr lang="en-GB" altLang="en-IN" sz="2000" b="1" dirty="0">
              <a:ea typeface="Palatino" pitchFamily="2" charset="77"/>
            </a:endParaRPr>
          </a:p>
          <a:p>
            <a:pPr marL="95250" indent="0">
              <a:buNone/>
            </a:pPr>
            <a:endParaRPr lang="en-GB" altLang="en-IN" sz="2000" b="1" dirty="0">
              <a:ea typeface="Palatino" pitchFamily="2" charset="77"/>
            </a:endParaRPr>
          </a:p>
          <a:p>
            <a:pPr marL="95250" indent="0">
              <a:buNone/>
            </a:pPr>
            <a:endParaRPr lang="en-GB" altLang="en-IN" sz="2000" b="1" dirty="0">
              <a:ea typeface="Palatino" pitchFamily="2" charset="77"/>
            </a:endParaRPr>
          </a:p>
          <a:p>
            <a:pPr marL="95250" indent="0">
              <a:buNone/>
            </a:pPr>
            <a:endParaRPr lang="en-GB" altLang="en-IN" sz="2000" b="1" dirty="0">
              <a:ea typeface="Palatino" pitchFamily="2" charset="77"/>
            </a:endParaRPr>
          </a:p>
          <a:p>
            <a:pPr marL="95250" indent="0">
              <a:buNone/>
            </a:pPr>
            <a:endParaRPr lang="en-GB" altLang="en-IN" sz="2000" b="1" dirty="0">
              <a:ea typeface="Palatino" pitchFamily="2" charset="77"/>
            </a:endParaRPr>
          </a:p>
          <a:p>
            <a:pPr marL="95250" indent="0">
              <a:buNone/>
            </a:pPr>
            <a:r>
              <a:rPr lang="en-GB" altLang="en-IN" sz="1600" dirty="0">
                <a:ea typeface="Palatino" pitchFamily="2" charset="77"/>
              </a:rPr>
              <a:t>    </a:t>
            </a:r>
            <a:endParaRPr lang="en-GB" altLang="en-IN" sz="1600" dirty="0">
              <a:ea typeface="Palatino" pitchFamily="2" charset="77"/>
            </a:endParaRPr>
          </a:p>
          <a:p>
            <a:pPr marL="95250" indent="0">
              <a:buNone/>
            </a:pPr>
            <a:r>
              <a:rPr lang="en-GB" altLang="en-IN" sz="1600" dirty="0">
                <a:ea typeface="Palatino" pitchFamily="2" charset="77"/>
              </a:rPr>
              <a:t>  </a:t>
            </a:r>
            <a:endParaRPr lang="en-GB" altLang="en-IN" sz="1600" dirty="0">
              <a:ea typeface="Palatino" pitchFamily="2" charset="77"/>
            </a:endParaRPr>
          </a:p>
          <a:p>
            <a:pPr marL="95250" indent="0">
              <a:buNone/>
            </a:pPr>
            <a:r>
              <a:rPr lang="en-GB" altLang="en-IN" sz="1600" dirty="0">
                <a:ea typeface="Palatino" pitchFamily="2" charset="77"/>
              </a:rPr>
              <a:t>  </a:t>
            </a:r>
            <a:endParaRPr lang="en-GB" altLang="en-IN" sz="1600" dirty="0">
              <a:ea typeface="Palatino" pitchFamily="2" charset="77"/>
            </a:endParaRPr>
          </a:p>
          <a:p>
            <a:pPr marL="95250" indent="0">
              <a:lnSpc>
                <a:spcPct val="110000"/>
              </a:lnSpc>
              <a:buNone/>
            </a:pPr>
            <a:r>
              <a:rPr lang="en-GB" altLang="en-IN" sz="1600" b="1" dirty="0">
                <a:ea typeface="Palatino" pitchFamily="2" charset="77"/>
              </a:rPr>
              <a:t>           </a:t>
            </a:r>
            <a:r>
              <a:rPr lang="en-GB" altLang="en-IN" sz="1600" b="1" dirty="0">
                <a:ea typeface="Palatino" pitchFamily="2" charset="77"/>
                <a:sym typeface="+mn-ea"/>
              </a:rPr>
              <a:t>Offline data-sync Flow Diagram               Leakage detection Flow diagram</a:t>
            </a:r>
            <a:endParaRPr lang="en-GB" altLang="en-IN" sz="1600" b="1" dirty="0">
              <a:ea typeface="Palatino" pitchFamily="2" charset="77"/>
            </a:endParaRPr>
          </a:p>
          <a:p>
            <a:pPr marL="95250" indent="0">
              <a:buNone/>
            </a:pPr>
            <a:endParaRPr lang="en-GB" altLang="en-IN" sz="1600" dirty="0">
              <a:ea typeface="Palatino" pitchFamily="2" charset="77"/>
            </a:endParaRPr>
          </a:p>
          <a:p>
            <a:pPr marL="95250" indent="0">
              <a:buNone/>
            </a:pPr>
            <a:r>
              <a:rPr lang="en-GB" altLang="en-IN" sz="1600" dirty="0">
                <a:ea typeface="Palatino" pitchFamily="2" charset="77"/>
              </a:rPr>
              <a:t>    </a:t>
            </a:r>
            <a:endParaRPr lang="en-GB" altLang="en-IN" sz="1600" dirty="0">
              <a:ea typeface="Palatino" pitchFamily="2" charset="77"/>
            </a:endParaRPr>
          </a:p>
        </p:txBody>
      </p:sp>
      <p:pic>
        <p:nvPicPr>
          <p:cNvPr id="5" name="Picture 4" descr="flow-sync.drawi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765" y="831215"/>
            <a:ext cx="3395345" cy="537527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9155" y="946785"/>
            <a:ext cx="3597275" cy="525970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>
                <a:ea typeface="Palatino" pitchFamily="2" charset="77"/>
              </a:rPr>
              <a:t>Tools, Technologies and Languages</a:t>
            </a:r>
            <a:endParaRPr lang="en-US" b="0" dirty="0"/>
          </a:p>
        </p:txBody>
      </p:sp>
      <p:sp>
        <p:nvSpPr>
          <p:cNvPr id="4" name="Content Placeholder 2"/>
          <p:cNvSpPr txBox="1"/>
          <p:nvPr/>
        </p:nvSpPr>
        <p:spPr bwMode="auto">
          <a:xfrm>
            <a:off x="77118" y="804231"/>
            <a:ext cx="8956714" cy="5794873"/>
          </a:xfrm>
          <a:prstGeom prst="rect">
            <a:avLst/>
          </a:prstGeom>
          <a:noFill/>
          <a:ln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  <a:defRPr kumimoji="1" sz="1800">
                <a:solidFill>
                  <a:schemeClr val="tx1"/>
                </a:solidFill>
                <a:latin typeface="Helvetica" panose="020B060402020202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  <a:defRPr kumimoji="1" sz="1600">
                <a:solidFill>
                  <a:schemeClr val="tx1"/>
                </a:solidFill>
                <a:latin typeface="Helvetica" panose="020B060402020202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 sz="1600">
                <a:solidFill>
                  <a:schemeClr val="tx1"/>
                </a:solidFill>
                <a:latin typeface="Helvetica" panose="020B060402020202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4287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1600">
                <a:solidFill>
                  <a:schemeClr val="tx1"/>
                </a:solidFill>
                <a:latin typeface="Helvetica" panose="020B060402020202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7716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9pPr>
          </a:lstStyle>
          <a:p>
            <a:pPr marL="357505" indent="-262255">
              <a:lnSpc>
                <a:spcPct val="190000"/>
              </a:lnSpc>
            </a:pPr>
            <a:r>
              <a:rPr lang="en-US" altLang="en-US" sz="1800" b="1" dirty="0">
                <a:ea typeface="Palatino" pitchFamily="2" charset="77"/>
              </a:rPr>
              <a:t>Hardware &amp; IoT</a:t>
            </a:r>
            <a:r>
              <a:rPr lang="en-GB" altLang="en-US" sz="1800" b="1" dirty="0">
                <a:ea typeface="Palatino" pitchFamily="2" charset="77"/>
              </a:rPr>
              <a:t>: </a:t>
            </a:r>
            <a:r>
              <a:rPr lang="en-US" altLang="en-US" sz="1800" dirty="0">
                <a:ea typeface="Palatino" pitchFamily="2" charset="77"/>
              </a:rPr>
              <a:t>AquaGen devices, industrial flow/pressure sensors (LPM), IoT gateways, LoRaWAN/NB-IoT modules, field diagnostic tools.</a:t>
            </a:r>
            <a:endParaRPr lang="en-US" altLang="en-US" sz="1800" dirty="0">
              <a:ea typeface="Palatino" pitchFamily="2" charset="77"/>
            </a:endParaRPr>
          </a:p>
          <a:p>
            <a:pPr marL="357505" indent="-262255">
              <a:lnSpc>
                <a:spcPct val="190000"/>
              </a:lnSpc>
            </a:pPr>
            <a:r>
              <a:rPr lang="en-US" altLang="en-US" sz="1800" b="1" dirty="0">
                <a:ea typeface="Palatino" pitchFamily="2" charset="77"/>
              </a:rPr>
              <a:t>Data Analysis:</a:t>
            </a:r>
            <a:r>
              <a:rPr lang="en-US" altLang="en-US" sz="1800" dirty="0">
                <a:ea typeface="Palatino" pitchFamily="2" charset="77"/>
              </a:rPr>
              <a:t> Excel, Google Sheets, and internal dashboards</a:t>
            </a:r>
            <a:r>
              <a:rPr lang="en-GB" altLang="en-US" sz="1800" dirty="0">
                <a:ea typeface="Palatino" pitchFamily="2" charset="77"/>
              </a:rPr>
              <a:t>.</a:t>
            </a:r>
            <a:endParaRPr lang="en-GB" altLang="en-US" sz="1800" dirty="0">
              <a:ea typeface="Palatino" pitchFamily="2" charset="77"/>
            </a:endParaRPr>
          </a:p>
          <a:p>
            <a:pPr marL="357505" indent="-262255">
              <a:lnSpc>
                <a:spcPct val="190000"/>
              </a:lnSpc>
            </a:pPr>
            <a:r>
              <a:rPr lang="en-US" altLang="en-US" sz="1800" b="1" dirty="0">
                <a:ea typeface="Palatino" pitchFamily="2" charset="77"/>
              </a:rPr>
              <a:t>Logic &amp; Design:</a:t>
            </a:r>
            <a:r>
              <a:rPr lang="en-US" altLang="en-US" sz="1800" dirty="0">
                <a:ea typeface="Palatino" pitchFamily="2" charset="77"/>
              </a:rPr>
              <a:t> </a:t>
            </a:r>
            <a:r>
              <a:rPr lang="en-GB" altLang="en-US" sz="1800" dirty="0">
                <a:ea typeface="Palatino" pitchFamily="2" charset="77"/>
              </a:rPr>
              <a:t>Lucidchart, Excalidraw, Draw.io and Notion for </a:t>
            </a:r>
            <a:r>
              <a:rPr lang="en-US" altLang="en-US" sz="1800" dirty="0">
                <a:ea typeface="Palatino" pitchFamily="2" charset="77"/>
              </a:rPr>
              <a:t>State-machine modelling, pseudo-code design, and rule-based logic formulation.</a:t>
            </a:r>
            <a:endParaRPr lang="en-US" altLang="en-US" sz="1800" dirty="0">
              <a:ea typeface="Palatino" pitchFamily="2" charset="77"/>
            </a:endParaRPr>
          </a:p>
          <a:p>
            <a:pPr marL="357505" indent="-262255">
              <a:lnSpc>
                <a:spcPct val="190000"/>
              </a:lnSpc>
            </a:pPr>
            <a:r>
              <a:rPr lang="en-US" altLang="en-US" sz="1800" b="1" dirty="0">
                <a:ea typeface="Palatino" pitchFamily="2" charset="77"/>
              </a:rPr>
              <a:t>Dashboard:</a:t>
            </a:r>
            <a:r>
              <a:rPr lang="en-US" altLang="en-US" sz="1800" dirty="0">
                <a:ea typeface="Palatino" pitchFamily="2" charset="77"/>
              </a:rPr>
              <a:t> </a:t>
            </a:r>
            <a:r>
              <a:rPr lang="en-GB" altLang="en-US" sz="1800" dirty="0">
                <a:ea typeface="Palatino" pitchFamily="2" charset="77"/>
              </a:rPr>
              <a:t>Figma, FigJam and Miro for wireframes and UI Mockups</a:t>
            </a:r>
            <a:endParaRPr lang="en-US" altLang="en-US" sz="1800" dirty="0">
              <a:ea typeface="Palatino" pitchFamily="2" charset="77"/>
            </a:endParaRPr>
          </a:p>
          <a:p>
            <a:pPr marL="357505" indent="-262255">
              <a:lnSpc>
                <a:spcPct val="190000"/>
              </a:lnSpc>
            </a:pPr>
            <a:r>
              <a:rPr lang="en-US" altLang="en-US" sz="1800" b="1" dirty="0">
                <a:ea typeface="Palatino" pitchFamily="2" charset="77"/>
              </a:rPr>
              <a:t>Cloud:</a:t>
            </a:r>
            <a:r>
              <a:rPr lang="en-US" altLang="en-US" sz="1800" dirty="0">
                <a:ea typeface="Palatino" pitchFamily="2" charset="77"/>
              </a:rPr>
              <a:t> Azure IoT Hub, backend data pipelines for validation, aggregation &amp; event logic.</a:t>
            </a:r>
            <a:endParaRPr lang="en-US" altLang="en-US" sz="1800" dirty="0">
              <a:ea typeface="Palatino" pitchFamily="2" charset="77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>
                <a:ea typeface="Palatino" pitchFamily="2" charset="77"/>
              </a:rPr>
              <a:t>Tools, Technologies and Languages</a:t>
            </a:r>
            <a:r>
              <a:rPr lang="en-GB" altLang="en-IN" sz="2400" b="0" dirty="0">
                <a:ea typeface="Palatino" pitchFamily="2" charset="77"/>
              </a:rPr>
              <a:t> (cont...)</a:t>
            </a:r>
            <a:endParaRPr lang="en-GB" altLang="en-IN" sz="2400" b="0" dirty="0">
              <a:ea typeface="Palatino" pitchFamily="2" charset="77"/>
            </a:endParaRPr>
          </a:p>
        </p:txBody>
      </p:sp>
      <p:sp>
        <p:nvSpPr>
          <p:cNvPr id="4" name="Content Placeholder 2"/>
          <p:cNvSpPr txBox="1"/>
          <p:nvPr/>
        </p:nvSpPr>
        <p:spPr bwMode="auto">
          <a:xfrm>
            <a:off x="77118" y="804231"/>
            <a:ext cx="8956714" cy="5794873"/>
          </a:xfrm>
          <a:prstGeom prst="rect">
            <a:avLst/>
          </a:prstGeom>
          <a:noFill/>
          <a:ln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  <a:defRPr kumimoji="1" sz="1800">
                <a:solidFill>
                  <a:schemeClr val="tx1"/>
                </a:solidFill>
                <a:latin typeface="Helvetica" panose="020B060402020202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  <a:defRPr kumimoji="1" sz="1600">
                <a:solidFill>
                  <a:schemeClr val="tx1"/>
                </a:solidFill>
                <a:latin typeface="Helvetica" panose="020B060402020202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 sz="1600">
                <a:solidFill>
                  <a:schemeClr val="tx1"/>
                </a:solidFill>
                <a:latin typeface="Helvetica" panose="020B060402020202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4287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1600">
                <a:solidFill>
                  <a:schemeClr val="tx1"/>
                </a:solidFill>
                <a:latin typeface="Helvetica" panose="020B060402020202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7716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9pPr>
          </a:lstStyle>
          <a:p>
            <a:pPr marL="357505" indent="-262255">
              <a:lnSpc>
                <a:spcPct val="190000"/>
              </a:lnSpc>
            </a:pPr>
            <a:r>
              <a:rPr lang="en-US" altLang="en-US" sz="1800" b="1" dirty="0">
                <a:ea typeface="Palatino" pitchFamily="2" charset="77"/>
              </a:rPr>
              <a:t>Documentation:</a:t>
            </a:r>
            <a:r>
              <a:rPr lang="en-US" altLang="en-US" sz="1800" dirty="0">
                <a:ea typeface="Palatino" pitchFamily="2" charset="77"/>
              </a:rPr>
              <a:t> Google Docs, Confluence-style structured </a:t>
            </a:r>
            <a:r>
              <a:rPr lang="en-GB" altLang="en-US" sz="1800" dirty="0">
                <a:ea typeface="Palatino" pitchFamily="2" charset="77"/>
              </a:rPr>
              <a:t>documents</a:t>
            </a:r>
            <a:r>
              <a:rPr lang="en-US" altLang="en-US" sz="1800" dirty="0">
                <a:ea typeface="Palatino" pitchFamily="2" charset="77"/>
              </a:rPr>
              <a:t> for PRDs</a:t>
            </a:r>
            <a:r>
              <a:rPr lang="en-GB" altLang="en-US" sz="1800" dirty="0">
                <a:ea typeface="Palatino" pitchFamily="2" charset="77"/>
              </a:rPr>
              <a:t> and</a:t>
            </a:r>
            <a:r>
              <a:rPr lang="en-US" altLang="en-US" sz="1800" dirty="0">
                <a:ea typeface="Palatino" pitchFamily="2" charset="77"/>
              </a:rPr>
              <a:t> user stories.</a:t>
            </a:r>
            <a:endParaRPr lang="en-US" altLang="en-US" sz="1800" dirty="0">
              <a:ea typeface="Palatino" pitchFamily="2" charset="77"/>
            </a:endParaRPr>
          </a:p>
          <a:p>
            <a:pPr marL="357505" indent="-262255">
              <a:lnSpc>
                <a:spcPct val="190000"/>
              </a:lnSpc>
            </a:pPr>
            <a:r>
              <a:rPr lang="en-US" altLang="en-US" sz="1800" b="1" dirty="0">
                <a:ea typeface="Palatino" pitchFamily="2" charset="77"/>
              </a:rPr>
              <a:t>Presentation:</a:t>
            </a:r>
            <a:r>
              <a:rPr lang="en-US" altLang="en-US" sz="1800" dirty="0">
                <a:ea typeface="Palatino" pitchFamily="2" charset="77"/>
              </a:rPr>
              <a:t> Google Slides / PowerPoint for product flows, client insights, and the ISRO/NRSC collaboration deck.</a:t>
            </a:r>
            <a:endParaRPr lang="en-US" altLang="en-US" sz="1800" dirty="0">
              <a:ea typeface="Palatino" pitchFamily="2" charset="77"/>
            </a:endParaRPr>
          </a:p>
          <a:p>
            <a:pPr marL="357505" indent="-262255">
              <a:lnSpc>
                <a:spcPct val="190000"/>
              </a:lnSpc>
            </a:pPr>
            <a:r>
              <a:rPr lang="en-US" altLang="en-US" sz="1800" b="1" dirty="0">
                <a:ea typeface="Palatino" pitchFamily="2" charset="77"/>
              </a:rPr>
              <a:t>Project Management:</a:t>
            </a:r>
            <a:r>
              <a:rPr lang="en-US" altLang="en-US" sz="1800" dirty="0">
                <a:ea typeface="Palatino" pitchFamily="2" charset="77"/>
              </a:rPr>
              <a:t> Jira / Agile workflows for task tracking</a:t>
            </a:r>
            <a:endParaRPr lang="en-US" altLang="en-US" sz="1800" dirty="0">
              <a:ea typeface="Palatino" pitchFamily="2" charset="77"/>
            </a:endParaRPr>
          </a:p>
          <a:p>
            <a:pPr marL="357505" indent="-262255">
              <a:lnSpc>
                <a:spcPct val="190000"/>
              </a:lnSpc>
            </a:pPr>
            <a:r>
              <a:rPr lang="en-US" altLang="en-US" sz="1800" b="1" dirty="0">
                <a:ea typeface="Palatino" pitchFamily="2" charset="77"/>
              </a:rPr>
              <a:t>Communication &amp; Collaboration:</a:t>
            </a:r>
            <a:r>
              <a:rPr lang="en-US" altLang="en-US" sz="1800" dirty="0">
                <a:ea typeface="Palatino" pitchFamily="2" charset="77"/>
              </a:rPr>
              <a:t> Slack, Email, and internal client call tools</a:t>
            </a:r>
            <a:r>
              <a:rPr lang="en-GB" altLang="en-US" sz="1800" dirty="0">
                <a:ea typeface="Palatino" pitchFamily="2" charset="77"/>
              </a:rPr>
              <a:t>.</a:t>
            </a:r>
            <a:endParaRPr lang="en-GB" altLang="en-US" sz="1800" dirty="0">
              <a:ea typeface="Palatino" pitchFamily="2" charset="77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Data Sources </a:t>
            </a:r>
            <a:r>
              <a:rPr lang="en-GB" altLang="en-US" dirty="0"/>
              <a:t>and</a:t>
            </a:r>
            <a:r>
              <a:rPr lang="en-US" altLang="en-US" dirty="0"/>
              <a:t> Field Inputs</a:t>
            </a:r>
            <a:endParaRPr lang="en-US" altLang="en-US" dirty="0"/>
          </a:p>
        </p:txBody>
      </p:sp>
      <p:sp>
        <p:nvSpPr>
          <p:cNvPr id="4" name="Content Placeholder 2"/>
          <p:cNvSpPr txBox="1"/>
          <p:nvPr/>
        </p:nvSpPr>
        <p:spPr bwMode="auto">
          <a:xfrm>
            <a:off x="77118" y="804231"/>
            <a:ext cx="8956714" cy="5794873"/>
          </a:xfrm>
          <a:prstGeom prst="rect">
            <a:avLst/>
          </a:prstGeom>
          <a:noFill/>
          <a:ln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  <a:defRPr kumimoji="1" sz="1800">
                <a:solidFill>
                  <a:schemeClr val="tx1"/>
                </a:solidFill>
                <a:latin typeface="Helvetica" panose="020B060402020202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  <a:defRPr kumimoji="1" sz="1600">
                <a:solidFill>
                  <a:schemeClr val="tx1"/>
                </a:solidFill>
                <a:latin typeface="Helvetica" panose="020B060402020202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 sz="1600">
                <a:solidFill>
                  <a:schemeClr val="tx1"/>
                </a:solidFill>
                <a:latin typeface="Helvetica" panose="020B060402020202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4287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1600">
                <a:solidFill>
                  <a:schemeClr val="tx1"/>
                </a:solidFill>
                <a:latin typeface="Helvetica" panose="020B060402020202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7716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9pPr>
          </a:lstStyle>
          <a:p>
            <a:pPr marL="357505" indent="-262255"/>
            <a:r>
              <a:rPr lang="en-US" altLang="en-US" sz="1800" b="1" dirty="0">
                <a:ea typeface="Palatino" pitchFamily="2" charset="77"/>
              </a:rPr>
              <a:t>Industrial Flow Data:</a:t>
            </a:r>
            <a:r>
              <a:rPr lang="en-US" altLang="en-US" sz="1800" dirty="0">
                <a:ea typeface="Palatino" pitchFamily="2" charset="77"/>
              </a:rPr>
              <a:t> Continuous readings from flowmeters installed across multiple industrial facilities.</a:t>
            </a:r>
            <a:endParaRPr lang="en-US" altLang="en-US" sz="1800" dirty="0">
              <a:ea typeface="Palatino" pitchFamily="2" charset="77"/>
            </a:endParaRPr>
          </a:p>
          <a:p>
            <a:pPr marL="357505" indent="-262255"/>
            <a:r>
              <a:rPr lang="en-US" altLang="en-US" sz="1800" b="1" dirty="0">
                <a:ea typeface="Palatino" pitchFamily="2" charset="77"/>
              </a:rPr>
              <a:t>Gateway Logs:</a:t>
            </a:r>
            <a:r>
              <a:rPr lang="en-US" altLang="en-US" sz="1800" dirty="0">
                <a:ea typeface="Palatino" pitchFamily="2" charset="77"/>
              </a:rPr>
              <a:t> Preprocessed values, timestamps, and event markers generated at the edge.</a:t>
            </a:r>
            <a:endParaRPr lang="en-US" altLang="en-US" sz="1800" dirty="0">
              <a:ea typeface="Palatino" pitchFamily="2" charset="77"/>
            </a:endParaRPr>
          </a:p>
          <a:p>
            <a:pPr marL="357505" indent="-262255"/>
            <a:r>
              <a:rPr lang="en-US" altLang="en-US" sz="1800" b="1" dirty="0">
                <a:ea typeface="Palatino" pitchFamily="2" charset="77"/>
              </a:rPr>
              <a:t>Audit Records:</a:t>
            </a:r>
            <a:r>
              <a:rPr lang="en-US" altLang="en-US" sz="1800" dirty="0">
                <a:ea typeface="Palatino" pitchFamily="2" charset="77"/>
              </a:rPr>
              <a:t> On-site observations, block-wise consumption logs, and operational insights from facility visits.</a:t>
            </a:r>
            <a:endParaRPr lang="en-US" altLang="en-US" sz="1800" dirty="0">
              <a:ea typeface="Palatino" pitchFamily="2" charset="77"/>
            </a:endParaRPr>
          </a:p>
          <a:p>
            <a:pPr marL="357505" indent="-262255"/>
            <a:r>
              <a:rPr lang="en-US" altLang="en-US" sz="1800" b="1" dirty="0">
                <a:ea typeface="Palatino" pitchFamily="2" charset="77"/>
              </a:rPr>
              <a:t>Historical Usage Data: </a:t>
            </a:r>
            <a:r>
              <a:rPr lang="en-US" altLang="en-US" sz="1800" dirty="0">
                <a:ea typeface="Palatino" pitchFamily="2" charset="77"/>
              </a:rPr>
              <a:t>Daily and monthly usage reports provided by client teams for trend validation.</a:t>
            </a:r>
            <a:endParaRPr lang="en-US" altLang="en-US" sz="1800" dirty="0">
              <a:ea typeface="Palatino" pitchFamily="2" charset="77"/>
            </a:endParaRPr>
          </a:p>
          <a:p>
            <a:pPr marL="357505" indent="-262255"/>
            <a:r>
              <a:rPr lang="en-US" altLang="en-US" sz="1800" b="1" dirty="0">
                <a:ea typeface="Palatino" pitchFamily="2" charset="77"/>
              </a:rPr>
              <a:t>Anomaly Patterns:</a:t>
            </a:r>
            <a:r>
              <a:rPr lang="en-US" altLang="en-US" sz="1800" dirty="0">
                <a:ea typeface="Palatino" pitchFamily="2" charset="77"/>
              </a:rPr>
              <a:t> Field-observed flow behaviors used to model leakage thresholds and rule logic.</a:t>
            </a:r>
            <a:endParaRPr lang="en-US" altLang="en-US" sz="1800" dirty="0">
              <a:ea typeface="Palatino" pitchFamily="2" charset="77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>
                <a:ea typeface="Palatino" pitchFamily="2" charset="77"/>
              </a:rPr>
              <a:t>Implementation</a:t>
            </a:r>
            <a:endParaRPr lang="en-US" dirty="0"/>
          </a:p>
        </p:txBody>
      </p:sp>
      <p:sp>
        <p:nvSpPr>
          <p:cNvPr id="4" name="Content Placeholder 2"/>
          <p:cNvSpPr txBox="1"/>
          <p:nvPr/>
        </p:nvSpPr>
        <p:spPr bwMode="auto">
          <a:xfrm>
            <a:off x="77118" y="804231"/>
            <a:ext cx="8956714" cy="5794873"/>
          </a:xfrm>
          <a:prstGeom prst="rect">
            <a:avLst/>
          </a:prstGeom>
          <a:noFill/>
          <a:ln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  <a:defRPr kumimoji="1" sz="1800">
                <a:solidFill>
                  <a:schemeClr val="tx1"/>
                </a:solidFill>
                <a:latin typeface="Helvetica" panose="020B060402020202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  <a:defRPr kumimoji="1" sz="1600">
                <a:solidFill>
                  <a:schemeClr val="tx1"/>
                </a:solidFill>
                <a:latin typeface="Helvetica" panose="020B060402020202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 sz="1600">
                <a:solidFill>
                  <a:schemeClr val="tx1"/>
                </a:solidFill>
                <a:latin typeface="Helvetica" panose="020B060402020202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4287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1600">
                <a:solidFill>
                  <a:schemeClr val="tx1"/>
                </a:solidFill>
                <a:latin typeface="Helvetica" panose="020B060402020202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7716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9pPr>
          </a:lstStyle>
          <a:p>
            <a:pPr marL="357505" indent="-262255"/>
            <a:r>
              <a:rPr lang="en-US" altLang="en-US" sz="1800" b="1" dirty="0">
                <a:ea typeface="Palatino" pitchFamily="2" charset="77"/>
              </a:rPr>
              <a:t>Requirement Structuring: </a:t>
            </a:r>
            <a:r>
              <a:rPr lang="en-US" altLang="en-US" sz="1800" dirty="0">
                <a:ea typeface="Palatino" pitchFamily="2" charset="77"/>
              </a:rPr>
              <a:t>Converted client needs and audit findings into actionable workflows using structured documentation tools (Docs, Sheets).</a:t>
            </a:r>
            <a:endParaRPr lang="en-US" altLang="en-US" sz="1800" dirty="0">
              <a:ea typeface="Palatino" pitchFamily="2" charset="77"/>
            </a:endParaRPr>
          </a:p>
          <a:p>
            <a:pPr marL="357505" indent="-262255"/>
            <a:r>
              <a:rPr lang="en-US" altLang="en-US" sz="1800" b="1" dirty="0">
                <a:ea typeface="Palatino" pitchFamily="2" charset="77"/>
              </a:rPr>
              <a:t>Logic Development:</a:t>
            </a:r>
            <a:r>
              <a:rPr lang="en-US" altLang="en-US" sz="1800" dirty="0">
                <a:ea typeface="Palatino" pitchFamily="2" charset="77"/>
              </a:rPr>
              <a:t> Designed pseudo-code, decision flows, and threshold rules for offline buffering, leakage alerts, and savings metrics </a:t>
            </a:r>
            <a:r>
              <a:rPr lang="en-GB" altLang="en-US" sz="1800" dirty="0">
                <a:ea typeface="Palatino" pitchFamily="2" charset="77"/>
              </a:rPr>
              <a:t>.</a:t>
            </a:r>
            <a:endParaRPr lang="en-GB" altLang="en-US" sz="1800" dirty="0">
              <a:ea typeface="Palatino" pitchFamily="2" charset="77"/>
            </a:endParaRPr>
          </a:p>
          <a:p>
            <a:pPr marL="357505" indent="-262255"/>
            <a:r>
              <a:rPr lang="en-US" altLang="en-US" sz="1800" b="1" dirty="0">
                <a:ea typeface="Palatino" pitchFamily="2" charset="77"/>
              </a:rPr>
              <a:t>Data Handling Process:</a:t>
            </a:r>
            <a:r>
              <a:rPr lang="en-US" altLang="en-US" sz="1800" dirty="0">
                <a:ea typeface="Palatino" pitchFamily="2" charset="77"/>
              </a:rPr>
              <a:t>  </a:t>
            </a:r>
            <a:r>
              <a:rPr lang="en-GB" altLang="en-US" sz="1800" dirty="0">
                <a:ea typeface="Palatino" pitchFamily="2" charset="77"/>
              </a:rPr>
              <a:t>V</a:t>
            </a:r>
            <a:r>
              <a:rPr lang="en-US" altLang="en-US" sz="1800" dirty="0">
                <a:ea typeface="Palatino" pitchFamily="2" charset="77"/>
              </a:rPr>
              <a:t>alidate readings</a:t>
            </a:r>
            <a:r>
              <a:rPr lang="en-GB" altLang="en-US" sz="1800" dirty="0">
                <a:ea typeface="Palatino" pitchFamily="2" charset="77"/>
              </a:rPr>
              <a:t> </a:t>
            </a:r>
            <a:r>
              <a:rPr lang="en-GB" altLang="en-US" dirty="0">
                <a:ea typeface="Palatino" pitchFamily="2" charset="77"/>
                <a:sym typeface="+mn-ea"/>
              </a:rPr>
              <a:t>using </a:t>
            </a:r>
            <a:r>
              <a:rPr lang="en-US" altLang="en-US" dirty="0">
                <a:ea typeface="Palatino" pitchFamily="2" charset="77"/>
                <a:sym typeface="+mn-ea"/>
              </a:rPr>
              <a:t>internal dashboards</a:t>
            </a:r>
            <a:r>
              <a:rPr lang="en-US" altLang="en-US" sz="1800" dirty="0">
                <a:ea typeface="Palatino" pitchFamily="2" charset="77"/>
              </a:rPr>
              <a:t>,</a:t>
            </a:r>
            <a:r>
              <a:rPr lang="en-GB" altLang="en-US" sz="1800" dirty="0">
                <a:ea typeface="Palatino" pitchFamily="2" charset="77"/>
              </a:rPr>
              <a:t> and</a:t>
            </a:r>
            <a:r>
              <a:rPr lang="en-US" altLang="en-US" sz="1800" dirty="0">
                <a:ea typeface="Palatino" pitchFamily="2" charset="77"/>
              </a:rPr>
              <a:t> test rule behaviour, and verify data transitions across offline → sync → cloud stages.</a:t>
            </a:r>
            <a:endParaRPr lang="en-US" altLang="en-US" sz="1800" dirty="0">
              <a:ea typeface="Palatino" pitchFamily="2" charset="77"/>
            </a:endParaRPr>
          </a:p>
          <a:p>
            <a:pPr marL="357505" indent="-262255"/>
            <a:r>
              <a:rPr lang="en-US" altLang="en-US" sz="1800" b="1" dirty="0">
                <a:ea typeface="Palatino" pitchFamily="2" charset="77"/>
              </a:rPr>
              <a:t>Cross-Functional Execution:</a:t>
            </a:r>
            <a:r>
              <a:rPr lang="en-US" altLang="en-US" sz="1800" dirty="0">
                <a:ea typeface="Palatino" pitchFamily="2" charset="77"/>
              </a:rPr>
              <a:t> Worked with</a:t>
            </a:r>
            <a:r>
              <a:rPr lang="en-GB" altLang="en-US" sz="1800" dirty="0">
                <a:ea typeface="Palatino" pitchFamily="2" charset="77"/>
              </a:rPr>
              <a:t> </a:t>
            </a:r>
            <a:r>
              <a:rPr lang="en-US" altLang="en-US" sz="1800" dirty="0">
                <a:ea typeface="Palatino" pitchFamily="2" charset="77"/>
              </a:rPr>
              <a:t>teams to align logic with gateway behaviour, sync states, and backend pipelines </a:t>
            </a:r>
            <a:r>
              <a:rPr lang="en-GB" altLang="en-US" sz="1800" dirty="0">
                <a:ea typeface="Palatino" pitchFamily="2" charset="77"/>
              </a:rPr>
              <a:t>.</a:t>
            </a:r>
            <a:endParaRPr lang="en-GB" altLang="en-US" sz="1800" dirty="0">
              <a:ea typeface="Palatino" pitchFamily="2" charset="77"/>
            </a:endParaRPr>
          </a:p>
          <a:p>
            <a:pPr marL="357505" indent="-262255"/>
            <a:r>
              <a:rPr lang="en-US" altLang="en-US" sz="1800" b="1" dirty="0">
                <a:ea typeface="Palatino" pitchFamily="2" charset="77"/>
              </a:rPr>
              <a:t>Deliverable Preparation:</a:t>
            </a:r>
            <a:r>
              <a:rPr lang="en-US" altLang="en-US" sz="1800" dirty="0">
                <a:ea typeface="Palatino" pitchFamily="2" charset="77"/>
              </a:rPr>
              <a:t> Created PRDs, comparison matrices, sync specifications, and process diagrams to support the technical implementation</a:t>
            </a:r>
            <a:r>
              <a:rPr lang="en-GB" altLang="en-US" sz="1800" dirty="0">
                <a:ea typeface="Palatino" pitchFamily="2" charset="77"/>
              </a:rPr>
              <a:t>.</a:t>
            </a:r>
            <a:endParaRPr lang="en-GB" altLang="en-US" sz="1800" dirty="0">
              <a:ea typeface="Palatino" pitchFamily="2" charset="77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p>
            <a:r>
              <a:rPr lang="en-IN" dirty="0">
                <a:ea typeface="Palatino" pitchFamily="2" charset="77"/>
                <a:sym typeface="+mn-ea"/>
              </a:rPr>
              <a:t>Implementation</a:t>
            </a:r>
            <a:endParaRPr lang="en-US"/>
          </a:p>
        </p:txBody>
      </p:sp>
      <p:pic>
        <p:nvPicPr>
          <p:cNvPr id="7" name="Content Placeholder 6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07060" y="944880"/>
            <a:ext cx="7505700" cy="4310380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2179320" y="5391785"/>
            <a:ext cx="4572000" cy="414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lnSpc>
                <a:spcPct val="150000"/>
              </a:lnSpc>
            </a:pPr>
            <a:r>
              <a:rPr lang="en-IN" sz="1400" dirty="0">
                <a:latin typeface="+mn-lt"/>
                <a:sym typeface="+mn-ea"/>
              </a:rPr>
              <a:t>AquaGen Demo - User Dashboard</a:t>
            </a:r>
            <a:endParaRPr lang="en-IN" sz="1400" dirty="0">
              <a:latin typeface="+mn-lt"/>
              <a:sym typeface="+mn-e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p>
            <a:r>
              <a:rPr lang="en-IN" dirty="0">
                <a:ea typeface="Palatino" pitchFamily="2" charset="77"/>
                <a:sym typeface="+mn-ea"/>
              </a:rPr>
              <a:t>Experimental Results and Evaluati</a:t>
            </a:r>
            <a:r>
              <a:rPr lang="en-GB" altLang="en-IN" dirty="0">
                <a:ea typeface="Palatino" pitchFamily="2" charset="77"/>
                <a:sym typeface="+mn-ea"/>
              </a:rPr>
              <a:t>on</a:t>
            </a:r>
            <a:endParaRPr lang="en-GB" altLang="en-IN" dirty="0">
              <a:ea typeface="Palatino" pitchFamily="2" charset="77"/>
              <a:sym typeface="+mn-ea"/>
            </a:endParaRPr>
          </a:p>
        </p:txBody>
      </p:sp>
      <p:sp>
        <p:nvSpPr>
          <p:cNvPr id="3" name="Content Placeholder 2"/>
          <p:cNvSpPr>
            <a:spLocks noGrp="1" noChangeArrowheads="1"/>
          </p:cNvSpPr>
          <p:nvPr>
            <p:ph idx="1"/>
          </p:nvPr>
        </p:nvSpPr>
        <p:spPr/>
        <p:txBody>
          <a:bodyPr/>
          <a:p>
            <a:pPr marL="0" indent="0" algn="l">
              <a:buNone/>
            </a:pPr>
            <a:r>
              <a:rPr lang="en-US" b="1" dirty="0">
                <a:sym typeface="+mn-ea"/>
              </a:rPr>
              <a:t>Comparison (Before vs After)</a:t>
            </a:r>
            <a:endParaRPr lang="en-US" b="1" dirty="0"/>
          </a:p>
          <a:p>
            <a:pPr marL="0" indent="0" algn="l">
              <a:buNone/>
            </a:pPr>
            <a:r>
              <a:rPr lang="en-US" b="1" dirty="0">
                <a:sym typeface="+mn-ea"/>
              </a:rPr>
              <a:t>Before:</a:t>
            </a:r>
            <a:br>
              <a:rPr lang="en-US" dirty="0">
                <a:sym typeface="+mn-ea"/>
              </a:rPr>
            </a:br>
            <a:r>
              <a:rPr lang="en-US" dirty="0">
                <a:sym typeface="+mn-ea"/>
              </a:rPr>
              <a:t>Manual logging, no early leak detection, poor visibility, slow audits.</a:t>
            </a:r>
            <a:br>
              <a:rPr lang="en-US" dirty="0">
                <a:sym typeface="+mn-ea"/>
              </a:rPr>
            </a:br>
            <a:r>
              <a:rPr lang="en-US" b="1" dirty="0">
                <a:sym typeface="+mn-ea"/>
              </a:rPr>
              <a:t>After:</a:t>
            </a:r>
            <a:br>
              <a:rPr lang="en-US" dirty="0">
                <a:sym typeface="+mn-ea"/>
              </a:rPr>
            </a:br>
            <a:r>
              <a:rPr lang="en-US" dirty="0">
                <a:sym typeface="+mn-ea"/>
              </a:rPr>
              <a:t>AI alerts, real-time dashboards, automated reporting, measurable savings.</a:t>
            </a:r>
            <a:endParaRPr lang="en-US" dirty="0"/>
          </a:p>
          <a:p>
            <a:pPr marL="0" indent="0" algn="l">
              <a:buNone/>
            </a:pPr>
            <a:endParaRPr lang="en-US" dirty="0"/>
          </a:p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18692" y="3066479"/>
            <a:ext cx="5772647" cy="3081016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951865" y="6225540"/>
            <a:ext cx="6955155" cy="3613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sz="1500" dirty="0">
                <a:latin typeface="+mn-lt"/>
                <a:cs typeface="+mn-lt"/>
                <a:sym typeface="+mn-ea"/>
              </a:rPr>
              <a:t>Comparison (Before vs After)</a:t>
            </a:r>
            <a:endParaRPr lang="en-US" sz="1500" dirty="0">
              <a:latin typeface="+mn-lt"/>
              <a:cs typeface="+mn-lt"/>
            </a:endParaRPr>
          </a:p>
          <a:p>
            <a:pPr algn="ctr"/>
            <a:endParaRPr lang="en-US" sz="1500">
              <a:latin typeface="+mn-lt"/>
              <a:cs typeface="+mn-l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sym typeface="+mn-ea"/>
              </a:rPr>
              <a:t>Client Engagement and Business Analysis</a:t>
            </a:r>
            <a:endParaRPr lang="en-US" dirty="0"/>
          </a:p>
        </p:txBody>
      </p:sp>
      <p:sp>
        <p:nvSpPr>
          <p:cNvPr id="4" name="Content Placeholder 2"/>
          <p:cNvSpPr txBox="1"/>
          <p:nvPr/>
        </p:nvSpPr>
        <p:spPr bwMode="auto">
          <a:xfrm>
            <a:off x="77118" y="804231"/>
            <a:ext cx="8956714" cy="5794873"/>
          </a:xfrm>
          <a:prstGeom prst="rect">
            <a:avLst/>
          </a:prstGeom>
          <a:noFill/>
          <a:ln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  <a:defRPr kumimoji="1" sz="1800">
                <a:solidFill>
                  <a:schemeClr val="tx1"/>
                </a:solidFill>
                <a:latin typeface="Helvetica" panose="020B060402020202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  <a:defRPr kumimoji="1" sz="1600">
                <a:solidFill>
                  <a:schemeClr val="tx1"/>
                </a:solidFill>
                <a:latin typeface="Helvetica" panose="020B060402020202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 sz="1600">
                <a:solidFill>
                  <a:schemeClr val="tx1"/>
                </a:solidFill>
                <a:latin typeface="Helvetica" panose="020B060402020202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4287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1600">
                <a:solidFill>
                  <a:schemeClr val="tx1"/>
                </a:solidFill>
                <a:latin typeface="Helvetica" panose="020B060402020202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7716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9pPr>
          </a:lstStyle>
          <a:p>
            <a:pPr marL="357505" indent="-262255"/>
            <a:r>
              <a:rPr lang="en-US" altLang="en-US" sz="1800" b="1" dirty="0">
                <a:ea typeface="Palatino" pitchFamily="2" charset="77"/>
              </a:rPr>
              <a:t>Water Efficiency Impact:</a:t>
            </a:r>
            <a:r>
              <a:rPr lang="en-US" altLang="en-US" sz="1800" dirty="0">
                <a:ea typeface="Palatino" pitchFamily="2" charset="77"/>
              </a:rPr>
              <a:t> Helped multiple industrial clients monitor usage patterns and supported them in achieving targeted reductions in overall water consumption.</a:t>
            </a:r>
            <a:endParaRPr lang="en-US" altLang="en-US" sz="1800" dirty="0">
              <a:ea typeface="Palatino" pitchFamily="2" charset="77"/>
            </a:endParaRPr>
          </a:p>
          <a:p>
            <a:pPr marL="357505" indent="-262255"/>
            <a:r>
              <a:rPr lang="en-US" altLang="en-US" sz="1800" b="1" dirty="0">
                <a:ea typeface="Palatino" pitchFamily="2" charset="77"/>
              </a:rPr>
              <a:t>Operational Insights:</a:t>
            </a:r>
            <a:r>
              <a:rPr lang="en-US" altLang="en-US" sz="1800" dirty="0">
                <a:ea typeface="Palatino" pitchFamily="2" charset="77"/>
              </a:rPr>
              <a:t> Identified high-consumption zones, inefficiencies, and anomalies through block-wise and trend analysis, enabling data-driven decision-making.</a:t>
            </a:r>
            <a:endParaRPr lang="en-US" altLang="en-US" sz="1800" dirty="0">
              <a:ea typeface="Palatino" pitchFamily="2" charset="77"/>
            </a:endParaRPr>
          </a:p>
          <a:p>
            <a:pPr marL="357505" indent="-262255"/>
            <a:r>
              <a:rPr lang="en-US" altLang="en-US" sz="1800" b="1" dirty="0">
                <a:ea typeface="Palatino" pitchFamily="2" charset="77"/>
              </a:rPr>
              <a:t>Usage Optimization:</a:t>
            </a:r>
            <a:r>
              <a:rPr lang="en-US" altLang="en-US" sz="1800" dirty="0">
                <a:ea typeface="Palatino" pitchFamily="2" charset="77"/>
              </a:rPr>
              <a:t> Supported clients in defining appropriate daily/monthly limits and KPI thresholds, improving the visibility and control of their water operations.</a:t>
            </a:r>
            <a:endParaRPr lang="en-US" altLang="en-US" sz="1800" dirty="0">
              <a:ea typeface="Palatino" pitchFamily="2" charset="77"/>
            </a:endParaRPr>
          </a:p>
          <a:p>
            <a:pPr marL="357505" indent="-262255"/>
            <a:r>
              <a:rPr lang="en-US" altLang="en-US" sz="1800" b="1" dirty="0">
                <a:ea typeface="Palatino" pitchFamily="2" charset="77"/>
              </a:rPr>
              <a:t>Performance Reporting:</a:t>
            </a:r>
            <a:r>
              <a:rPr lang="en-US" altLang="en-US" sz="1800" dirty="0">
                <a:ea typeface="Palatino" pitchFamily="2" charset="77"/>
              </a:rPr>
              <a:t> Delivered clear summaries highlighting savings opportunities, abnormal flow behaviours, and corrective actions for on-ground teams.</a:t>
            </a:r>
            <a:endParaRPr lang="en-US" altLang="en-US" sz="1800" dirty="0">
              <a:ea typeface="Palatino" pitchFamily="2" charset="77"/>
            </a:endParaRPr>
          </a:p>
          <a:p>
            <a:pPr marL="357505" indent="-262255"/>
            <a:r>
              <a:rPr lang="en-US" altLang="en-US" sz="1800" b="1" dirty="0">
                <a:ea typeface="Palatino" pitchFamily="2" charset="77"/>
              </a:rPr>
              <a:t>Improved Monitoring Practices:</a:t>
            </a:r>
            <a:r>
              <a:rPr lang="en-US" altLang="en-US" sz="1800" dirty="0">
                <a:ea typeface="Palatino" pitchFamily="2" charset="77"/>
              </a:rPr>
              <a:t> Enabled clients to adopt structured tracking methods through refined dashboards, alerts, and periodic analysis updates.</a:t>
            </a:r>
            <a:endParaRPr lang="en-US" altLang="en-US" sz="1800" dirty="0">
              <a:ea typeface="Palatino" pitchFamily="2" charset="77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>
                <a:ea typeface="Palatino" pitchFamily="2" charset="77"/>
              </a:rPr>
              <a:t>Key Learnings</a:t>
            </a:r>
            <a:endParaRPr lang="en-US" dirty="0"/>
          </a:p>
        </p:txBody>
      </p:sp>
      <p:sp>
        <p:nvSpPr>
          <p:cNvPr id="4" name="Content Placeholder 2"/>
          <p:cNvSpPr txBox="1"/>
          <p:nvPr/>
        </p:nvSpPr>
        <p:spPr bwMode="auto">
          <a:xfrm>
            <a:off x="77118" y="804231"/>
            <a:ext cx="8956714" cy="5794873"/>
          </a:xfrm>
          <a:prstGeom prst="rect">
            <a:avLst/>
          </a:prstGeom>
          <a:noFill/>
          <a:ln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  <a:defRPr kumimoji="1" sz="1800">
                <a:solidFill>
                  <a:schemeClr val="tx1"/>
                </a:solidFill>
                <a:latin typeface="Helvetica" panose="020B060402020202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  <a:defRPr kumimoji="1" sz="1600">
                <a:solidFill>
                  <a:schemeClr val="tx1"/>
                </a:solidFill>
                <a:latin typeface="Helvetica" panose="020B060402020202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 sz="1600">
                <a:solidFill>
                  <a:schemeClr val="tx1"/>
                </a:solidFill>
                <a:latin typeface="Helvetica" panose="020B060402020202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4287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1600">
                <a:solidFill>
                  <a:schemeClr val="tx1"/>
                </a:solidFill>
                <a:latin typeface="Helvetica" panose="020B060402020202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7716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9pPr>
          </a:lstStyle>
          <a:p>
            <a:pPr marL="357505" indent="-262255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800" b="1" dirty="0">
                <a:ea typeface="Palatino" pitchFamily="2" charset="77"/>
              </a:rPr>
              <a:t>Product Management:</a:t>
            </a:r>
            <a:r>
              <a:rPr lang="en-US" altLang="en-US" sz="1800" dirty="0">
                <a:ea typeface="Palatino" pitchFamily="2" charset="77"/>
              </a:rPr>
              <a:t> </a:t>
            </a:r>
            <a:r>
              <a:rPr lang="en-GB" altLang="en-US" sz="1800" dirty="0">
                <a:ea typeface="Palatino" pitchFamily="2" charset="77"/>
              </a:rPr>
              <a:t>D</a:t>
            </a:r>
            <a:r>
              <a:rPr lang="en-US" altLang="en-US" sz="1800" dirty="0">
                <a:ea typeface="Palatino" pitchFamily="2" charset="77"/>
              </a:rPr>
              <a:t>efining requirements, structuring feature logic, and aligning product decisions with client needs and business goals.</a:t>
            </a:r>
            <a:endParaRPr lang="en-US" altLang="en-US" sz="1800" dirty="0">
              <a:ea typeface="Palatino" pitchFamily="2" charset="77"/>
            </a:endParaRPr>
          </a:p>
          <a:p>
            <a:pPr marL="357505" indent="-262255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800" b="1" dirty="0">
                <a:ea typeface="Palatino" pitchFamily="2" charset="77"/>
              </a:rPr>
              <a:t>Data &amp; Technical Design:</a:t>
            </a:r>
            <a:r>
              <a:rPr lang="en-US" altLang="en-US" sz="1800" dirty="0">
                <a:ea typeface="Palatino" pitchFamily="2" charset="77"/>
              </a:rPr>
              <a:t> </a:t>
            </a:r>
            <a:r>
              <a:rPr lang="en-GB" altLang="en-US" sz="1800" dirty="0">
                <a:ea typeface="Palatino" pitchFamily="2" charset="77"/>
              </a:rPr>
              <a:t>D</a:t>
            </a:r>
            <a:r>
              <a:rPr lang="en-US" altLang="en-US" sz="1800" dirty="0">
                <a:ea typeface="Palatino" pitchFamily="2" charset="77"/>
              </a:rPr>
              <a:t>esign</a:t>
            </a:r>
            <a:r>
              <a:rPr lang="en-GB" altLang="en-US" sz="1800" dirty="0">
                <a:ea typeface="Palatino" pitchFamily="2" charset="77"/>
              </a:rPr>
              <a:t>ing</a:t>
            </a:r>
            <a:r>
              <a:rPr lang="en-US" altLang="en-US" sz="1800" dirty="0">
                <a:ea typeface="Palatino" pitchFamily="2" charset="77"/>
              </a:rPr>
              <a:t> data flows, state-machine logic, and write pseudo-code-level specifications for reliable offline sync and rule engines.</a:t>
            </a:r>
            <a:endParaRPr lang="en-US" altLang="en-US" sz="1800" dirty="0">
              <a:ea typeface="Palatino" pitchFamily="2" charset="77"/>
            </a:endParaRPr>
          </a:p>
          <a:p>
            <a:pPr marL="357505" indent="-262255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800" b="1" dirty="0">
                <a:ea typeface="Palatino" pitchFamily="2" charset="77"/>
              </a:rPr>
              <a:t>IoT Understanding:</a:t>
            </a:r>
            <a:r>
              <a:rPr lang="en-US" altLang="en-US" sz="1800" dirty="0">
                <a:ea typeface="Palatino" pitchFamily="2" charset="77"/>
              </a:rPr>
              <a:t> Gained exposure to flowmeters, gateways, connectivity issues, and offline device behavior.</a:t>
            </a:r>
            <a:endParaRPr lang="en-US" altLang="en-US" sz="1800" dirty="0">
              <a:ea typeface="Palatino" pitchFamily="2" charset="77"/>
            </a:endParaRPr>
          </a:p>
          <a:p>
            <a:pPr marL="357505" indent="-262255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800" b="1" dirty="0">
                <a:ea typeface="Palatino" pitchFamily="2" charset="77"/>
              </a:rPr>
              <a:t>Data-Driven Analysis:</a:t>
            </a:r>
            <a:r>
              <a:rPr lang="en-US" altLang="en-US" sz="1800" dirty="0">
                <a:ea typeface="Palatino" pitchFamily="2" charset="77"/>
              </a:rPr>
              <a:t> Convert</a:t>
            </a:r>
            <a:r>
              <a:rPr lang="en-GB" altLang="en-US" sz="1800" dirty="0">
                <a:ea typeface="Palatino" pitchFamily="2" charset="77"/>
              </a:rPr>
              <a:t>ng</a:t>
            </a:r>
            <a:r>
              <a:rPr lang="en-US" altLang="en-US" sz="1800" dirty="0">
                <a:ea typeface="Palatino" pitchFamily="2" charset="77"/>
              </a:rPr>
              <a:t> complex flow data and field observations into clear insights, metrics, and actionable recommendations.</a:t>
            </a:r>
            <a:endParaRPr lang="en-US" altLang="en-US" sz="1800" dirty="0">
              <a:ea typeface="Palatino" pitchFamily="2" charset="77"/>
            </a:endParaRPr>
          </a:p>
          <a:p>
            <a:pPr marL="357505" indent="-262255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800" b="1" dirty="0">
                <a:ea typeface="Palatino" pitchFamily="2" charset="77"/>
              </a:rPr>
              <a:t>Communication &amp; Collaboration:</a:t>
            </a:r>
            <a:r>
              <a:rPr lang="en-US" altLang="en-US" sz="1800" dirty="0">
                <a:ea typeface="Palatino" pitchFamily="2" charset="77"/>
              </a:rPr>
              <a:t> </a:t>
            </a:r>
            <a:r>
              <a:rPr lang="en-GB" altLang="en-US" sz="1800" dirty="0">
                <a:ea typeface="Palatino" pitchFamily="2" charset="77"/>
              </a:rPr>
              <a:t>S</a:t>
            </a:r>
            <a:r>
              <a:rPr lang="en-US" altLang="en-US" sz="1800" dirty="0">
                <a:ea typeface="Palatino" pitchFamily="2" charset="77"/>
              </a:rPr>
              <a:t>takeholder interactions and cross-functional work with engineering and field teams to validate and deliver features.</a:t>
            </a:r>
            <a:endParaRPr lang="en-US" altLang="en-US" sz="1800" dirty="0">
              <a:ea typeface="Palatino" pitchFamily="2" charset="77"/>
            </a:endParaRPr>
          </a:p>
          <a:p>
            <a:pPr marL="357505" indent="-262255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800" b="1" dirty="0">
                <a:ea typeface="Palatino" pitchFamily="2" charset="77"/>
              </a:rPr>
              <a:t>Professional Growth:</a:t>
            </a:r>
            <a:r>
              <a:rPr lang="en-US" altLang="en-US" sz="1800" dirty="0">
                <a:ea typeface="Palatino" pitchFamily="2" charset="77"/>
              </a:rPr>
              <a:t> Enhanced documentation, research, and problem-solving skills while contributing to real industrial deployments.</a:t>
            </a:r>
            <a:endParaRPr lang="en-US" altLang="en-US" sz="1800" dirty="0">
              <a:ea typeface="Palatino" pitchFamily="2" charset="77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ea typeface="Palatino" pitchFamily="2" charset="77"/>
              </a:rPr>
              <a:t>Work Contribution and Attendance</a:t>
            </a:r>
            <a:endParaRPr lang="en-US" b="0" dirty="0"/>
          </a:p>
        </p:txBody>
      </p:sp>
      <p:sp>
        <p:nvSpPr>
          <p:cNvPr id="4" name="Content Placeholder 2"/>
          <p:cNvSpPr txBox="1"/>
          <p:nvPr/>
        </p:nvSpPr>
        <p:spPr bwMode="auto">
          <a:xfrm>
            <a:off x="77118" y="804231"/>
            <a:ext cx="8956714" cy="5172419"/>
          </a:xfrm>
          <a:prstGeom prst="rect">
            <a:avLst/>
          </a:prstGeom>
          <a:noFill/>
          <a:ln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  <a:defRPr kumimoji="1" sz="1800">
                <a:solidFill>
                  <a:schemeClr val="tx1"/>
                </a:solidFill>
                <a:latin typeface="Helvetica" panose="020B060402020202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  <a:defRPr kumimoji="1" sz="1600">
                <a:solidFill>
                  <a:schemeClr val="tx1"/>
                </a:solidFill>
                <a:latin typeface="Helvetica" panose="020B060402020202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 sz="1600">
                <a:solidFill>
                  <a:schemeClr val="tx1"/>
                </a:solidFill>
                <a:latin typeface="Helvetica" panose="020B060402020202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4287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1600">
                <a:solidFill>
                  <a:schemeClr val="tx1"/>
                </a:solidFill>
                <a:latin typeface="Helvetica" panose="020B060402020202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7716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9pPr>
          </a:lstStyle>
          <a:p>
            <a:pPr marL="95250" indent="0">
              <a:buNone/>
            </a:pPr>
            <a:endParaRPr lang="en-IN" sz="1800" dirty="0">
              <a:ea typeface="Palatino" pitchFamily="2" charset="77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09855" y="881380"/>
          <a:ext cx="8977630" cy="570484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800735"/>
                <a:gridCol w="1023620"/>
                <a:gridCol w="5268595"/>
                <a:gridCol w="1003935"/>
                <a:gridCol w="880745"/>
              </a:tblGrid>
              <a:tr h="325120">
                <a:tc gridSpan="5">
                  <a:txBody>
                    <a:bodyPr/>
                    <a:lstStyle/>
                    <a:p>
                      <a:pPr algn="l"/>
                      <a:r>
                        <a:rPr lang="en-US" sz="1300" b="1" i="0" dirty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rPr>
                        <a:t>GitHub Repository URL: </a:t>
                      </a:r>
                      <a:r>
                        <a:rPr lang="en-US" altLang="en-US" sz="1300" b="1" i="0" dirty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rPr>
                        <a:t>https://github.com/saurav2208/MP_IG21.git</a:t>
                      </a:r>
                      <a:endParaRPr lang="en-US" altLang="en-US" sz="1300" b="1" i="0" dirty="0">
                        <a:solidFill>
                          <a:schemeClr val="tx1"/>
                        </a:solidFill>
                        <a:latin typeface="Helvetica" panose="020B0604020202020204" pitchFamily="34" charset="0"/>
                      </a:endParaRPr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 hMerge="1"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 hMerge="1"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 hMerge="1"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 hMerge="1"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rPr>
                        <a:t>Team Member</a:t>
                      </a:r>
                      <a:endParaRPr lang="en-US" sz="1300" b="0" i="0" dirty="0">
                        <a:solidFill>
                          <a:schemeClr val="tx1"/>
                        </a:solidFill>
                        <a:latin typeface="Helvetica" panose="020B0604020202020204" pitchFamily="34" charset="0"/>
                      </a:endParaRPr>
                    </a:p>
                  </a:txBody>
                  <a:tcPr anchor="ctr" anchorCtr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rPr>
                        <a:t>Roll No.</a:t>
                      </a:r>
                      <a:endParaRPr lang="en-US" sz="1300" b="0" i="0" dirty="0">
                        <a:solidFill>
                          <a:schemeClr val="tx1"/>
                        </a:solidFill>
                        <a:latin typeface="Helvetica" panose="020B0604020202020204" pitchFamily="34" charset="0"/>
                      </a:endParaRPr>
                    </a:p>
                  </a:txBody>
                  <a:tcPr anchor="ctr" anchorCtr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rPr>
                        <a:t>Work Done</a:t>
                      </a:r>
                      <a:endParaRPr lang="en-US" sz="1300" b="0" i="0" dirty="0">
                        <a:solidFill>
                          <a:schemeClr val="tx1"/>
                        </a:solidFill>
                        <a:latin typeface="Helvetica" panose="020B0604020202020204" pitchFamily="34" charset="0"/>
                      </a:endParaRPr>
                    </a:p>
                    <a:p>
                      <a:pPr algn="ctr"/>
                      <a:r>
                        <a:rPr lang="en-US" sz="1300" b="0" i="0" dirty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rPr>
                        <a:t>(provide complete details)</a:t>
                      </a:r>
                      <a:endParaRPr lang="en-US" sz="1300" b="0" i="0" dirty="0">
                        <a:solidFill>
                          <a:schemeClr val="tx1"/>
                        </a:solidFill>
                        <a:latin typeface="Helvetica" panose="020B0604020202020204" pitchFamily="34" charset="0"/>
                      </a:endParaRPr>
                    </a:p>
                  </a:txBody>
                  <a:tcPr anchor="ctr" anchorCtr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300" b="0" i="0" dirty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rPr>
                        <a:t>Work Contribution (%)</a:t>
                      </a:r>
                      <a:endParaRPr lang="en-US" sz="1300" b="0" i="0" dirty="0">
                        <a:solidFill>
                          <a:schemeClr val="tx1"/>
                        </a:solidFill>
                        <a:latin typeface="Helvetica" panose="020B0604020202020204" pitchFamily="34" charset="0"/>
                      </a:endParaRPr>
                    </a:p>
                  </a:txBody>
                  <a:tcPr anchor="ctr" anchorCtr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rPr>
                        <a:t>Lab Attendance (%)</a:t>
                      </a:r>
                      <a:endParaRPr lang="en-US" sz="1300" b="0" i="0" dirty="0">
                        <a:solidFill>
                          <a:schemeClr val="tx1"/>
                        </a:solidFill>
                        <a:latin typeface="Helvetica" panose="020B0604020202020204" pitchFamily="34" charset="0"/>
                      </a:endParaRPr>
                    </a:p>
                  </a:txBody>
                  <a:tcPr anchor="ctr" anchorCtr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</a:tr>
              <a:tr h="4693920">
                <a:tc>
                  <a:txBody>
                    <a:bodyPr/>
                    <a:lstStyle/>
                    <a:p>
                      <a:pPr algn="ctr"/>
                      <a:r>
                        <a:rPr lang="en-GB" altLang="en-US" sz="1300" b="0" i="0" dirty="0">
                          <a:latin typeface="Helvetica" panose="020B0604020202020204" pitchFamily="34" charset="0"/>
                        </a:rPr>
                        <a:t>Saurav Kumar</a:t>
                      </a:r>
                      <a:endParaRPr lang="en-GB" altLang="en-US" sz="1300" b="0" i="0" dirty="0">
                        <a:latin typeface="Helvetica" panose="020B0604020202020204" pitchFamily="34" charset="0"/>
                      </a:endParaRPr>
                    </a:p>
                  </a:txBody>
                  <a:tcPr anchor="ctr" anchorCtr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altLang="en-US" sz="1300" b="0" i="0" dirty="0">
                          <a:latin typeface="Helvetica" panose="020B0604020202020204" pitchFamily="34" charset="0"/>
                        </a:rPr>
                        <a:t>221030345</a:t>
                      </a:r>
                      <a:endParaRPr lang="en-GB" altLang="en-US" sz="1300" b="0" i="0" dirty="0">
                        <a:latin typeface="Helvetica" panose="020B0604020202020204" pitchFamily="34" charset="0"/>
                      </a:endParaRPr>
                    </a:p>
                  </a:txBody>
                  <a:tcPr anchor="ctr" anchorCtr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GB" altLang="en-US" sz="1200" b="0" i="0" dirty="0">
                          <a:latin typeface="Helvetica" panose="020B0604020202020204" pitchFamily="34" charset="0"/>
                        </a:rPr>
                        <a:t>P</a:t>
                      </a:r>
                      <a:r>
                        <a:rPr lang="en-US" altLang="en-US" sz="1200" b="0" i="0" dirty="0">
                          <a:latin typeface="Helvetica" panose="020B0604020202020204" pitchFamily="34" charset="0"/>
                        </a:rPr>
                        <a:t>erformed competitive benchmarking, operational audits, and business analysis across multiple industrial sites to identify usage patterns, inefficiencies, and improvement opportunities.</a:t>
                      </a:r>
                      <a:endParaRPr lang="en-US" altLang="en-US" sz="1200" b="0" i="0" dirty="0">
                        <a:latin typeface="Helvetica" panose="020B0604020202020204" pitchFamily="34" charset="0"/>
                      </a:endParaRP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US" altLang="en-US" sz="1200" b="0" i="0" dirty="0">
                        <a:latin typeface="Helvetica" panose="020B0604020202020204" pitchFamily="34" charset="0"/>
                      </a:endParaRP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GB" altLang="en-US" sz="1200" b="0" i="0" dirty="0">
                          <a:latin typeface="Helvetica" panose="020B0604020202020204" pitchFamily="34" charset="0"/>
                        </a:rPr>
                        <a:t>C</a:t>
                      </a:r>
                      <a:r>
                        <a:rPr lang="en-US" altLang="en-US" sz="1200" b="0" i="0" dirty="0">
                          <a:latin typeface="Helvetica" panose="020B0604020202020204" pitchFamily="34" charset="0"/>
                        </a:rPr>
                        <a:t>onducted in-depth interviews with industrial stakeholders to understand their challenges and workflows. These insights formed the foundation for creating user stories and shaping feature requirements.</a:t>
                      </a:r>
                      <a:endParaRPr lang="en-US" altLang="en-US" sz="1200" b="0" i="0" dirty="0">
                        <a:latin typeface="Helvetica" panose="020B0604020202020204" pitchFamily="34" charset="0"/>
                      </a:endParaRPr>
                    </a:p>
                    <a:p>
                      <a:pPr indent="0" algn="l">
                        <a:buFont typeface="Arial" panose="020B0604020202020204" pitchFamily="34" charset="0"/>
                        <a:buNone/>
                      </a:pPr>
                      <a:endParaRPr lang="en-US" altLang="en-US" sz="1200" b="0" i="0" dirty="0">
                        <a:latin typeface="Helvetica" panose="020B0604020202020204" pitchFamily="34" charset="0"/>
                      </a:endParaRP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GB" altLang="en-US" sz="1200" b="0" i="0" dirty="0">
                          <a:latin typeface="Helvetica" panose="020B0604020202020204" pitchFamily="34" charset="0"/>
                        </a:rPr>
                        <a:t>C</a:t>
                      </a:r>
                      <a:r>
                        <a:rPr lang="en-US" altLang="en-US" sz="1200" b="0" i="0" dirty="0">
                          <a:latin typeface="Helvetica" panose="020B0604020202020204" pitchFamily="34" charset="0"/>
                        </a:rPr>
                        <a:t>ontributed to the product design process by creating a detailed Product Requirements Document (PRD), wireframes, and design mockups for a dashboard feature focused on volumetric water savings.</a:t>
                      </a:r>
                      <a:endParaRPr lang="en-US" altLang="en-US" sz="1200" b="0" i="0" dirty="0">
                        <a:latin typeface="Helvetica" panose="020B0604020202020204" pitchFamily="34" charset="0"/>
                      </a:endParaRP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US" altLang="en-US" sz="1200" b="0" i="0" dirty="0">
                        <a:latin typeface="Helvetica" panose="020B0604020202020204" pitchFamily="34" charset="0"/>
                      </a:endParaRP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GB" altLang="en-US" sz="1200" b="0" i="0" dirty="0">
                          <a:latin typeface="Helvetica" panose="020B0604020202020204" pitchFamily="34" charset="0"/>
                        </a:rPr>
                        <a:t>A</a:t>
                      </a:r>
                      <a:r>
                        <a:rPr lang="en-US" altLang="en-US" sz="1200" b="0" i="0" dirty="0">
                          <a:latin typeface="Helvetica" panose="020B0604020202020204" pitchFamily="34" charset="0"/>
                        </a:rPr>
                        <a:t>nalyzed large datasets from industrial facilities to identify water-usage trends, block efficiencies, and anomalies. These findings were compiled into structured reports used for decision-making and optimisation.</a:t>
                      </a:r>
                      <a:endParaRPr lang="en-US" altLang="en-US" sz="1200" b="0" i="0" dirty="0">
                        <a:latin typeface="Helvetica" panose="020B0604020202020204" pitchFamily="34" charset="0"/>
                      </a:endParaRP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US" altLang="en-US" sz="1200" b="0" i="0" dirty="0">
                        <a:latin typeface="Helvetica" panose="020B0604020202020204" pitchFamily="34" charset="0"/>
                      </a:endParaRP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GB" altLang="en-US" sz="1200" b="0" i="0" dirty="0">
                          <a:latin typeface="Helvetica" panose="020B0604020202020204" pitchFamily="34" charset="0"/>
                        </a:rPr>
                        <a:t>C</a:t>
                      </a:r>
                      <a:r>
                        <a:rPr lang="en-US" altLang="en-US" sz="1200" b="0" i="0" dirty="0">
                          <a:latin typeface="Helvetica" panose="020B0604020202020204" pitchFamily="34" charset="0"/>
                        </a:rPr>
                        <a:t>reated a strategic research presentation on integrating remote-sensing and catchment-level intelligence, exploring future possibilities in collaboration with ISRO/NRSC.</a:t>
                      </a:r>
                      <a:endParaRPr lang="en-US" altLang="en-US" sz="1200" b="0" i="0" dirty="0">
                        <a:latin typeface="Helvetica" panose="020B0604020202020204" pitchFamily="34" charset="0"/>
                      </a:endParaRP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US" altLang="en-US" sz="1200" b="0" i="0" dirty="0">
                        <a:latin typeface="Helvetica" panose="020B0604020202020204" pitchFamily="34" charset="0"/>
                      </a:endParaRP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GB" altLang="en-US" sz="1200" b="0" i="0" dirty="0">
                          <a:latin typeface="Helvetica" panose="020B0604020202020204" pitchFamily="34" charset="0"/>
                        </a:rPr>
                        <a:t>D</a:t>
                      </a:r>
                      <a:r>
                        <a:rPr lang="en-US" altLang="en-US" sz="1200" b="0" i="0" dirty="0">
                          <a:latin typeface="Helvetica" panose="020B0604020202020204" pitchFamily="34" charset="0"/>
                        </a:rPr>
                        <a:t>eveloped pseudo-code, state-machine flows, and rule logic for critical features such as offline data buffering and leakage detection, supporting the engineering team in implementation.</a:t>
                      </a:r>
                      <a:endParaRPr lang="en-US" sz="1300" b="0" i="0" dirty="0">
                        <a:latin typeface="Helvetica" panose="020B0604020202020204" pitchFamily="34" charset="0"/>
                      </a:endParaRPr>
                    </a:p>
                  </a:txBody>
                  <a:tcPr anchor="ctr" anchorCtr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GB" altLang="en-US" sz="1300" b="0" i="0" dirty="0">
                          <a:latin typeface="Helvetica" panose="020B0604020202020204" pitchFamily="34" charset="0"/>
                        </a:rPr>
                        <a:t>100%</a:t>
                      </a:r>
                      <a:endParaRPr lang="en-GB" altLang="en-US" sz="1300" b="0" i="0" dirty="0">
                        <a:latin typeface="Helvetica" panose="020B0604020202020204" pitchFamily="34" charset="0"/>
                      </a:endParaRPr>
                    </a:p>
                  </a:txBody>
                  <a:tcPr anchor="ctr" anchorCtr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endParaRPr lang="en-US" sz="1300" b="0" i="0" dirty="0">
                        <a:latin typeface="Helvetica" panose="020B0604020202020204" pitchFamily="34" charset="0"/>
                      </a:endParaRPr>
                    </a:p>
                  </a:txBody>
                  <a:tcPr anchor="ctr" anchorCtr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>
                <a:ea typeface="Palatino" pitchFamily="2" charset="77"/>
              </a:rPr>
              <a:t>Supervisor </a:t>
            </a:r>
            <a:r>
              <a:rPr lang="en-IN" dirty="0">
                <a:ea typeface="Palatino" pitchFamily="2" charset="77"/>
              </a:rPr>
              <a:t>Interactions </a:t>
            </a:r>
            <a:r>
              <a:rPr lang="en-IN" b="0" dirty="0">
                <a:ea typeface="Palatino" pitchFamily="2" charset="77"/>
              </a:rPr>
              <a:t>(as mentioned in weekly log)</a:t>
            </a:r>
            <a:endParaRPr lang="en-US" b="0" dirty="0"/>
          </a:p>
        </p:txBody>
      </p:sp>
      <p:sp>
        <p:nvSpPr>
          <p:cNvPr id="4" name="Content Placeholder 2"/>
          <p:cNvSpPr txBox="1"/>
          <p:nvPr/>
        </p:nvSpPr>
        <p:spPr bwMode="auto">
          <a:xfrm>
            <a:off x="77118" y="804231"/>
            <a:ext cx="8956714" cy="5794873"/>
          </a:xfrm>
          <a:prstGeom prst="rect">
            <a:avLst/>
          </a:prstGeom>
          <a:noFill/>
          <a:ln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  <a:defRPr kumimoji="1" sz="1800">
                <a:solidFill>
                  <a:schemeClr val="tx1"/>
                </a:solidFill>
                <a:latin typeface="Helvetica" panose="020B060402020202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  <a:defRPr kumimoji="1" sz="1600">
                <a:solidFill>
                  <a:schemeClr val="tx1"/>
                </a:solidFill>
                <a:latin typeface="Helvetica" panose="020B060402020202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 sz="1600">
                <a:solidFill>
                  <a:schemeClr val="tx1"/>
                </a:solidFill>
                <a:latin typeface="Helvetica" panose="020B060402020202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4287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1600">
                <a:solidFill>
                  <a:schemeClr val="tx1"/>
                </a:solidFill>
                <a:latin typeface="Helvetica" panose="020B060402020202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7716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9pPr>
          </a:lstStyle>
          <a:p>
            <a:pPr marL="95250" indent="0">
              <a:buNone/>
            </a:pPr>
            <a:endParaRPr lang="en-IN" sz="1800" dirty="0">
              <a:ea typeface="Palatino" pitchFamily="2" charset="77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10168" y="881350"/>
          <a:ext cx="8835528" cy="507347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651832"/>
                <a:gridCol w="1364255"/>
                <a:gridCol w="5596569"/>
                <a:gridCol w="1222872"/>
              </a:tblGrid>
              <a:tr h="426082">
                <a:tc gridSpan="4">
                  <a:txBody>
                    <a:bodyPr/>
                    <a:lstStyle/>
                    <a:p>
                      <a:pPr algn="ctr"/>
                      <a:r>
                        <a:rPr lang="en-US" sz="1300" b="1" i="0" dirty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rPr>
                        <a:t>No. of Meetings with Supervisor: </a:t>
                      </a:r>
                      <a:endParaRPr lang="en-US" sz="1300" b="1" i="0" dirty="0">
                        <a:solidFill>
                          <a:schemeClr val="tx1"/>
                        </a:solidFill>
                        <a:latin typeface="Helvetica" panose="020B0604020202020204" pitchFamily="34" charset="0"/>
                      </a:endParaRPr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 hMerge="1"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 hMerge="1"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 hMerge="1"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</a:tr>
              <a:tr h="507388"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rPr>
                        <a:t>Week No.</a:t>
                      </a:r>
                      <a:endParaRPr lang="en-US" sz="1300" b="0" i="0" dirty="0">
                        <a:solidFill>
                          <a:schemeClr val="tx1"/>
                        </a:solidFill>
                        <a:latin typeface="Helvetica" panose="020B0604020202020204" pitchFamily="34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rPr>
                        <a:t>Duration</a:t>
                      </a:r>
                      <a:endParaRPr lang="en-US" sz="1300" b="0" i="0" dirty="0">
                        <a:solidFill>
                          <a:schemeClr val="tx1"/>
                        </a:solidFill>
                        <a:latin typeface="Helvetica" panose="020B0604020202020204" pitchFamily="34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rPr>
                        <a:t>Remarks (</a:t>
                      </a:r>
                      <a:r>
                        <a:rPr lang="en-US" sz="1300" b="1" i="0" dirty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rPr>
                        <a:t>as mentioned in the weekly log</a:t>
                      </a:r>
                      <a:r>
                        <a:rPr lang="en-US" sz="1300" b="0" i="0" dirty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rPr>
                        <a:t>)</a:t>
                      </a:r>
                      <a:endParaRPr lang="en-US" sz="1300" b="0" i="0" dirty="0">
                        <a:solidFill>
                          <a:schemeClr val="tx1"/>
                        </a:solidFill>
                        <a:latin typeface="Helvetica" panose="020B0604020202020204" pitchFamily="34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rPr>
                        <a:t>Incorporated</a:t>
                      </a:r>
                      <a:endParaRPr lang="en-US" sz="1300" b="0" i="0" dirty="0">
                        <a:solidFill>
                          <a:schemeClr val="tx1"/>
                        </a:solidFill>
                        <a:latin typeface="Helvetica" panose="020B0604020202020204" pitchFamily="34" charset="0"/>
                      </a:endParaRPr>
                    </a:p>
                    <a:p>
                      <a:pPr algn="ctr"/>
                      <a:r>
                        <a:rPr lang="en-US" sz="1300" b="0" i="0" dirty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rPr>
                        <a:t>(Yes/No)</a:t>
                      </a:r>
                      <a:endParaRPr lang="en-US" sz="1300" b="0" i="0" dirty="0">
                        <a:solidFill>
                          <a:schemeClr val="tx1"/>
                        </a:solidFill>
                        <a:latin typeface="Helvetica" panose="020B0604020202020204" pitchFamily="34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</a:tr>
              <a:tr h="828000"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latin typeface="Helvetica" panose="020B0604020202020204" pitchFamily="34" charset="0"/>
                        </a:rPr>
                        <a:t>1.</a:t>
                      </a:r>
                      <a:endParaRPr lang="en-US" sz="1300" b="0" i="0" dirty="0">
                        <a:latin typeface="Helvetica" panose="020B0604020202020204" pitchFamily="34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300" b="0" i="0" dirty="0">
                          <a:latin typeface="Helvetica" panose="020B0604020202020204" pitchFamily="34" charset="0"/>
                        </a:rPr>
                        <a:t>15/09/2025 </a:t>
                      </a:r>
                      <a:endParaRPr lang="en-US" altLang="en-US" sz="1300" b="0" i="0" dirty="0">
                        <a:latin typeface="Helvetica" panose="020B0604020202020204" pitchFamily="34" charset="0"/>
                      </a:endParaRPr>
                    </a:p>
                    <a:p>
                      <a:pPr algn="ctr"/>
                      <a:r>
                        <a:rPr lang="en-US" altLang="en-US" sz="1300" b="0" i="0" dirty="0">
                          <a:latin typeface="Helvetica" panose="020B0604020202020204" pitchFamily="34" charset="0"/>
                        </a:rPr>
                        <a:t>to</a:t>
                      </a:r>
                      <a:endParaRPr lang="en-US" altLang="en-US" sz="1300" b="0" i="0" dirty="0">
                        <a:latin typeface="Helvetica" panose="020B0604020202020204" pitchFamily="34" charset="0"/>
                      </a:endParaRPr>
                    </a:p>
                    <a:p>
                      <a:pPr algn="ctr"/>
                      <a:r>
                        <a:rPr lang="en-US" altLang="en-US" sz="1300" b="0" i="0" dirty="0">
                          <a:latin typeface="Helvetica" panose="020B0604020202020204" pitchFamily="34" charset="0"/>
                        </a:rPr>
                        <a:t>21/09/2025</a:t>
                      </a:r>
                      <a:endParaRPr lang="en-US" altLang="en-US" sz="1300" b="0" i="0" dirty="0">
                        <a:latin typeface="Helvetica" panose="020B0604020202020204" pitchFamily="34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en-US" sz="1300" b="0" i="0" dirty="0">
                          <a:latin typeface="Helvetica" panose="020B0604020202020204" pitchFamily="34" charset="0"/>
                        </a:rPr>
                        <a:t>Initiated competitive analysis work</a:t>
                      </a:r>
                      <a:endParaRPr lang="en-US" altLang="en-US" sz="1300" b="0" i="0" dirty="0">
                        <a:latin typeface="Helvetica" panose="020B0604020202020204" pitchFamily="34" charset="0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en-US" sz="1300" b="0" i="0" dirty="0">
                          <a:latin typeface="Helvetica" panose="020B0604020202020204" pitchFamily="34" charset="0"/>
                        </a:rPr>
                        <a:t>Understood dashboard feature landscape</a:t>
                      </a:r>
                      <a:endParaRPr lang="en-US" altLang="en-US" sz="1300" b="0" i="0" dirty="0">
                        <a:latin typeface="Helvetica" panose="020B0604020202020204" pitchFamily="34" charset="0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en-US" sz="1300" b="0" i="0" dirty="0">
                          <a:latin typeface="Helvetica" panose="020B0604020202020204" pitchFamily="34" charset="0"/>
                        </a:rPr>
                        <a:t>Identified initial differentiation areas</a:t>
                      </a:r>
                      <a:endParaRPr lang="en-US" altLang="en-US" sz="1300" b="0" i="0" dirty="0">
                        <a:latin typeface="Helvetica" panose="020B0604020202020204" pitchFamily="34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GB" altLang="en-US" sz="1300" dirty="0">
                          <a:latin typeface="Helvetica" panose="020B0604020202020204" pitchFamily="34" charset="0"/>
                          <a:sym typeface="+mn-ea"/>
                        </a:rPr>
                        <a:t>Yes</a:t>
                      </a:r>
                      <a:endParaRPr lang="en-GB" altLang="en-US" sz="1300" b="0" i="0" dirty="0">
                        <a:latin typeface="Helvetica" panose="020B0604020202020204" pitchFamily="34" charset="0"/>
                      </a:endParaRPr>
                    </a:p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endParaRPr lang="en-US" sz="1300" b="0" i="0" dirty="0">
                        <a:latin typeface="Helvetica" panose="020B0604020202020204" pitchFamily="34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828000"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latin typeface="Helvetica" panose="020B0604020202020204" pitchFamily="34" charset="0"/>
                        </a:rPr>
                        <a:t>2.</a:t>
                      </a:r>
                      <a:endParaRPr lang="en-US" sz="1300" b="0" i="0" dirty="0">
                        <a:latin typeface="Helvetica" panose="020B0604020202020204" pitchFamily="34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300" b="0" i="0" dirty="0">
                          <a:latin typeface="Helvetica" panose="020B0604020202020204" pitchFamily="34" charset="0"/>
                        </a:rPr>
                        <a:t>22/09/2025 </a:t>
                      </a:r>
                      <a:endParaRPr lang="en-US" altLang="en-US" sz="1300" b="0" i="0" dirty="0">
                        <a:latin typeface="Helvetica" panose="020B0604020202020204" pitchFamily="34" charset="0"/>
                      </a:endParaRPr>
                    </a:p>
                    <a:p>
                      <a:pPr algn="ctr"/>
                      <a:r>
                        <a:rPr lang="en-US" altLang="en-US" sz="1300" b="0" i="0" dirty="0">
                          <a:latin typeface="Helvetica" panose="020B0604020202020204" pitchFamily="34" charset="0"/>
                        </a:rPr>
                        <a:t>to</a:t>
                      </a:r>
                      <a:endParaRPr lang="en-US" altLang="en-US" sz="1300" b="0" i="0" dirty="0">
                        <a:latin typeface="Helvetica" panose="020B0604020202020204" pitchFamily="34" charset="0"/>
                      </a:endParaRPr>
                    </a:p>
                    <a:p>
                      <a:pPr algn="ctr"/>
                      <a:r>
                        <a:rPr lang="en-US" altLang="en-US" sz="1300" b="0" i="0" dirty="0">
                          <a:latin typeface="Helvetica" panose="020B0604020202020204" pitchFamily="34" charset="0"/>
                        </a:rPr>
                        <a:t>28/09/2025</a:t>
                      </a:r>
                      <a:endParaRPr lang="en-US" altLang="en-US" sz="1300" b="0" i="0" dirty="0">
                        <a:latin typeface="Helvetica" panose="020B0604020202020204" pitchFamily="34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en-US" sz="1300" b="0" i="0" dirty="0">
                          <a:latin typeface="Helvetica" panose="020B0604020202020204" pitchFamily="34" charset="0"/>
                        </a:rPr>
                        <a:t>Completed competitive analysis findings</a:t>
                      </a:r>
                      <a:endParaRPr lang="en-US" altLang="en-US" sz="1300" b="0" i="0" dirty="0">
                        <a:latin typeface="Helvetica" panose="020B0604020202020204" pitchFamily="34" charset="0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en-US" sz="1300" b="0" i="0" dirty="0">
                          <a:latin typeface="Helvetica" panose="020B0604020202020204" pitchFamily="34" charset="0"/>
                        </a:rPr>
                        <a:t>Conducted first field visit for sensor understanding</a:t>
                      </a:r>
                      <a:endParaRPr lang="en-US" altLang="en-US" sz="1300" b="0" i="0" dirty="0">
                        <a:latin typeface="Helvetica" panose="020B0604020202020204" pitchFamily="34" charset="0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en-US" sz="1300" b="0" i="0" dirty="0">
                          <a:latin typeface="Helvetica" panose="020B0604020202020204" pitchFamily="34" charset="0"/>
                        </a:rPr>
                        <a:t>Validated physical deployment insights</a:t>
                      </a:r>
                      <a:endParaRPr lang="en-US" altLang="en-US" sz="1300" b="0" i="0" dirty="0">
                        <a:latin typeface="Helvetica" panose="020B0604020202020204" pitchFamily="34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GB" altLang="en-US" sz="1300" dirty="0">
                          <a:latin typeface="Helvetica" panose="020B0604020202020204" pitchFamily="34" charset="0"/>
                          <a:sym typeface="+mn-ea"/>
                        </a:rPr>
                        <a:t>Yes</a:t>
                      </a:r>
                      <a:endParaRPr lang="en-GB" altLang="en-US" sz="1300" b="0" i="0" dirty="0">
                        <a:latin typeface="Helvetica" panose="020B0604020202020204" pitchFamily="34" charset="0"/>
                      </a:endParaRPr>
                    </a:p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endParaRPr lang="en-US" sz="1300" b="0" i="0" dirty="0">
                        <a:latin typeface="Helvetica" panose="020B0604020202020204" pitchFamily="34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828000"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latin typeface="Helvetica" panose="020B0604020202020204" pitchFamily="34" charset="0"/>
                        </a:rPr>
                        <a:t>3.</a:t>
                      </a:r>
                      <a:endParaRPr lang="en-US" sz="1300" b="0" i="0" dirty="0">
                        <a:latin typeface="Helvetica" panose="020B0604020202020204" pitchFamily="34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300" b="0" i="0" dirty="0">
                          <a:latin typeface="Helvetica" panose="020B0604020202020204" pitchFamily="34" charset="0"/>
                        </a:rPr>
                        <a:t>29/09/2025 </a:t>
                      </a:r>
                      <a:endParaRPr lang="en-US" altLang="en-US" sz="1300" b="0" i="0" dirty="0">
                        <a:latin typeface="Helvetica" panose="020B0604020202020204" pitchFamily="34" charset="0"/>
                      </a:endParaRPr>
                    </a:p>
                    <a:p>
                      <a:pPr algn="ctr"/>
                      <a:r>
                        <a:rPr lang="en-US" altLang="en-US" sz="1300" b="0" i="0" dirty="0">
                          <a:latin typeface="Helvetica" panose="020B0604020202020204" pitchFamily="34" charset="0"/>
                        </a:rPr>
                        <a:t>to</a:t>
                      </a:r>
                      <a:endParaRPr lang="en-US" altLang="en-US" sz="1300" b="0" i="0" dirty="0">
                        <a:latin typeface="Helvetica" panose="020B0604020202020204" pitchFamily="34" charset="0"/>
                      </a:endParaRPr>
                    </a:p>
                    <a:p>
                      <a:pPr algn="ctr"/>
                      <a:r>
                        <a:rPr lang="en-US" altLang="en-US" sz="1300" b="0" i="0" dirty="0">
                          <a:latin typeface="Helvetica" panose="020B0604020202020204" pitchFamily="34" charset="0"/>
                        </a:rPr>
                        <a:t>05/10/2025</a:t>
                      </a:r>
                      <a:endParaRPr lang="en-US" altLang="en-US" sz="1300" b="0" i="0" dirty="0">
                        <a:latin typeface="Helvetica" panose="020B0604020202020204" pitchFamily="34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en-US" sz="1300" b="0" i="0" dirty="0">
                          <a:latin typeface="Helvetica" panose="020B0604020202020204" pitchFamily="34" charset="0"/>
                        </a:rPr>
                        <a:t>Performed detailed data analysis</a:t>
                      </a:r>
                      <a:endParaRPr lang="en-US" altLang="en-US" sz="1300" b="0" i="0" dirty="0">
                        <a:latin typeface="Helvetica" panose="020B0604020202020204" pitchFamily="34" charset="0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en-US" sz="1300" b="0" i="0" dirty="0">
                          <a:latin typeface="Helvetica" panose="020B0604020202020204" pitchFamily="34" charset="0"/>
                        </a:rPr>
                        <a:t>Drafted initial PRD and mockups</a:t>
                      </a:r>
                      <a:endParaRPr lang="en-US" altLang="en-US" sz="1300" b="0" i="0" dirty="0">
                        <a:latin typeface="Helvetica" panose="020B0604020202020204" pitchFamily="34" charset="0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en-US" sz="1300" b="0" i="0" dirty="0">
                          <a:latin typeface="Helvetica" panose="020B0604020202020204" pitchFamily="34" charset="0"/>
                        </a:rPr>
                        <a:t>Identified usage trends and anomalies</a:t>
                      </a:r>
                      <a:endParaRPr lang="en-US" altLang="en-US" sz="1300" b="0" i="0" dirty="0">
                        <a:latin typeface="Helvetica" panose="020B0604020202020204" pitchFamily="34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GB" altLang="en-US" sz="1300" dirty="0">
                          <a:latin typeface="Helvetica" panose="020B0604020202020204" pitchFamily="34" charset="0"/>
                          <a:sym typeface="+mn-ea"/>
                        </a:rPr>
                        <a:t>Yes</a:t>
                      </a:r>
                      <a:endParaRPr lang="en-GB" altLang="en-US" sz="1300" b="0" i="0" dirty="0">
                        <a:latin typeface="Helvetica" panose="020B0604020202020204" pitchFamily="34" charset="0"/>
                      </a:endParaRPr>
                    </a:p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endParaRPr lang="en-US" sz="1300" b="0" i="0" dirty="0">
                        <a:latin typeface="Helvetica" panose="020B0604020202020204" pitchFamily="34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828000"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latin typeface="Helvetica" panose="020B0604020202020204" pitchFamily="34" charset="0"/>
                        </a:rPr>
                        <a:t>4.</a:t>
                      </a:r>
                      <a:endParaRPr lang="en-US" sz="1300" b="0" i="0" dirty="0">
                        <a:latin typeface="Helvetica" panose="020B0604020202020204" pitchFamily="34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300" b="0" i="0" dirty="0">
                          <a:latin typeface="Helvetica" panose="020B0604020202020204" pitchFamily="34" charset="0"/>
                        </a:rPr>
                        <a:t>06/10/2025 </a:t>
                      </a:r>
                      <a:endParaRPr lang="en-US" altLang="en-US" sz="1300" b="0" i="0" dirty="0">
                        <a:latin typeface="Helvetica" panose="020B0604020202020204" pitchFamily="34" charset="0"/>
                      </a:endParaRPr>
                    </a:p>
                    <a:p>
                      <a:pPr algn="ctr"/>
                      <a:r>
                        <a:rPr lang="en-US" altLang="en-US" sz="1300" b="0" i="0" dirty="0">
                          <a:latin typeface="Helvetica" panose="020B0604020202020204" pitchFamily="34" charset="0"/>
                        </a:rPr>
                        <a:t>to</a:t>
                      </a:r>
                      <a:endParaRPr lang="en-US" altLang="en-US" sz="1300" b="0" i="0" dirty="0">
                        <a:latin typeface="Helvetica" panose="020B0604020202020204" pitchFamily="34" charset="0"/>
                      </a:endParaRPr>
                    </a:p>
                    <a:p>
                      <a:pPr algn="ctr"/>
                      <a:r>
                        <a:rPr lang="en-US" altLang="en-US" sz="1300" b="0" i="0" dirty="0">
                          <a:latin typeface="Helvetica" panose="020B0604020202020204" pitchFamily="34" charset="0"/>
                        </a:rPr>
                        <a:t>12/10/2025</a:t>
                      </a:r>
                      <a:endParaRPr lang="en-US" altLang="en-US" sz="1300" b="0" i="0" dirty="0">
                        <a:latin typeface="Helvetica" panose="020B0604020202020204" pitchFamily="34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en-US" sz="1300" b="0" i="0" dirty="0">
                          <a:latin typeface="Helvetica" panose="020B0604020202020204" pitchFamily="34" charset="0"/>
                        </a:rPr>
                        <a:t>Finalized comprehensive analysis report</a:t>
                      </a:r>
                      <a:endParaRPr lang="en-US" altLang="en-US" sz="1300" b="0" i="0" dirty="0">
                        <a:latin typeface="Helvetica" panose="020B0604020202020204" pitchFamily="34" charset="0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en-US" sz="1300" b="0" i="0" dirty="0">
                          <a:latin typeface="Helvetica" panose="020B0604020202020204" pitchFamily="34" charset="0"/>
                        </a:rPr>
                        <a:t>Began customer interview evaluations</a:t>
                      </a:r>
                      <a:endParaRPr lang="en-US" altLang="en-US" sz="1300" b="0" i="0" dirty="0">
                        <a:latin typeface="Helvetica" panose="020B0604020202020204" pitchFamily="34" charset="0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en-US" sz="1300" b="0" i="0" dirty="0">
                          <a:latin typeface="Helvetica" panose="020B0604020202020204" pitchFamily="34" charset="0"/>
                        </a:rPr>
                        <a:t>Extracted key requirement insights</a:t>
                      </a:r>
                      <a:endParaRPr lang="en-US" altLang="en-US" sz="1300" b="0" i="0" dirty="0">
                        <a:latin typeface="Helvetica" panose="020B0604020202020204" pitchFamily="34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GB" altLang="en-US" sz="1300" dirty="0">
                          <a:latin typeface="Helvetica" panose="020B0604020202020204" pitchFamily="34" charset="0"/>
                          <a:sym typeface="+mn-ea"/>
                        </a:rPr>
                        <a:t>Yes</a:t>
                      </a:r>
                      <a:endParaRPr lang="en-GB" altLang="en-US" sz="1300" b="0" i="0" dirty="0">
                        <a:latin typeface="Helvetica" panose="020B0604020202020204" pitchFamily="34" charset="0"/>
                      </a:endParaRPr>
                    </a:p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endParaRPr lang="en-US" sz="1300" b="0" i="0" dirty="0">
                        <a:latin typeface="Helvetica" panose="020B0604020202020204" pitchFamily="34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828000"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latin typeface="Helvetica" panose="020B0604020202020204" pitchFamily="34" charset="0"/>
                        </a:rPr>
                        <a:t>5.</a:t>
                      </a:r>
                      <a:endParaRPr lang="en-US" sz="1300" b="0" i="0" dirty="0">
                        <a:latin typeface="Helvetica" panose="020B0604020202020204" pitchFamily="34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300" b="0" i="0" dirty="0">
                          <a:latin typeface="Helvetica" panose="020B0604020202020204" pitchFamily="34" charset="0"/>
                        </a:rPr>
                        <a:t>13/10/2025</a:t>
                      </a:r>
                      <a:endParaRPr lang="en-US" altLang="en-US" sz="1300" b="0" i="0" dirty="0">
                        <a:latin typeface="Helvetica" panose="020B0604020202020204" pitchFamily="34" charset="0"/>
                      </a:endParaRPr>
                    </a:p>
                    <a:p>
                      <a:pPr algn="ctr"/>
                      <a:r>
                        <a:rPr lang="en-US" altLang="en-US" sz="1300" b="0" i="0" dirty="0">
                          <a:latin typeface="Helvetica" panose="020B0604020202020204" pitchFamily="34" charset="0"/>
                        </a:rPr>
                        <a:t>to </a:t>
                      </a:r>
                      <a:endParaRPr lang="en-US" altLang="en-US" sz="1300" b="0" i="0" dirty="0">
                        <a:latin typeface="Helvetica" panose="020B0604020202020204" pitchFamily="34" charset="0"/>
                      </a:endParaRPr>
                    </a:p>
                    <a:p>
                      <a:pPr algn="ctr"/>
                      <a:r>
                        <a:rPr lang="en-US" altLang="en-US" sz="1300" b="0" i="0" dirty="0">
                          <a:latin typeface="Helvetica" panose="020B0604020202020204" pitchFamily="34" charset="0"/>
                        </a:rPr>
                        <a:t>19/10/2025</a:t>
                      </a:r>
                      <a:endParaRPr lang="en-US" altLang="en-US" sz="1300" b="0" i="0" dirty="0">
                        <a:latin typeface="Helvetica" panose="020B0604020202020204" pitchFamily="34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en-US" sz="1300" b="0" i="0" dirty="0">
                          <a:latin typeface="Helvetica" panose="020B0604020202020204" pitchFamily="34" charset="0"/>
                        </a:rPr>
                        <a:t>Created structured user stories</a:t>
                      </a:r>
                      <a:endParaRPr lang="en-US" altLang="en-US" sz="1300" b="0" i="0" dirty="0">
                        <a:latin typeface="Helvetica" panose="020B0604020202020204" pitchFamily="34" charset="0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en-US" sz="1300" b="0" i="0" dirty="0">
                          <a:latin typeface="Helvetica" panose="020B0604020202020204" pitchFamily="34" charset="0"/>
                        </a:rPr>
                        <a:t>Started direct client support</a:t>
                      </a:r>
                      <a:endParaRPr lang="en-US" altLang="en-US" sz="1300" b="0" i="0" dirty="0">
                        <a:latin typeface="Helvetica" panose="020B0604020202020204" pitchFamily="34" charset="0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en-US" sz="1300" b="0" i="0" dirty="0">
                          <a:latin typeface="Helvetica" panose="020B0604020202020204" pitchFamily="34" charset="0"/>
                        </a:rPr>
                        <a:t>Configured usage limits and dashboard setup</a:t>
                      </a:r>
                      <a:endParaRPr lang="en-US" altLang="en-US" sz="1300" b="0" i="0" dirty="0">
                        <a:latin typeface="Helvetica" panose="020B0604020202020204" pitchFamily="34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GB" altLang="en-US" sz="1300" dirty="0">
                          <a:latin typeface="Helvetica" panose="020B0604020202020204" pitchFamily="34" charset="0"/>
                          <a:sym typeface="+mn-ea"/>
                        </a:rPr>
                        <a:t>Yes</a:t>
                      </a:r>
                      <a:endParaRPr lang="en-GB" altLang="en-US" sz="1300" b="0" i="0" dirty="0">
                        <a:latin typeface="Helvetica" panose="020B0604020202020204" pitchFamily="34" charset="0"/>
                      </a:endParaRPr>
                    </a:p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endParaRPr lang="en-US" sz="1300" b="0" i="0" dirty="0">
                        <a:latin typeface="Helvetica" panose="020B0604020202020204" pitchFamily="34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>
                <a:ea typeface="Palatino" pitchFamily="2" charset="77"/>
              </a:rPr>
              <a:t>Supervisor </a:t>
            </a:r>
            <a:r>
              <a:rPr lang="en-IN" dirty="0">
                <a:ea typeface="Palatino" pitchFamily="2" charset="77"/>
              </a:rPr>
              <a:t>Interactions</a:t>
            </a:r>
            <a:r>
              <a:rPr lang="en-IN" sz="2400" dirty="0">
                <a:ea typeface="Palatino" pitchFamily="2" charset="77"/>
              </a:rPr>
              <a:t> </a:t>
            </a:r>
            <a:r>
              <a:rPr lang="en-IN" sz="2400" b="0" dirty="0">
                <a:ea typeface="Palatino" pitchFamily="2" charset="77"/>
              </a:rPr>
              <a:t>(</a:t>
            </a:r>
            <a:r>
              <a:rPr lang="en-IN" sz="2400" b="0" dirty="0" err="1">
                <a:ea typeface="Palatino" pitchFamily="2" charset="77"/>
              </a:rPr>
              <a:t>cont</a:t>
            </a:r>
            <a:r>
              <a:rPr lang="en-IN" sz="2400" b="0" dirty="0">
                <a:ea typeface="Palatino" pitchFamily="2" charset="77"/>
              </a:rPr>
              <a:t>…)</a:t>
            </a:r>
            <a:endParaRPr lang="en-US" b="0" dirty="0"/>
          </a:p>
        </p:txBody>
      </p:sp>
      <p:sp>
        <p:nvSpPr>
          <p:cNvPr id="4" name="Content Placeholder 2"/>
          <p:cNvSpPr txBox="1"/>
          <p:nvPr/>
        </p:nvSpPr>
        <p:spPr bwMode="auto">
          <a:xfrm>
            <a:off x="77118" y="804231"/>
            <a:ext cx="8956714" cy="5794873"/>
          </a:xfrm>
          <a:prstGeom prst="rect">
            <a:avLst/>
          </a:prstGeom>
          <a:noFill/>
          <a:ln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  <a:defRPr kumimoji="1" sz="1800">
                <a:solidFill>
                  <a:schemeClr val="tx1"/>
                </a:solidFill>
                <a:latin typeface="Helvetica" panose="020B060402020202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  <a:defRPr kumimoji="1" sz="1600">
                <a:solidFill>
                  <a:schemeClr val="tx1"/>
                </a:solidFill>
                <a:latin typeface="Helvetica" panose="020B060402020202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 sz="1600">
                <a:solidFill>
                  <a:schemeClr val="tx1"/>
                </a:solidFill>
                <a:latin typeface="Helvetica" panose="020B060402020202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4287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1600">
                <a:solidFill>
                  <a:schemeClr val="tx1"/>
                </a:solidFill>
                <a:latin typeface="Helvetica" panose="020B060402020202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7716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9pPr>
          </a:lstStyle>
          <a:p>
            <a:pPr marL="95250" indent="0">
              <a:buNone/>
            </a:pPr>
            <a:endParaRPr lang="en-IN" sz="1800" dirty="0">
              <a:ea typeface="Palatino" pitchFamily="2" charset="77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10168" y="881350"/>
          <a:ext cx="8835528" cy="5475605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651832"/>
                <a:gridCol w="1364255"/>
                <a:gridCol w="5596569"/>
                <a:gridCol w="1222872"/>
              </a:tblGrid>
              <a:tr h="507388"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rPr>
                        <a:t>Week No.</a:t>
                      </a:r>
                      <a:endParaRPr lang="en-US" sz="1300" b="0" i="0" dirty="0">
                        <a:solidFill>
                          <a:schemeClr val="tx1"/>
                        </a:solidFill>
                        <a:latin typeface="Helvetica" panose="020B0604020202020204" pitchFamily="34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rPr>
                        <a:t>Duration</a:t>
                      </a:r>
                      <a:endParaRPr lang="en-US" sz="1300" b="0" i="0" dirty="0">
                        <a:solidFill>
                          <a:schemeClr val="tx1"/>
                        </a:solidFill>
                        <a:latin typeface="Helvetica" panose="020B0604020202020204" pitchFamily="34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rPr>
                        <a:t>Remarks (</a:t>
                      </a:r>
                      <a:r>
                        <a:rPr lang="en-US" sz="1300" b="1" i="0" dirty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rPr>
                        <a:t>as mentioned in the weekly log</a:t>
                      </a:r>
                      <a:r>
                        <a:rPr lang="en-US" sz="1300" b="0" i="0" dirty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rPr>
                        <a:t>)</a:t>
                      </a:r>
                      <a:endParaRPr lang="en-US" sz="1300" b="0" i="0" dirty="0">
                        <a:solidFill>
                          <a:schemeClr val="tx1"/>
                        </a:solidFill>
                        <a:latin typeface="Helvetica" panose="020B0604020202020204" pitchFamily="34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rPr>
                        <a:t>Incorporated</a:t>
                      </a:r>
                      <a:endParaRPr lang="en-US" sz="1300" b="0" i="0" dirty="0">
                        <a:solidFill>
                          <a:schemeClr val="tx1"/>
                        </a:solidFill>
                        <a:latin typeface="Helvetica" panose="020B0604020202020204" pitchFamily="34" charset="0"/>
                      </a:endParaRPr>
                    </a:p>
                    <a:p>
                      <a:pPr algn="ctr"/>
                      <a:r>
                        <a:rPr lang="en-US" sz="1300" b="0" i="0" dirty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rPr>
                        <a:t>(Yes/No)</a:t>
                      </a:r>
                      <a:endParaRPr lang="en-US" sz="1300" b="0" i="0" dirty="0">
                        <a:solidFill>
                          <a:schemeClr val="tx1"/>
                        </a:solidFill>
                        <a:latin typeface="Helvetica" panose="020B0604020202020204" pitchFamily="34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</a:tr>
              <a:tr h="828000"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latin typeface="Helvetica" panose="020B0604020202020204" pitchFamily="34" charset="0"/>
                        </a:rPr>
                        <a:t>6.</a:t>
                      </a:r>
                      <a:endParaRPr lang="en-US" sz="1300" b="0" i="0" dirty="0">
                        <a:latin typeface="Helvetica" panose="020B0604020202020204" pitchFamily="34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300" b="0" i="0" dirty="0">
                          <a:latin typeface="Helvetica" panose="020B0604020202020204" pitchFamily="34" charset="0"/>
                        </a:rPr>
                        <a:t>20/10/2025</a:t>
                      </a:r>
                      <a:endParaRPr lang="en-US" altLang="en-US" sz="1300" b="0" i="0" dirty="0">
                        <a:latin typeface="Helvetica" panose="020B0604020202020204" pitchFamily="34" charset="0"/>
                      </a:endParaRPr>
                    </a:p>
                    <a:p>
                      <a:pPr algn="ctr"/>
                      <a:r>
                        <a:rPr lang="en-US" altLang="en-US" sz="1300" b="0" i="0" dirty="0">
                          <a:latin typeface="Helvetica" panose="020B0604020202020204" pitchFamily="34" charset="0"/>
                        </a:rPr>
                        <a:t>to </a:t>
                      </a:r>
                      <a:endParaRPr lang="en-US" altLang="en-US" sz="1300" b="0" i="0" dirty="0">
                        <a:latin typeface="Helvetica" panose="020B0604020202020204" pitchFamily="34" charset="0"/>
                      </a:endParaRPr>
                    </a:p>
                    <a:p>
                      <a:pPr algn="ctr"/>
                      <a:r>
                        <a:rPr lang="en-US" altLang="en-US" sz="1300" b="0" i="0" dirty="0">
                          <a:latin typeface="Helvetica" panose="020B0604020202020204" pitchFamily="34" charset="0"/>
                        </a:rPr>
                        <a:t>26/10/2025</a:t>
                      </a:r>
                      <a:endParaRPr lang="en-US" altLang="en-US" sz="1300" b="0" i="0" dirty="0">
                        <a:latin typeface="Helvetica" panose="020B0604020202020204" pitchFamily="34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en-US" sz="1300" b="0" i="0" dirty="0">
                          <a:latin typeface="Helvetica" panose="020B0604020202020204" pitchFamily="34" charset="0"/>
                        </a:rPr>
                        <a:t>Managed multiple ongoing client accounts</a:t>
                      </a:r>
                      <a:endParaRPr lang="en-US" altLang="en-US" sz="1300" b="0" i="0" dirty="0">
                        <a:latin typeface="Helvetica" panose="020B0604020202020204" pitchFamily="34" charset="0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en-US" sz="1300" b="0" i="0" dirty="0">
                          <a:latin typeface="Helvetica" panose="020B0604020202020204" pitchFamily="34" charset="0"/>
                        </a:rPr>
                        <a:t>Delivered recommendations to improve efficiency</a:t>
                      </a:r>
                      <a:endParaRPr lang="en-US" altLang="en-US" sz="1300" b="0" i="0" dirty="0">
                        <a:latin typeface="Helvetica" panose="020B0604020202020204" pitchFamily="34" charset="0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en-US" sz="1300" b="0" i="0" dirty="0">
                          <a:latin typeface="Helvetica" panose="020B0604020202020204" pitchFamily="34" charset="0"/>
                        </a:rPr>
                        <a:t>Completed strategic remote-sensing research</a:t>
                      </a:r>
                      <a:endParaRPr lang="en-US" altLang="en-US" sz="1300" b="0" i="0" dirty="0">
                        <a:latin typeface="Helvetica" panose="020B0604020202020204" pitchFamily="34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GB" altLang="en-US" sz="1300" b="0" i="0" dirty="0">
                          <a:latin typeface="Helvetica" panose="020B0604020202020204" pitchFamily="34" charset="0"/>
                        </a:rPr>
                        <a:t>Yes</a:t>
                      </a:r>
                      <a:endParaRPr lang="en-GB" altLang="en-US" sz="1300" b="0" i="0" dirty="0">
                        <a:latin typeface="Helvetica" panose="020B0604020202020204" pitchFamily="34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828000"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latin typeface="Helvetica" panose="020B0604020202020204" pitchFamily="34" charset="0"/>
                        </a:rPr>
                        <a:t>7.</a:t>
                      </a:r>
                      <a:endParaRPr lang="en-US" sz="1300" b="0" i="0" dirty="0">
                        <a:latin typeface="Helvetica" panose="020B0604020202020204" pitchFamily="34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altLang="en-US" sz="1300" b="0" i="0" dirty="0">
                          <a:latin typeface="Helvetica" panose="020B0604020202020204" pitchFamily="34" charset="0"/>
                        </a:rPr>
                        <a:t>27</a:t>
                      </a:r>
                      <a:r>
                        <a:rPr lang="en-US" sz="1300" b="0" i="0" dirty="0">
                          <a:latin typeface="Helvetica" panose="020B0604020202020204" pitchFamily="34" charset="0"/>
                        </a:rPr>
                        <a:t>/</a:t>
                      </a:r>
                      <a:r>
                        <a:rPr lang="en-GB" altLang="en-US" sz="1300" b="0" i="0" dirty="0">
                          <a:latin typeface="Helvetica" panose="020B0604020202020204" pitchFamily="34" charset="0"/>
                        </a:rPr>
                        <a:t>10</a:t>
                      </a:r>
                      <a:r>
                        <a:rPr lang="en-US" sz="1300" b="0" i="0" dirty="0">
                          <a:latin typeface="Helvetica" panose="020B0604020202020204" pitchFamily="34" charset="0"/>
                        </a:rPr>
                        <a:t>/2025 </a:t>
                      </a:r>
                      <a:endParaRPr lang="en-US" sz="1300" b="0" i="0" dirty="0">
                        <a:latin typeface="Helvetica" panose="020B0604020202020204" pitchFamily="34" charset="0"/>
                      </a:endParaRPr>
                    </a:p>
                    <a:p>
                      <a:pPr algn="ctr"/>
                      <a:r>
                        <a:rPr lang="en-US" sz="1300" b="0" i="0" dirty="0">
                          <a:latin typeface="Helvetica" panose="020B0604020202020204" pitchFamily="34" charset="0"/>
                        </a:rPr>
                        <a:t>to</a:t>
                      </a:r>
                      <a:endParaRPr lang="en-US" sz="1300" b="0" i="0" dirty="0">
                        <a:latin typeface="Helvetica" panose="020B0604020202020204" pitchFamily="34" charset="0"/>
                      </a:endParaRP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GB" altLang="en-US" sz="1300" b="0" i="0" dirty="0">
                          <a:latin typeface="Helvetica" panose="020B0604020202020204" pitchFamily="34" charset="0"/>
                        </a:rPr>
                        <a:t>02</a:t>
                      </a:r>
                      <a:r>
                        <a:rPr lang="en-US" sz="1300" b="0" i="0" dirty="0">
                          <a:latin typeface="Helvetica" panose="020B0604020202020204" pitchFamily="34" charset="0"/>
                        </a:rPr>
                        <a:t>/</a:t>
                      </a:r>
                      <a:r>
                        <a:rPr lang="en-GB" altLang="en-US" sz="1300" b="0" i="0" dirty="0">
                          <a:latin typeface="Helvetica" panose="020B0604020202020204" pitchFamily="34" charset="0"/>
                        </a:rPr>
                        <a:t>11</a:t>
                      </a:r>
                      <a:r>
                        <a:rPr lang="en-US" sz="1300" b="0" i="0" dirty="0">
                          <a:latin typeface="Helvetica" panose="020B0604020202020204" pitchFamily="34" charset="0"/>
                        </a:rPr>
                        <a:t>/2025</a:t>
                      </a:r>
                      <a:endParaRPr lang="en-US" sz="1300" b="0" i="0" dirty="0">
                        <a:latin typeface="Helvetica" panose="020B0604020202020204" pitchFamily="34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en-US" sz="1300" b="0" i="0" dirty="0">
                          <a:latin typeface="Helvetica" panose="020B0604020202020204" pitchFamily="34" charset="0"/>
                        </a:rPr>
                        <a:t>Conducted catchment-level intelligence research</a:t>
                      </a:r>
                      <a:endParaRPr lang="en-US" altLang="en-US" sz="1300" b="0" i="0" dirty="0">
                        <a:latin typeface="Helvetica" panose="020B0604020202020204" pitchFamily="34" charset="0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en-US" sz="1300" b="0" i="0" dirty="0">
                          <a:latin typeface="Helvetica" panose="020B0604020202020204" pitchFamily="34" charset="0"/>
                        </a:rPr>
                        <a:t>Explored industrial evaporator technologies</a:t>
                      </a:r>
                      <a:endParaRPr lang="en-US" altLang="en-US" sz="1300" b="0" i="0" dirty="0">
                        <a:latin typeface="Helvetica" panose="020B0604020202020204" pitchFamily="34" charset="0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en-US" sz="1300" b="0" i="0" dirty="0">
                          <a:latin typeface="Helvetica" panose="020B0604020202020204" pitchFamily="34" charset="0"/>
                        </a:rPr>
                        <a:t>Prepared insights for future product direction</a:t>
                      </a:r>
                      <a:endParaRPr lang="en-US" altLang="en-US" sz="1300" b="0" i="0" dirty="0">
                        <a:latin typeface="Helvetica" panose="020B0604020202020204" pitchFamily="34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GB" altLang="en-US" sz="1300" dirty="0">
                          <a:latin typeface="Helvetica" panose="020B0604020202020204" pitchFamily="34" charset="0"/>
                          <a:sym typeface="+mn-ea"/>
                        </a:rPr>
                        <a:t>Yes</a:t>
                      </a:r>
                      <a:endParaRPr lang="en-GB" altLang="en-US" sz="1300" b="0" i="0" dirty="0">
                        <a:latin typeface="Helvetica" panose="020B0604020202020204" pitchFamily="34" charset="0"/>
                      </a:endParaRPr>
                    </a:p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endParaRPr lang="en-US" sz="1300" b="0" i="0" dirty="0">
                        <a:latin typeface="Helvetica" panose="020B0604020202020204" pitchFamily="34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828000"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latin typeface="Helvetica" panose="020B0604020202020204" pitchFamily="34" charset="0"/>
                        </a:rPr>
                        <a:t>8.</a:t>
                      </a:r>
                      <a:endParaRPr lang="en-US" sz="1300" b="0" i="0" dirty="0">
                        <a:latin typeface="Helvetica" panose="020B0604020202020204" pitchFamily="34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altLang="en-US" sz="1300" b="0" i="0" dirty="0">
                          <a:latin typeface="Helvetica" panose="020B0604020202020204" pitchFamily="34" charset="0"/>
                        </a:rPr>
                        <a:t>03</a:t>
                      </a:r>
                      <a:r>
                        <a:rPr lang="en-US" sz="1300" b="0" i="0" dirty="0">
                          <a:latin typeface="Helvetica" panose="020B0604020202020204" pitchFamily="34" charset="0"/>
                        </a:rPr>
                        <a:t>/</a:t>
                      </a:r>
                      <a:r>
                        <a:rPr lang="en-GB" altLang="en-US" sz="1300" b="0" i="0" dirty="0">
                          <a:latin typeface="Helvetica" panose="020B0604020202020204" pitchFamily="34" charset="0"/>
                        </a:rPr>
                        <a:t>11</a:t>
                      </a:r>
                      <a:r>
                        <a:rPr lang="en-US" sz="1300" b="0" i="0" dirty="0">
                          <a:latin typeface="Helvetica" panose="020B0604020202020204" pitchFamily="34" charset="0"/>
                        </a:rPr>
                        <a:t>/2025 </a:t>
                      </a:r>
                      <a:endParaRPr lang="en-US" sz="1300" b="0" i="0" dirty="0">
                        <a:latin typeface="Helvetica" panose="020B0604020202020204" pitchFamily="34" charset="0"/>
                      </a:endParaRPr>
                    </a:p>
                    <a:p>
                      <a:pPr algn="ctr"/>
                      <a:r>
                        <a:rPr lang="en-US" sz="1300" b="0" i="0" dirty="0">
                          <a:latin typeface="Helvetica" panose="020B0604020202020204" pitchFamily="34" charset="0"/>
                        </a:rPr>
                        <a:t>to</a:t>
                      </a:r>
                      <a:endParaRPr lang="en-US" sz="1300" b="0" i="0" dirty="0">
                        <a:latin typeface="Helvetica" panose="020B0604020202020204" pitchFamily="34" charset="0"/>
                      </a:endParaRP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GB" altLang="en-US" sz="1300" b="0" i="0" dirty="0">
                          <a:latin typeface="Helvetica" panose="020B0604020202020204" pitchFamily="34" charset="0"/>
                        </a:rPr>
                        <a:t>09</a:t>
                      </a:r>
                      <a:r>
                        <a:rPr lang="en-US" sz="1300" b="0" i="0" dirty="0">
                          <a:latin typeface="Helvetica" panose="020B0604020202020204" pitchFamily="34" charset="0"/>
                        </a:rPr>
                        <a:t>/</a:t>
                      </a:r>
                      <a:r>
                        <a:rPr lang="en-GB" altLang="en-US" sz="1300" b="0" i="0" dirty="0">
                          <a:latin typeface="Helvetica" panose="020B0604020202020204" pitchFamily="34" charset="0"/>
                        </a:rPr>
                        <a:t>11</a:t>
                      </a:r>
                      <a:r>
                        <a:rPr lang="en-US" sz="1300" b="0" i="0" dirty="0">
                          <a:latin typeface="Helvetica" panose="020B0604020202020204" pitchFamily="34" charset="0"/>
                        </a:rPr>
                        <a:t>/2025</a:t>
                      </a:r>
                      <a:endParaRPr lang="en-US" sz="1300" b="0" i="0" dirty="0">
                        <a:latin typeface="Helvetica" panose="020B0604020202020204" pitchFamily="34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en-US" sz="1300" b="0" i="0" dirty="0">
                          <a:latin typeface="Helvetica" panose="020B0604020202020204" pitchFamily="34" charset="0"/>
                        </a:rPr>
                        <a:t>Executed hardware comparison of flowmeters</a:t>
                      </a:r>
                      <a:endParaRPr lang="en-US" altLang="en-US" sz="1300" b="0" i="0" dirty="0">
                        <a:latin typeface="Helvetica" panose="020B0604020202020204" pitchFamily="34" charset="0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en-US" sz="1300" b="0" i="0" dirty="0">
                          <a:latin typeface="Helvetica" panose="020B0604020202020204" pitchFamily="34" charset="0"/>
                        </a:rPr>
                        <a:t>Scoped offline storage logic</a:t>
                      </a:r>
                      <a:endParaRPr lang="en-US" altLang="en-US" sz="1300" b="0" i="0" dirty="0">
                        <a:latin typeface="Helvetica" panose="020B0604020202020204" pitchFamily="34" charset="0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en-US" sz="1300" b="0" i="0" dirty="0">
                          <a:latin typeface="Helvetica" panose="020B0604020202020204" pitchFamily="34" charset="0"/>
                        </a:rPr>
                        <a:t>Documented early workflow considerations</a:t>
                      </a:r>
                      <a:endParaRPr lang="en-US" altLang="en-US" sz="1300" b="0" i="0" dirty="0">
                        <a:latin typeface="Helvetica" panose="020B0604020202020204" pitchFamily="34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GB" altLang="en-US" sz="1300" dirty="0">
                          <a:latin typeface="Helvetica" panose="020B0604020202020204" pitchFamily="34" charset="0"/>
                          <a:sym typeface="+mn-ea"/>
                        </a:rPr>
                        <a:t>Yes</a:t>
                      </a:r>
                      <a:endParaRPr lang="en-GB" altLang="en-US" sz="1300" b="0" i="0" dirty="0">
                        <a:latin typeface="Helvetica" panose="020B0604020202020204" pitchFamily="34" charset="0"/>
                      </a:endParaRPr>
                    </a:p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endParaRPr lang="en-US" sz="1300" b="0" i="0" dirty="0">
                        <a:latin typeface="Helvetica" panose="020B0604020202020204" pitchFamily="34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828000"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latin typeface="Helvetica" panose="020B0604020202020204" pitchFamily="34" charset="0"/>
                        </a:rPr>
                        <a:t>9.</a:t>
                      </a:r>
                      <a:endParaRPr lang="en-US" sz="1300" b="0" i="0" dirty="0">
                        <a:latin typeface="Helvetica" panose="020B0604020202020204" pitchFamily="34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altLang="en-US" sz="1300" b="0" i="0" dirty="0">
                          <a:latin typeface="Helvetica" panose="020B0604020202020204" pitchFamily="34" charset="0"/>
                        </a:rPr>
                        <a:t>10</a:t>
                      </a:r>
                      <a:r>
                        <a:rPr lang="en-US" sz="1300" b="0" i="0" dirty="0">
                          <a:latin typeface="Helvetica" panose="020B0604020202020204" pitchFamily="34" charset="0"/>
                        </a:rPr>
                        <a:t>/</a:t>
                      </a:r>
                      <a:r>
                        <a:rPr lang="en-GB" altLang="en-US" sz="1300" b="0" i="0" dirty="0">
                          <a:latin typeface="Helvetica" panose="020B0604020202020204" pitchFamily="34" charset="0"/>
                        </a:rPr>
                        <a:t>11</a:t>
                      </a:r>
                      <a:r>
                        <a:rPr lang="en-US" sz="1300" b="0" i="0" dirty="0">
                          <a:latin typeface="Helvetica" panose="020B0604020202020204" pitchFamily="34" charset="0"/>
                        </a:rPr>
                        <a:t>/2025 </a:t>
                      </a:r>
                      <a:endParaRPr lang="en-US" sz="1300" b="0" i="0" dirty="0">
                        <a:latin typeface="Helvetica" panose="020B0604020202020204" pitchFamily="34" charset="0"/>
                      </a:endParaRPr>
                    </a:p>
                    <a:p>
                      <a:pPr algn="ctr"/>
                      <a:r>
                        <a:rPr lang="en-US" sz="1300" b="0" i="0" dirty="0">
                          <a:latin typeface="Helvetica" panose="020B0604020202020204" pitchFamily="34" charset="0"/>
                        </a:rPr>
                        <a:t>to</a:t>
                      </a:r>
                      <a:endParaRPr lang="en-US" sz="1300" b="0" i="0" dirty="0">
                        <a:latin typeface="Helvetica" panose="020B0604020202020204" pitchFamily="34" charset="0"/>
                      </a:endParaRP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GB" altLang="en-US" sz="1300" b="0" i="0" dirty="0">
                          <a:latin typeface="Helvetica" panose="020B0604020202020204" pitchFamily="34" charset="0"/>
                        </a:rPr>
                        <a:t>16</a:t>
                      </a:r>
                      <a:r>
                        <a:rPr lang="en-US" sz="1300" b="0" i="0" dirty="0">
                          <a:latin typeface="Helvetica" panose="020B0604020202020204" pitchFamily="34" charset="0"/>
                        </a:rPr>
                        <a:t>/</a:t>
                      </a:r>
                      <a:r>
                        <a:rPr lang="en-GB" altLang="en-US" sz="1300" b="0" i="0" dirty="0">
                          <a:latin typeface="Helvetica" panose="020B0604020202020204" pitchFamily="34" charset="0"/>
                        </a:rPr>
                        <a:t>11</a:t>
                      </a:r>
                      <a:r>
                        <a:rPr lang="en-US" sz="1300" b="0" i="0" dirty="0">
                          <a:latin typeface="Helvetica" panose="020B0604020202020204" pitchFamily="34" charset="0"/>
                        </a:rPr>
                        <a:t>/2025</a:t>
                      </a:r>
                      <a:endParaRPr lang="en-US" sz="1300" b="0" i="0" dirty="0">
                        <a:latin typeface="Helvetica" panose="020B0604020202020204" pitchFamily="34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en-US" sz="1300" b="0" i="0" dirty="0">
                          <a:latin typeface="Helvetica" panose="020B0604020202020204" pitchFamily="34" charset="0"/>
                        </a:rPr>
                        <a:t>Finalized flowmeter comparison report</a:t>
                      </a:r>
                      <a:endParaRPr lang="en-US" altLang="en-US" sz="1300" b="0" i="0" dirty="0">
                        <a:latin typeface="Helvetica" panose="020B0604020202020204" pitchFamily="34" charset="0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en-US" sz="1300" b="0" i="0" dirty="0">
                          <a:latin typeface="Helvetica" panose="020B0604020202020204" pitchFamily="34" charset="0"/>
                        </a:rPr>
                        <a:t>Developed state-machine and pseudo-code logic</a:t>
                      </a:r>
                      <a:endParaRPr lang="en-US" altLang="en-US" sz="1300" b="0" i="0" dirty="0">
                        <a:latin typeface="Helvetica" panose="020B0604020202020204" pitchFamily="34" charset="0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en-US" sz="1300" b="0" i="0" dirty="0">
                          <a:latin typeface="Helvetica" panose="020B0604020202020204" pitchFamily="34" charset="0"/>
                        </a:rPr>
                        <a:t>Completed offline buffering system concept</a:t>
                      </a:r>
                      <a:endParaRPr lang="en-US" altLang="en-US" sz="1300" b="0" i="0" dirty="0">
                        <a:latin typeface="Helvetica" panose="020B0604020202020204" pitchFamily="34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GB" altLang="en-US" sz="1300" dirty="0">
                          <a:latin typeface="Helvetica" panose="020B0604020202020204" pitchFamily="34" charset="0"/>
                          <a:sym typeface="+mn-ea"/>
                        </a:rPr>
                        <a:t>Yes</a:t>
                      </a:r>
                      <a:endParaRPr lang="en-GB" altLang="en-US" sz="1300" b="0" i="0" dirty="0">
                        <a:latin typeface="Helvetica" panose="020B0604020202020204" pitchFamily="34" charset="0"/>
                      </a:endParaRPr>
                    </a:p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endParaRPr lang="en-US" sz="1300" b="0" i="0" dirty="0">
                        <a:latin typeface="Helvetica" panose="020B0604020202020204" pitchFamily="34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828000"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latin typeface="Helvetica" panose="020B0604020202020204" pitchFamily="34" charset="0"/>
                        </a:rPr>
                        <a:t>10.</a:t>
                      </a:r>
                      <a:endParaRPr lang="en-US" sz="1300" b="0" i="0" dirty="0">
                        <a:latin typeface="Helvetica" panose="020B0604020202020204" pitchFamily="34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altLang="en-US" sz="1300" b="0" i="0" dirty="0">
                          <a:latin typeface="Helvetica" panose="020B0604020202020204" pitchFamily="34" charset="0"/>
                        </a:rPr>
                        <a:t>17</a:t>
                      </a:r>
                      <a:r>
                        <a:rPr lang="en-US" sz="1300" b="0" i="0" dirty="0">
                          <a:latin typeface="Helvetica" panose="020B0604020202020204" pitchFamily="34" charset="0"/>
                        </a:rPr>
                        <a:t>/</a:t>
                      </a:r>
                      <a:r>
                        <a:rPr lang="en-GB" altLang="en-US" sz="1300" b="0" i="0" dirty="0">
                          <a:latin typeface="Helvetica" panose="020B0604020202020204" pitchFamily="34" charset="0"/>
                        </a:rPr>
                        <a:t>11</a:t>
                      </a:r>
                      <a:r>
                        <a:rPr lang="en-US" sz="1300" b="0" i="0" dirty="0">
                          <a:latin typeface="Helvetica" panose="020B0604020202020204" pitchFamily="34" charset="0"/>
                        </a:rPr>
                        <a:t>/2025 </a:t>
                      </a:r>
                      <a:endParaRPr lang="en-US" sz="1300" b="0" i="0" dirty="0">
                        <a:latin typeface="Helvetica" panose="020B0604020202020204" pitchFamily="34" charset="0"/>
                      </a:endParaRPr>
                    </a:p>
                    <a:p>
                      <a:pPr algn="ctr"/>
                      <a:r>
                        <a:rPr lang="en-US" sz="1300" b="0" i="0" dirty="0">
                          <a:latin typeface="Helvetica" panose="020B0604020202020204" pitchFamily="34" charset="0"/>
                        </a:rPr>
                        <a:t>to</a:t>
                      </a:r>
                      <a:endParaRPr lang="en-US" sz="1300" b="0" i="0" dirty="0">
                        <a:latin typeface="Helvetica" panose="020B0604020202020204" pitchFamily="34" charset="0"/>
                      </a:endParaRP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GB" altLang="en-US" sz="1300" b="0" i="0" dirty="0">
                          <a:latin typeface="Helvetica" panose="020B0604020202020204" pitchFamily="34" charset="0"/>
                        </a:rPr>
                        <a:t>23</a:t>
                      </a:r>
                      <a:r>
                        <a:rPr lang="en-US" sz="1300" b="0" i="0" dirty="0">
                          <a:latin typeface="Helvetica" panose="020B0604020202020204" pitchFamily="34" charset="0"/>
                        </a:rPr>
                        <a:t>/</a:t>
                      </a:r>
                      <a:r>
                        <a:rPr lang="en-GB" altLang="en-US" sz="1300" b="0" i="0" dirty="0">
                          <a:latin typeface="Helvetica" panose="020B0604020202020204" pitchFamily="34" charset="0"/>
                        </a:rPr>
                        <a:t>11</a:t>
                      </a:r>
                      <a:r>
                        <a:rPr lang="en-US" sz="1300" b="0" i="0" dirty="0">
                          <a:latin typeface="Helvetica" panose="020B0604020202020204" pitchFamily="34" charset="0"/>
                        </a:rPr>
                        <a:t>/2025</a:t>
                      </a:r>
                      <a:endParaRPr lang="en-US" sz="1300" b="0" i="0" dirty="0">
                        <a:latin typeface="Helvetica" panose="020B0604020202020204" pitchFamily="34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en-US" sz="1300" b="0" i="0" dirty="0">
                          <a:latin typeface="Helvetica" panose="020B0604020202020204" pitchFamily="34" charset="0"/>
                        </a:rPr>
                        <a:t>Built leakage detection backend logic</a:t>
                      </a:r>
                      <a:endParaRPr lang="en-US" altLang="en-US" sz="1300" b="0" i="0" dirty="0">
                        <a:latin typeface="Helvetica" panose="020B0604020202020204" pitchFamily="34" charset="0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en-US" sz="1300" b="0" i="0" dirty="0">
                          <a:latin typeface="Helvetica" panose="020B0604020202020204" pitchFamily="34" charset="0"/>
                        </a:rPr>
                        <a:t>Designed alerting mechanism and flow</a:t>
                      </a:r>
                      <a:endParaRPr lang="en-US" altLang="en-US" sz="1300" b="0" i="0" dirty="0">
                        <a:latin typeface="Helvetica" panose="020B0604020202020204" pitchFamily="34" charset="0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en-US" sz="1300" b="0" i="0" dirty="0">
                          <a:latin typeface="Helvetica" panose="020B0604020202020204" pitchFamily="34" charset="0"/>
                        </a:rPr>
                        <a:t>Created complete offline sync pseudo-code</a:t>
                      </a:r>
                      <a:endParaRPr lang="en-US" altLang="en-US" sz="1300" b="0" i="0" dirty="0">
                        <a:latin typeface="Helvetica" panose="020B0604020202020204" pitchFamily="34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GB" altLang="en-US" sz="1300" dirty="0">
                          <a:latin typeface="Helvetica" panose="020B0604020202020204" pitchFamily="34" charset="0"/>
                          <a:sym typeface="+mn-ea"/>
                        </a:rPr>
                        <a:t>Yes</a:t>
                      </a:r>
                      <a:endParaRPr lang="en-GB" altLang="en-US" sz="1300" b="0" i="0" dirty="0">
                        <a:latin typeface="Helvetica" panose="020B0604020202020204" pitchFamily="34" charset="0"/>
                      </a:endParaRPr>
                    </a:p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endParaRPr lang="en-US" sz="1300" b="0" i="0" dirty="0">
                        <a:latin typeface="Helvetica" panose="020B0604020202020204" pitchFamily="34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10168" y="5528915"/>
          <a:ext cx="8835528" cy="82804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651832"/>
                <a:gridCol w="1364255"/>
                <a:gridCol w="5596569"/>
                <a:gridCol w="1222872"/>
              </a:tblGrid>
              <a:tr h="828000">
                <a:tc>
                  <a:txBody>
                    <a:bodyPr/>
                    <a:p>
                      <a:pPr algn="ctr"/>
                      <a:r>
                        <a:rPr lang="en-GB" altLang="en-US" sz="1300" b="0" i="0" dirty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rPr>
                        <a:t>11</a:t>
                      </a:r>
                      <a:r>
                        <a:rPr lang="en-US" sz="1300" b="0" i="0" dirty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rPr>
                        <a:t>.</a:t>
                      </a:r>
                      <a:endParaRPr lang="en-US" sz="1300" b="0" i="0" dirty="0">
                        <a:solidFill>
                          <a:schemeClr val="tx1"/>
                        </a:solidFill>
                        <a:latin typeface="Helvetica" panose="020B0604020202020204" pitchFamily="34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GB" altLang="en-US" sz="1300" b="0" i="0" dirty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rPr>
                        <a:t>24</a:t>
                      </a:r>
                      <a:r>
                        <a:rPr lang="en-US" sz="1300" b="0" i="0" dirty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rPr>
                        <a:t>/</a:t>
                      </a:r>
                      <a:r>
                        <a:rPr lang="en-GB" altLang="en-US" sz="1300" b="0" i="0" dirty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rPr>
                        <a:t>11</a:t>
                      </a:r>
                      <a:r>
                        <a:rPr lang="en-US" sz="1300" b="0" i="0" dirty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rPr>
                        <a:t>/2025 </a:t>
                      </a:r>
                      <a:endParaRPr lang="en-US" sz="1300" b="0" i="0" dirty="0">
                        <a:solidFill>
                          <a:schemeClr val="tx1"/>
                        </a:solidFill>
                        <a:latin typeface="Helvetica" panose="020B0604020202020204" pitchFamily="34" charset="0"/>
                      </a:endParaRPr>
                    </a:p>
                    <a:p>
                      <a:pPr algn="ctr"/>
                      <a:r>
                        <a:rPr lang="en-US" sz="1300" b="0" i="0" dirty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rPr>
                        <a:t>to</a:t>
                      </a:r>
                      <a:endParaRPr lang="en-US" sz="1300" b="0" i="0" dirty="0">
                        <a:solidFill>
                          <a:schemeClr val="tx1"/>
                        </a:solidFill>
                        <a:latin typeface="Helvetica" panose="020B0604020202020204" pitchFamily="34" charset="0"/>
                      </a:endParaRP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GB" altLang="en-US" sz="1300" b="0" i="0" dirty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rPr>
                        <a:t>30</a:t>
                      </a:r>
                      <a:r>
                        <a:rPr lang="en-US" sz="1300" b="0" i="0" dirty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rPr>
                        <a:t>/</a:t>
                      </a:r>
                      <a:r>
                        <a:rPr lang="en-GB" altLang="en-US" sz="1300" b="0" i="0" dirty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rPr>
                        <a:t>11</a:t>
                      </a:r>
                      <a:r>
                        <a:rPr lang="en-US" sz="1300" b="0" i="0" dirty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rPr>
                        <a:t>/2025</a:t>
                      </a:r>
                      <a:endParaRPr lang="en-US" sz="1300" b="0" i="0" dirty="0">
                        <a:solidFill>
                          <a:schemeClr val="tx1"/>
                        </a:solidFill>
                        <a:latin typeface="Helvetica" panose="020B0604020202020204" pitchFamily="34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en-US" sz="1300" b="0" i="0" dirty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rPr>
                        <a:t>Documented full offline sync protocol</a:t>
                      </a:r>
                      <a:endParaRPr lang="en-US" altLang="en-US" sz="1300" b="0" i="0" dirty="0">
                        <a:solidFill>
                          <a:schemeClr val="tx1"/>
                        </a:solidFill>
                        <a:latin typeface="Helvetica" panose="020B0604020202020204" pitchFamily="34" charset="0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en-US" sz="1300" b="0" i="0" dirty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rPr>
                        <a:t>Finalized UX and notification workflow</a:t>
                      </a:r>
                      <a:endParaRPr lang="en-US" altLang="en-US" sz="1300" b="0" i="0" dirty="0">
                        <a:solidFill>
                          <a:schemeClr val="tx1"/>
                        </a:solidFill>
                        <a:latin typeface="Helvetica" panose="020B0604020202020204" pitchFamily="34" charset="0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en-US" sz="1300" b="0" i="0" dirty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rPr>
                        <a:t>Started final report drafting</a:t>
                      </a:r>
                      <a:endParaRPr lang="en-US" altLang="en-US" sz="1300" b="0" i="0" dirty="0">
                        <a:solidFill>
                          <a:schemeClr val="tx1"/>
                        </a:solidFill>
                        <a:latin typeface="Helvetica" panose="020B0604020202020204" pitchFamily="34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GB" altLang="en-US" sz="1300" b="0" dirty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sym typeface="+mn-ea"/>
                        </a:rPr>
                        <a:t>Yes</a:t>
                      </a:r>
                      <a:endParaRPr lang="en-GB" altLang="en-US" sz="1300" b="0" i="0" dirty="0">
                        <a:solidFill>
                          <a:schemeClr val="tx1"/>
                        </a:solidFill>
                        <a:latin typeface="Helvetica" panose="020B0604020202020204" pitchFamily="34" charset="0"/>
                      </a:endParaRPr>
                    </a:p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endParaRPr lang="en-GB" altLang="en-US" sz="1300" b="0" i="0" dirty="0">
                        <a:solidFill>
                          <a:schemeClr val="tx1"/>
                        </a:solidFill>
                        <a:latin typeface="Helvetica" panose="020B0604020202020204" pitchFamily="34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>
                <a:ea typeface="Palatino" pitchFamily="2" charset="77"/>
              </a:rPr>
              <a:t>Future Work</a:t>
            </a:r>
            <a:endParaRPr lang="en-US" dirty="0"/>
          </a:p>
        </p:txBody>
      </p:sp>
      <p:sp>
        <p:nvSpPr>
          <p:cNvPr id="4" name="Content Placeholder 2"/>
          <p:cNvSpPr txBox="1"/>
          <p:nvPr/>
        </p:nvSpPr>
        <p:spPr bwMode="auto">
          <a:xfrm>
            <a:off x="77118" y="804231"/>
            <a:ext cx="8956714" cy="5794873"/>
          </a:xfrm>
          <a:prstGeom prst="rect">
            <a:avLst/>
          </a:prstGeom>
          <a:noFill/>
          <a:ln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  <a:defRPr kumimoji="1" sz="1800">
                <a:solidFill>
                  <a:schemeClr val="tx1"/>
                </a:solidFill>
                <a:latin typeface="Helvetica" panose="020B060402020202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  <a:defRPr kumimoji="1" sz="1600">
                <a:solidFill>
                  <a:schemeClr val="tx1"/>
                </a:solidFill>
                <a:latin typeface="Helvetica" panose="020B060402020202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 sz="1600">
                <a:solidFill>
                  <a:schemeClr val="tx1"/>
                </a:solidFill>
                <a:latin typeface="Helvetica" panose="020B060402020202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4287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1600">
                <a:solidFill>
                  <a:schemeClr val="tx1"/>
                </a:solidFill>
                <a:latin typeface="Helvetica" panose="020B060402020202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7716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9pPr>
          </a:lstStyle>
          <a:p>
            <a:pPr marL="357505" indent="-262255"/>
            <a:r>
              <a:rPr lang="en-US" altLang="en-US" sz="1800" b="1" dirty="0">
                <a:ea typeface="Palatino" pitchFamily="2" charset="77"/>
              </a:rPr>
              <a:t>Leakage Detection Enhancement:</a:t>
            </a:r>
            <a:r>
              <a:rPr lang="en-US" altLang="en-US" sz="1800" dirty="0">
                <a:ea typeface="Palatino" pitchFamily="2" charset="77"/>
              </a:rPr>
              <a:t> Improve thresholds and multi-parameter rules for higher accuracy.</a:t>
            </a:r>
            <a:endParaRPr lang="en-US" altLang="en-US" sz="1800" dirty="0">
              <a:ea typeface="Palatino" pitchFamily="2" charset="77"/>
            </a:endParaRPr>
          </a:p>
          <a:p>
            <a:pPr marL="357505" indent="-262255"/>
            <a:r>
              <a:rPr lang="en-US" altLang="en-US" sz="1800" b="1" dirty="0">
                <a:ea typeface="Palatino" pitchFamily="2" charset="77"/>
              </a:rPr>
              <a:t>Field Validation:</a:t>
            </a:r>
            <a:r>
              <a:rPr lang="en-US" altLang="en-US" sz="1800" dirty="0">
                <a:ea typeface="Palatino" pitchFamily="2" charset="77"/>
              </a:rPr>
              <a:t> Test the improved leakage rules across additional industrial sites to validate behavior under different operational conditions.</a:t>
            </a:r>
            <a:endParaRPr lang="en-US" altLang="en-US" sz="1800" dirty="0">
              <a:ea typeface="Palatino" pitchFamily="2" charset="77"/>
            </a:endParaRPr>
          </a:p>
          <a:p>
            <a:pPr marL="357505" indent="-262255"/>
            <a:r>
              <a:rPr lang="en-US" altLang="en-US" sz="1800" b="1" dirty="0">
                <a:ea typeface="Palatino" pitchFamily="2" charset="77"/>
              </a:rPr>
              <a:t>Alert Optimization:</a:t>
            </a:r>
            <a:r>
              <a:rPr lang="en-US" altLang="en-US" sz="1800" dirty="0">
                <a:ea typeface="Palatino" pitchFamily="2" charset="77"/>
              </a:rPr>
              <a:t> Enhance the alert flow by improving notification logic, user visibility, and escalation paths based on client feedback.</a:t>
            </a:r>
            <a:endParaRPr lang="en-US" altLang="en-US" sz="1800" dirty="0">
              <a:ea typeface="Palatino" pitchFamily="2" charset="77"/>
            </a:endParaRPr>
          </a:p>
          <a:p>
            <a:pPr marL="357505" indent="-262255"/>
            <a:r>
              <a:rPr lang="en-US" altLang="en-US" sz="1800" b="1" dirty="0">
                <a:ea typeface="Palatino" pitchFamily="2" charset="77"/>
              </a:rPr>
              <a:t>Pattern Learning:</a:t>
            </a:r>
            <a:r>
              <a:rPr lang="en-US" altLang="en-US" sz="1800" dirty="0">
                <a:ea typeface="Palatino" pitchFamily="2" charset="77"/>
              </a:rPr>
              <a:t> Use historical trends to reduce false alerts.</a:t>
            </a:r>
            <a:endParaRPr lang="en-US" altLang="en-US" sz="1800" dirty="0">
              <a:ea typeface="Palatino" pitchFamily="2" charset="77"/>
            </a:endParaRPr>
          </a:p>
          <a:p>
            <a:pPr marL="357505" indent="-262255"/>
            <a:r>
              <a:rPr lang="en-US" altLang="en-US" sz="1800" b="1" dirty="0">
                <a:ea typeface="Palatino" pitchFamily="2" charset="77"/>
              </a:rPr>
              <a:t>Advanced Water</a:t>
            </a:r>
            <a:r>
              <a:rPr lang="en-GB" altLang="en-US" sz="1800" b="1" dirty="0">
                <a:ea typeface="Palatino" pitchFamily="2" charset="77"/>
              </a:rPr>
              <a:t>-</a:t>
            </a:r>
            <a:r>
              <a:rPr lang="en-US" altLang="en-US" sz="1800" b="1" dirty="0">
                <a:ea typeface="Palatino" pitchFamily="2" charset="77"/>
              </a:rPr>
              <a:t>Energy Optimization:</a:t>
            </a:r>
            <a:r>
              <a:rPr lang="en-US" altLang="en-US" sz="1800" dirty="0">
                <a:ea typeface="Palatino" pitchFamily="2" charset="77"/>
              </a:rPr>
              <a:t> Explore integrated models for combined resource efficiency.</a:t>
            </a:r>
            <a:endParaRPr lang="en-US" altLang="en-US" sz="1800" dirty="0">
              <a:ea typeface="Palatino" pitchFamily="2" charset="77"/>
            </a:endParaRPr>
          </a:p>
          <a:p>
            <a:pPr marL="357505" indent="-262255"/>
            <a:r>
              <a:rPr lang="en-US" altLang="en-US" sz="1800" b="1" dirty="0">
                <a:ea typeface="Palatino" pitchFamily="2" charset="77"/>
              </a:rPr>
              <a:t>Cross-Plant Benchmarking:</a:t>
            </a:r>
            <a:r>
              <a:rPr lang="en-US" altLang="en-US" sz="1800" dirty="0">
                <a:ea typeface="Palatino" pitchFamily="2" charset="77"/>
              </a:rPr>
              <a:t> Develop AI-driven comparisons and automated decision recommendations.</a:t>
            </a:r>
            <a:endParaRPr lang="en-US" altLang="en-US" sz="1800" dirty="0">
              <a:ea typeface="Palatino" pitchFamily="2" charset="77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>
                <a:ea typeface="Palatino" pitchFamily="2" charset="77"/>
              </a:rPr>
              <a:t>Project Plan</a:t>
            </a:r>
            <a:endParaRPr lang="en-US" dirty="0"/>
          </a:p>
        </p:txBody>
      </p:sp>
      <p:sp>
        <p:nvSpPr>
          <p:cNvPr id="4" name="Content Placeholder 2"/>
          <p:cNvSpPr txBox="1"/>
          <p:nvPr/>
        </p:nvSpPr>
        <p:spPr bwMode="auto">
          <a:xfrm>
            <a:off x="77118" y="804231"/>
            <a:ext cx="8956714" cy="5794873"/>
          </a:xfrm>
          <a:prstGeom prst="rect">
            <a:avLst/>
          </a:prstGeom>
          <a:noFill/>
          <a:ln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  <a:defRPr kumimoji="1" sz="1800">
                <a:solidFill>
                  <a:schemeClr val="tx1"/>
                </a:solidFill>
                <a:latin typeface="Helvetica" panose="020B060402020202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  <a:defRPr kumimoji="1" sz="1600">
                <a:solidFill>
                  <a:schemeClr val="tx1"/>
                </a:solidFill>
                <a:latin typeface="Helvetica" panose="020B060402020202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 sz="1600">
                <a:solidFill>
                  <a:schemeClr val="tx1"/>
                </a:solidFill>
                <a:latin typeface="Helvetica" panose="020B060402020202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4287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1600">
                <a:solidFill>
                  <a:schemeClr val="tx1"/>
                </a:solidFill>
                <a:latin typeface="Helvetica" panose="020B060402020202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7716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9pPr>
          </a:lstStyle>
          <a:p>
            <a:pPr marL="95250" indent="0" algn="just">
              <a:lnSpc>
                <a:spcPct val="150000"/>
              </a:lnSpc>
              <a:buFont typeface="Arial" panose="020B0604020202020204" pitchFamily="34" charset="0"/>
              <a:buNone/>
            </a:pPr>
            <a:endParaRPr lang="en-IN" sz="1800" dirty="0">
              <a:ea typeface="Palatino" pitchFamily="2" charset="77"/>
            </a:endParaRPr>
          </a:p>
        </p:txBody>
      </p:sp>
      <p:graphicFrame>
        <p:nvGraphicFramePr>
          <p:cNvPr id="6" name="Table 5"/>
          <p:cNvGraphicFramePr/>
          <p:nvPr>
            <p:custDataLst>
              <p:tags r:id="rId1"/>
            </p:custDataLst>
          </p:nvPr>
        </p:nvGraphicFramePr>
        <p:xfrm>
          <a:off x="76835" y="919480"/>
          <a:ext cx="8957310" cy="5394960"/>
        </p:xfrm>
        <a:graphic>
          <a:graphicData uri="http://schemas.openxmlformats.org/drawingml/2006/table">
            <a:tbl>
              <a:tblPr/>
              <a:tblGrid>
                <a:gridCol w="720090"/>
                <a:gridCol w="8237220"/>
              </a:tblGrid>
              <a:tr h="449580"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300" b="1">
                          <a:latin typeface="Cambria" panose="02040503050406030204"/>
                          <a:ea typeface="Cambria" panose="02040503050406030204"/>
                        </a:rPr>
                        <a:t>Week</a:t>
                      </a:r>
                      <a:endParaRPr sz="1300" b="1">
                        <a:latin typeface="Cambria" panose="02040503050406030204"/>
                        <a:ea typeface="Cambria" panose="02040503050406030204"/>
                      </a:endParaRPr>
                    </a:p>
                  </a:txBody>
                  <a:tcPr marL="114300" marR="114300" marT="76200" marB="76200" anchor="t" anchorCtr="0">
                    <a:lnL w="6350" cap="flat" cmpd="sng">
                      <a:solidFill>
                        <a:srgbClr val="1F1F1F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1F1F1F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1F1F1F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1F1F1F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300" b="1">
                          <a:latin typeface="Cambria" panose="02040503050406030204"/>
                          <a:ea typeface="Cambria" panose="02040503050406030204"/>
                        </a:rPr>
                        <a:t>Strategic Activities</a:t>
                      </a:r>
                      <a:endParaRPr sz="1300" b="1">
                        <a:latin typeface="Cambria" panose="02040503050406030204"/>
                        <a:ea typeface="Cambria" panose="02040503050406030204"/>
                      </a:endParaRPr>
                    </a:p>
                  </a:txBody>
                  <a:tcPr marL="114300" marR="114300" marT="76200" marB="76200" anchor="t" anchorCtr="0">
                    <a:lnL w="6350" cap="flat" cmpd="sng">
                      <a:solidFill>
                        <a:srgbClr val="1F1F1F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1F1F1F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1F1F1F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1F1F1F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49580"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300">
                          <a:latin typeface="Cambria" panose="02040503050406030204"/>
                          <a:ea typeface="Cambria" panose="02040503050406030204"/>
                        </a:rPr>
                        <a:t>1</a:t>
                      </a:r>
                      <a:endParaRPr sz="1300">
                        <a:latin typeface="Cambria" panose="02040503050406030204"/>
                        <a:ea typeface="Cambria" panose="02040503050406030204"/>
                      </a:endParaRPr>
                    </a:p>
                  </a:txBody>
                  <a:tcPr marL="114300" marR="114300" marT="76200" marB="76200" anchor="t" anchorCtr="0">
                    <a:lnL w="6350" cap="flat" cmpd="sng">
                      <a:solidFill>
                        <a:srgbClr val="1F1F1F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1F1F1F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1F1F1F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1F1F1F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300">
                          <a:latin typeface="Cambria" panose="02040503050406030204"/>
                          <a:ea typeface="Cambria" panose="02040503050406030204"/>
                        </a:rPr>
                        <a:t>Conducted competitive benchmarking of the Aquagen1 dashboard against global ESG platforms.</a:t>
                      </a:r>
                      <a:endParaRPr sz="1300">
                        <a:latin typeface="Cambria" panose="02040503050406030204"/>
                        <a:ea typeface="Cambria" panose="02040503050406030204"/>
                      </a:endParaRPr>
                    </a:p>
                  </a:txBody>
                  <a:tcPr marL="114300" marR="114300" marT="76200" marB="76200" anchor="t" anchorCtr="0">
                    <a:lnL w="6350" cap="flat" cmpd="sng">
                      <a:solidFill>
                        <a:srgbClr val="1F1F1F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1F1F1F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1F1F1F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1F1F1F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49580"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300">
                          <a:latin typeface="Cambria" panose="02040503050406030204"/>
                          <a:ea typeface="Cambria" panose="02040503050406030204"/>
                        </a:rPr>
                        <a:t>2</a:t>
                      </a:r>
                      <a:endParaRPr sz="1300">
                        <a:latin typeface="Cambria" panose="02040503050406030204"/>
                        <a:ea typeface="Cambria" panose="02040503050406030204"/>
                      </a:endParaRPr>
                    </a:p>
                  </a:txBody>
                  <a:tcPr marL="114300" marR="114300" marT="76200" marB="76200" anchor="t" anchorCtr="0">
                    <a:lnL w="6350" cap="flat" cmpd="sng">
                      <a:solidFill>
                        <a:srgbClr val="1F1F1F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1F1F1F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1F1F1F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1F1F1F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300">
                          <a:latin typeface="Cambria" panose="02040503050406030204"/>
                          <a:ea typeface="Cambria" panose="02040503050406030204"/>
                        </a:rPr>
                        <a:t>Site visit to St. Martha Hospital to validate sensor deployment infrastructure and identify wastage points.</a:t>
                      </a:r>
                      <a:endParaRPr sz="1300">
                        <a:latin typeface="Cambria" panose="02040503050406030204"/>
                        <a:ea typeface="Cambria" panose="02040503050406030204"/>
                      </a:endParaRPr>
                    </a:p>
                  </a:txBody>
                  <a:tcPr marL="114300" marR="114300" marT="76200" marB="76200" anchor="t" anchorCtr="0">
                    <a:lnL w="6350" cap="flat" cmpd="sng">
                      <a:solidFill>
                        <a:srgbClr val="1F1F1F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1F1F1F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1F1F1F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1F1F1F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49580"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300">
                          <a:latin typeface="Cambria" panose="02040503050406030204"/>
                          <a:ea typeface="Cambria" panose="02040503050406030204"/>
                        </a:rPr>
                        <a:t>3</a:t>
                      </a:r>
                      <a:endParaRPr sz="1300">
                        <a:latin typeface="Cambria" panose="02040503050406030204"/>
                        <a:ea typeface="Cambria" panose="02040503050406030204"/>
                      </a:endParaRPr>
                    </a:p>
                  </a:txBody>
                  <a:tcPr marL="114300" marR="114300" marT="76200" marB="76200" anchor="t" anchorCtr="0">
                    <a:lnL w="6350" cap="flat" cmpd="sng">
                      <a:solidFill>
                        <a:srgbClr val="1F1F1F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1F1F1F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1F1F1F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1F1F1F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300">
                          <a:latin typeface="Cambria" panose="02040503050406030204"/>
                          <a:ea typeface="Cambria" panose="02040503050406030204"/>
                        </a:rPr>
                        <a:t>Deep-dive data analysis for industrial client (AL Tasnim); Drafted initial requirements for "Savings" feature.</a:t>
                      </a:r>
                      <a:endParaRPr sz="1300">
                        <a:latin typeface="Cambria" panose="02040503050406030204"/>
                        <a:ea typeface="Cambria" panose="02040503050406030204"/>
                      </a:endParaRPr>
                    </a:p>
                  </a:txBody>
                  <a:tcPr marL="114300" marR="114300" marT="76200" marB="76200" anchor="t" anchorCtr="0">
                    <a:lnL w="6350" cap="flat" cmpd="sng">
                      <a:solidFill>
                        <a:srgbClr val="1F1F1F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1F1F1F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1F1F1F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1F1F1F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49580"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300">
                          <a:latin typeface="Cambria" panose="02040503050406030204"/>
                          <a:ea typeface="Cambria" panose="02040503050406030204"/>
                        </a:rPr>
                        <a:t>4</a:t>
                      </a:r>
                      <a:endParaRPr sz="1300">
                        <a:latin typeface="Cambria" panose="02040503050406030204"/>
                        <a:ea typeface="Cambria" panose="02040503050406030204"/>
                      </a:endParaRPr>
                    </a:p>
                  </a:txBody>
                  <a:tcPr marL="114300" marR="114300" marT="76200" marB="76200" anchor="t" anchorCtr="0">
                    <a:lnL w="6350" cap="flat" cmpd="sng">
                      <a:solidFill>
                        <a:srgbClr val="1F1F1F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1F1F1F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1F1F1F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1F1F1F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300">
                          <a:latin typeface="Cambria" panose="02040503050406030204"/>
                          <a:ea typeface="Cambria" panose="02040503050406030204"/>
                        </a:rPr>
                        <a:t>Qualitative analysis of customer interviews (Mahindra/Ashok Leyland) to define user pain points.</a:t>
                      </a:r>
                      <a:endParaRPr sz="1300">
                        <a:latin typeface="Cambria" panose="02040503050406030204"/>
                        <a:ea typeface="Cambria" panose="02040503050406030204"/>
                      </a:endParaRPr>
                    </a:p>
                  </a:txBody>
                  <a:tcPr marL="114300" marR="114300" marT="76200" marB="76200" anchor="t" anchorCtr="0">
                    <a:lnL w="6350" cap="flat" cmpd="sng">
                      <a:solidFill>
                        <a:srgbClr val="1F1F1F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1F1F1F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1F1F1F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1F1F1F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49580"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300">
                          <a:latin typeface="Cambria" panose="02040503050406030204"/>
                          <a:ea typeface="Cambria" panose="02040503050406030204"/>
                        </a:rPr>
                        <a:t>5</a:t>
                      </a:r>
                      <a:endParaRPr sz="1300">
                        <a:latin typeface="Cambria" panose="02040503050406030204"/>
                        <a:ea typeface="Cambria" panose="02040503050406030204"/>
                      </a:endParaRPr>
                    </a:p>
                  </a:txBody>
                  <a:tcPr marL="114300" marR="114300" marT="76200" marB="76200" anchor="t" anchorCtr="0">
                    <a:lnL w="6350" cap="flat" cmpd="sng">
                      <a:solidFill>
                        <a:srgbClr val="1F1F1F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1F1F1F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1F1F1F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1F1F1F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300">
                          <a:latin typeface="Cambria" panose="02040503050406030204"/>
                          <a:ea typeface="Cambria" panose="02040503050406030204"/>
                        </a:rPr>
                        <a:t>Translated qualitative data into actionable User Stories; Initiated direct management clients.</a:t>
                      </a:r>
                      <a:endParaRPr sz="1300">
                        <a:latin typeface="Cambria" panose="02040503050406030204"/>
                        <a:ea typeface="Cambria" panose="02040503050406030204"/>
                      </a:endParaRPr>
                    </a:p>
                  </a:txBody>
                  <a:tcPr marL="114300" marR="114300" marT="76200" marB="76200" anchor="t" anchorCtr="0">
                    <a:lnL w="6350" cap="flat" cmpd="sng">
                      <a:solidFill>
                        <a:srgbClr val="1F1F1F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1F1F1F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1F1F1F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1F1F1F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49580"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300">
                          <a:latin typeface="Cambria" panose="02040503050406030204"/>
                          <a:ea typeface="Cambria" panose="02040503050406030204"/>
                        </a:rPr>
                        <a:t>6</a:t>
                      </a:r>
                      <a:endParaRPr sz="1300">
                        <a:latin typeface="Cambria" panose="02040503050406030204"/>
                        <a:ea typeface="Cambria" panose="02040503050406030204"/>
                      </a:endParaRPr>
                    </a:p>
                  </a:txBody>
                  <a:tcPr marL="114300" marR="114300" marT="76200" marB="76200" anchor="t" anchorCtr="0">
                    <a:lnL w="6350" cap="flat" cmpd="sng">
                      <a:solidFill>
                        <a:srgbClr val="1F1F1F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1F1F1F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1F1F1F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1F1F1F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300">
                          <a:latin typeface="Cambria" panose="02040503050406030204"/>
                          <a:ea typeface="Cambria" panose="02040503050406030204"/>
                        </a:rPr>
                        <a:t>Managed healthcare accounts; Authored strategic presentation on Remote Sensing &amp; ASV collaboration.</a:t>
                      </a:r>
                      <a:endParaRPr sz="1300">
                        <a:latin typeface="Cambria" panose="02040503050406030204"/>
                        <a:ea typeface="Cambria" panose="02040503050406030204"/>
                      </a:endParaRPr>
                    </a:p>
                  </a:txBody>
                  <a:tcPr marL="114300" marR="114300" marT="76200" marB="76200" anchor="t" anchorCtr="0">
                    <a:lnL w="6350" cap="flat" cmpd="sng">
                      <a:solidFill>
                        <a:srgbClr val="1F1F1F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1F1F1F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1F1F1F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1F1F1F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49580"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300">
                          <a:latin typeface="Cambria" panose="02040503050406030204"/>
                          <a:ea typeface="Cambria" panose="02040503050406030204"/>
                        </a:rPr>
                        <a:t>7</a:t>
                      </a:r>
                      <a:endParaRPr sz="1300">
                        <a:latin typeface="Cambria" panose="02040503050406030204"/>
                        <a:ea typeface="Cambria" panose="02040503050406030204"/>
                      </a:endParaRPr>
                    </a:p>
                  </a:txBody>
                  <a:tcPr marL="114300" marR="114300" marT="76200" marB="76200" anchor="t" anchorCtr="0">
                    <a:lnL w="6350" cap="flat" cmpd="sng">
                      <a:solidFill>
                        <a:srgbClr val="1F1F1F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1F1F1F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1F1F1F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1F1F1F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300">
                          <a:latin typeface="Cambria" panose="02040503050406030204"/>
                          <a:ea typeface="Cambria" panose="02040503050406030204"/>
                        </a:rPr>
                        <a:t>Research on scaling water intelligence to the Suvarnamukhi Catchment; Evaluation of industrial evaporators.</a:t>
                      </a:r>
                      <a:endParaRPr sz="1300">
                        <a:latin typeface="Cambria" panose="02040503050406030204"/>
                        <a:ea typeface="Cambria" panose="02040503050406030204"/>
                      </a:endParaRPr>
                    </a:p>
                  </a:txBody>
                  <a:tcPr marL="114300" marR="114300" marT="76200" marB="76200" anchor="t" anchorCtr="0">
                    <a:lnL w="6350" cap="flat" cmpd="sng">
                      <a:solidFill>
                        <a:srgbClr val="1F1F1F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1F1F1F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1F1F1F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1F1F1F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49580"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300">
                          <a:latin typeface="Cambria" panose="02040503050406030204"/>
                          <a:ea typeface="Cambria" panose="02040503050406030204"/>
                        </a:rPr>
                        <a:t>8</a:t>
                      </a:r>
                      <a:endParaRPr sz="1300">
                        <a:latin typeface="Cambria" panose="02040503050406030204"/>
                        <a:ea typeface="Cambria" panose="02040503050406030204"/>
                      </a:endParaRPr>
                    </a:p>
                  </a:txBody>
                  <a:tcPr marL="114300" marR="114300" marT="76200" marB="76200" anchor="t" anchorCtr="0">
                    <a:lnL w="6350" cap="flat" cmpd="sng">
                      <a:solidFill>
                        <a:srgbClr val="1F1F1F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1F1F1F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1F1F1F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1F1F1F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300">
                          <a:latin typeface="Cambria" panose="02040503050406030204"/>
                          <a:ea typeface="Cambria" panose="02040503050406030204"/>
                        </a:rPr>
                        <a:t>Technical comparative analysis of Electromagnetic vs. Ultrasonic Flow Meters.</a:t>
                      </a:r>
                      <a:endParaRPr sz="1300">
                        <a:latin typeface="Cambria" panose="02040503050406030204"/>
                        <a:ea typeface="Cambria" panose="02040503050406030204"/>
                      </a:endParaRPr>
                    </a:p>
                  </a:txBody>
                  <a:tcPr marL="114300" marR="114300" marT="76200" marB="76200" anchor="t" anchorCtr="0">
                    <a:lnL w="6350" cap="flat" cmpd="sng">
                      <a:solidFill>
                        <a:srgbClr val="1F1F1F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1F1F1F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1F1F1F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1F1F1F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49580"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300">
                          <a:latin typeface="Cambria" panose="02040503050406030204"/>
                          <a:ea typeface="Cambria" panose="02040503050406030204"/>
                        </a:rPr>
                        <a:t>9</a:t>
                      </a:r>
                      <a:endParaRPr sz="1300">
                        <a:latin typeface="Cambria" panose="02040503050406030204"/>
                        <a:ea typeface="Cambria" panose="02040503050406030204"/>
                      </a:endParaRPr>
                    </a:p>
                  </a:txBody>
                  <a:tcPr marL="114300" marR="114300" marT="76200" marB="76200" anchor="t" anchorCtr="0">
                    <a:lnL w="6350" cap="flat" cmpd="sng">
                      <a:solidFill>
                        <a:srgbClr val="1F1F1F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1F1F1F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1F1F1F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1F1F1F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300">
                          <a:latin typeface="Cambria" panose="02040503050406030204"/>
                          <a:ea typeface="Cambria" panose="02040503050406030204"/>
                        </a:rPr>
                        <a:t>Scoped the state-machine logic for Offline Data Storage to address network instability.</a:t>
                      </a:r>
                      <a:endParaRPr sz="1300">
                        <a:latin typeface="Cambria" panose="02040503050406030204"/>
                        <a:ea typeface="Cambria" panose="02040503050406030204"/>
                      </a:endParaRPr>
                    </a:p>
                  </a:txBody>
                  <a:tcPr marL="114300" marR="114300" marT="76200" marB="76200" anchor="t" anchorCtr="0">
                    <a:lnL w="6350" cap="flat" cmpd="sng">
                      <a:solidFill>
                        <a:srgbClr val="1F1F1F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1F1F1F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1F1F1F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1F1F1F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49580"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300">
                          <a:latin typeface="Cambria" panose="02040503050406030204"/>
                          <a:ea typeface="Cambria" panose="02040503050406030204"/>
                        </a:rPr>
                        <a:t>10</a:t>
                      </a:r>
                      <a:endParaRPr sz="1300">
                        <a:latin typeface="Cambria" panose="02040503050406030204"/>
                        <a:ea typeface="Cambria" panose="02040503050406030204"/>
                      </a:endParaRPr>
                    </a:p>
                  </a:txBody>
                  <a:tcPr marL="114300" marR="114300" marT="76200" marB="76200" anchor="t" anchorCtr="0">
                    <a:lnL w="6350" cap="flat" cmpd="sng">
                      <a:solidFill>
                        <a:srgbClr val="1F1F1F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1F1F1F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1F1F1F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1F1F1F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300">
                          <a:latin typeface="Cambria" panose="02040503050406030204"/>
                          <a:ea typeface="Cambria" panose="02040503050406030204"/>
                        </a:rPr>
                        <a:t>Developed backend logic for Leakage Detection and finalized the Sync Protocol.</a:t>
                      </a:r>
                      <a:endParaRPr sz="1300">
                        <a:latin typeface="Cambria" panose="02040503050406030204"/>
                        <a:ea typeface="Cambria" panose="02040503050406030204"/>
                      </a:endParaRPr>
                    </a:p>
                  </a:txBody>
                  <a:tcPr marL="114300" marR="114300" marT="76200" marB="76200" anchor="t" anchorCtr="0">
                    <a:lnL w="6350" cap="flat" cmpd="sng">
                      <a:solidFill>
                        <a:srgbClr val="1F1F1F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1F1F1F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1F1F1F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1F1F1F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49580"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300">
                          <a:latin typeface="Cambria" panose="02040503050406030204"/>
                          <a:ea typeface="Cambria" panose="02040503050406030204"/>
                        </a:rPr>
                        <a:t>11</a:t>
                      </a:r>
                      <a:endParaRPr sz="1300">
                        <a:latin typeface="Cambria" panose="02040503050406030204"/>
                        <a:ea typeface="Cambria" panose="02040503050406030204"/>
                      </a:endParaRPr>
                    </a:p>
                  </a:txBody>
                  <a:tcPr marL="114300" marR="114300" marT="76200" marB="76200" anchor="t" anchorCtr="0">
                    <a:lnL w="6350" cap="flat" cmpd="sng">
                      <a:solidFill>
                        <a:srgbClr val="1F1F1F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1F1F1F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1F1F1F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1F1F1F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300">
                          <a:latin typeface="Cambria" panose="02040503050406030204"/>
                          <a:ea typeface="Cambria" panose="02040503050406030204"/>
                        </a:rPr>
                        <a:t>Defined UX notification flows; Compiled final documentation and technical specifications.</a:t>
                      </a:r>
                      <a:endParaRPr sz="1300">
                        <a:latin typeface="Cambria" panose="02040503050406030204"/>
                        <a:ea typeface="Cambria" panose="02040503050406030204"/>
                      </a:endParaRPr>
                    </a:p>
                  </a:txBody>
                  <a:tcPr marL="114300" marR="114300" marT="76200" marB="76200" anchor="t" anchorCtr="0">
                    <a:lnL w="6350" cap="flat" cmpd="sng">
                      <a:solidFill>
                        <a:srgbClr val="1F1F1F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1F1F1F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1F1F1F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1F1F1F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>
                <a:ea typeface="Palatino" pitchFamily="2" charset="77"/>
              </a:rPr>
              <a:t>References</a:t>
            </a:r>
            <a:endParaRPr lang="en-US" dirty="0"/>
          </a:p>
        </p:txBody>
      </p:sp>
      <p:sp>
        <p:nvSpPr>
          <p:cNvPr id="4" name="Content Placeholder 2"/>
          <p:cNvSpPr txBox="1"/>
          <p:nvPr/>
        </p:nvSpPr>
        <p:spPr bwMode="auto">
          <a:xfrm>
            <a:off x="77118" y="804231"/>
            <a:ext cx="8956714" cy="5794873"/>
          </a:xfrm>
          <a:prstGeom prst="rect">
            <a:avLst/>
          </a:prstGeom>
          <a:noFill/>
          <a:ln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  <a:defRPr kumimoji="1" sz="1800">
                <a:solidFill>
                  <a:schemeClr val="tx1"/>
                </a:solidFill>
                <a:latin typeface="Helvetica" panose="020B060402020202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  <a:defRPr kumimoji="1" sz="1600">
                <a:solidFill>
                  <a:schemeClr val="tx1"/>
                </a:solidFill>
                <a:latin typeface="Helvetica" panose="020B060402020202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 sz="1600">
                <a:solidFill>
                  <a:schemeClr val="tx1"/>
                </a:solidFill>
                <a:latin typeface="Helvetica" panose="020B060402020202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4287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1600">
                <a:solidFill>
                  <a:schemeClr val="tx1"/>
                </a:solidFill>
                <a:latin typeface="Helvetica" panose="020B060402020202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7716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9pPr>
          </a:lstStyle>
          <a:p>
            <a:pPr marL="45720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chemeClr val="dk1"/>
                </a:solidFill>
                <a:latin typeface="+mn-lt"/>
                <a:ea typeface="Helvetica Neue" panose="020B0604020202020204"/>
                <a:cs typeface="+mn-lt"/>
                <a:sym typeface="Helvetica Neue" panose="020B0604020202020204"/>
              </a:rPr>
              <a:t>[1] Top 200+ Product Management Articles 2024: Essential Reads for PM Success (2024) </a:t>
            </a:r>
            <a:r>
              <a:rPr lang="en-GB" sz="1700" u="sng">
                <a:solidFill>
                  <a:schemeClr val="hlink"/>
                </a:solidFill>
                <a:latin typeface="+mn-lt"/>
                <a:ea typeface="Helvetica Neue" panose="020B0604020202020204"/>
                <a:cs typeface="+mn-lt"/>
                <a:sym typeface="Helvetica Neue" panose="020B0604020202020204"/>
                <a:hlinkClick r:id="rId1"/>
              </a:rPr>
              <a:t>https://olvy.co/top-pm-articles</a:t>
            </a:r>
            <a:r>
              <a:rPr lang="en-GB" sz="1700">
                <a:solidFill>
                  <a:schemeClr val="dk1"/>
                </a:solidFill>
                <a:latin typeface="+mn-lt"/>
                <a:ea typeface="Helvetica Neue" panose="020B0604020202020204"/>
                <a:cs typeface="+mn-lt"/>
                <a:sym typeface="Helvetica Neue" panose="020B0604020202020204"/>
              </a:rPr>
              <a:t> </a:t>
            </a:r>
            <a:endParaRPr sz="1700">
              <a:solidFill>
                <a:schemeClr val="dk1"/>
              </a:solidFill>
              <a:latin typeface="+mn-lt"/>
              <a:ea typeface="Helvetica Neue" panose="020B0604020202020204"/>
              <a:cs typeface="+mn-lt"/>
              <a:sym typeface="Helvetica Neue" panose="020B0604020202020204"/>
            </a:endParaRPr>
          </a:p>
          <a:p>
            <a:pPr marL="457200" lvl="0" indent="0" algn="l" rtl="0">
              <a:lnSpc>
                <a:spcPct val="150000"/>
              </a:lnSpc>
              <a:spcBef>
                <a:spcPts val="49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chemeClr val="dk1"/>
                </a:solidFill>
                <a:latin typeface="+mn-lt"/>
                <a:ea typeface="Helvetica Neue" panose="020B0604020202020204"/>
                <a:cs typeface="+mn-lt"/>
                <a:sym typeface="Helvetica Neue" panose="020B0604020202020204"/>
              </a:rPr>
              <a:t>[2] Product Analytics in 2024: Ultimate Guide - TechMagic (2024) </a:t>
            </a:r>
            <a:r>
              <a:rPr lang="en-GB" sz="1700" u="sng">
                <a:solidFill>
                  <a:schemeClr val="hlink"/>
                </a:solidFill>
                <a:latin typeface="+mn-lt"/>
                <a:ea typeface="Helvetica Neue" panose="020B0604020202020204"/>
                <a:cs typeface="+mn-lt"/>
                <a:sym typeface="Helvetica Neue" panose="020B0604020202020204"/>
                <a:hlinkClick r:id="rId2"/>
              </a:rPr>
              <a:t>https://www.techmagic.co/blog/product-analytics-guide</a:t>
            </a:r>
            <a:r>
              <a:rPr lang="en-GB" sz="1700">
                <a:solidFill>
                  <a:schemeClr val="dk1"/>
                </a:solidFill>
                <a:latin typeface="+mn-lt"/>
                <a:ea typeface="Helvetica Neue" panose="020B0604020202020204"/>
                <a:cs typeface="+mn-lt"/>
                <a:sym typeface="Helvetica Neue" panose="020B0604020202020204"/>
              </a:rPr>
              <a:t> </a:t>
            </a:r>
            <a:endParaRPr sz="1700">
              <a:solidFill>
                <a:schemeClr val="dk1"/>
              </a:solidFill>
              <a:latin typeface="+mn-lt"/>
              <a:ea typeface="Helvetica Neue" panose="020B0604020202020204"/>
              <a:cs typeface="+mn-lt"/>
              <a:sym typeface="Helvetica Neue" panose="020B0604020202020204"/>
            </a:endParaRPr>
          </a:p>
          <a:p>
            <a:pPr marL="457200" lvl="0" indent="0" algn="l" rtl="0">
              <a:lnSpc>
                <a:spcPct val="150000"/>
              </a:lnSpc>
              <a:spcBef>
                <a:spcPts val="49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chemeClr val="dk1"/>
                </a:solidFill>
                <a:latin typeface="+mn-lt"/>
                <a:ea typeface="Helvetica Neue" panose="020B0604020202020204"/>
                <a:cs typeface="+mn-lt"/>
                <a:sym typeface="Helvetica Neue" panose="020B0604020202020204"/>
              </a:rPr>
              <a:t>[3] 20 Customer Service Tips You Need to Succeed in 2024 - Invoca (2024) </a:t>
            </a:r>
            <a:r>
              <a:rPr lang="en-GB" sz="1700" u="sng">
                <a:solidFill>
                  <a:schemeClr val="hlink"/>
                </a:solidFill>
                <a:latin typeface="+mn-lt"/>
                <a:ea typeface="Helvetica Neue" panose="020B0604020202020204"/>
                <a:cs typeface="+mn-lt"/>
                <a:sym typeface="Helvetica Neue" panose="020B0604020202020204"/>
                <a:hlinkClick r:id="rId3"/>
              </a:rPr>
              <a:t>https://www.invoca.com/blog/customer-service-tips-succeed</a:t>
            </a:r>
            <a:r>
              <a:rPr lang="en-GB" sz="1700">
                <a:solidFill>
                  <a:schemeClr val="dk1"/>
                </a:solidFill>
                <a:latin typeface="+mn-lt"/>
                <a:ea typeface="Helvetica Neue" panose="020B0604020202020204"/>
                <a:cs typeface="+mn-lt"/>
                <a:sym typeface="Helvetica Neue" panose="020B0604020202020204"/>
              </a:rPr>
              <a:t> </a:t>
            </a:r>
            <a:endParaRPr sz="1700">
              <a:solidFill>
                <a:schemeClr val="dk1"/>
              </a:solidFill>
              <a:latin typeface="+mn-lt"/>
              <a:ea typeface="Helvetica Neue" panose="020B0604020202020204"/>
              <a:cs typeface="+mn-lt"/>
              <a:sym typeface="Helvetica Neue" panose="020B0604020202020204"/>
            </a:endParaRPr>
          </a:p>
          <a:p>
            <a:pPr marL="457200" lvl="0" indent="0" algn="l" rtl="0">
              <a:lnSpc>
                <a:spcPct val="150000"/>
              </a:lnSpc>
              <a:spcBef>
                <a:spcPts val="49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chemeClr val="dk1"/>
                </a:solidFill>
                <a:latin typeface="+mn-lt"/>
                <a:ea typeface="Helvetica Neue" panose="020B0604020202020204"/>
                <a:cs typeface="+mn-lt"/>
                <a:sym typeface="Helvetica Neue" panose="020B0604020202020204"/>
              </a:rPr>
              <a:t>[4] Material Design 3 - Google's latest open source design system (2021) </a:t>
            </a:r>
            <a:r>
              <a:rPr lang="en-GB" sz="1700" u="sng">
                <a:solidFill>
                  <a:schemeClr val="hlink"/>
                </a:solidFill>
                <a:latin typeface="+mn-lt"/>
                <a:ea typeface="Helvetica Neue" panose="020B0604020202020204"/>
                <a:cs typeface="+mn-lt"/>
                <a:sym typeface="Helvetica Neue" panose="020B0604020202020204"/>
                <a:hlinkClick r:id="rId4"/>
              </a:rPr>
              <a:t>https://m3.material.io/</a:t>
            </a:r>
            <a:r>
              <a:rPr lang="en-GB" sz="1700">
                <a:solidFill>
                  <a:schemeClr val="dk1"/>
                </a:solidFill>
                <a:latin typeface="+mn-lt"/>
                <a:ea typeface="Helvetica Neue" panose="020B0604020202020204"/>
                <a:cs typeface="+mn-lt"/>
                <a:sym typeface="Helvetica Neue" panose="020B0604020202020204"/>
              </a:rPr>
              <a:t> </a:t>
            </a:r>
            <a:endParaRPr sz="1700">
              <a:solidFill>
                <a:schemeClr val="dk1"/>
              </a:solidFill>
              <a:latin typeface="+mn-lt"/>
              <a:ea typeface="Helvetica Neue" panose="020B0604020202020204"/>
              <a:cs typeface="+mn-lt"/>
              <a:sym typeface="Helvetica Neue" panose="020B0604020202020204"/>
            </a:endParaRPr>
          </a:p>
          <a:p>
            <a:pPr marL="457200" lvl="0" indent="0" algn="just" rtl="0">
              <a:lnSpc>
                <a:spcPct val="150000"/>
              </a:lnSpc>
              <a:spcBef>
                <a:spcPts val="49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1700">
                <a:solidFill>
                  <a:schemeClr val="dk1"/>
                </a:solidFill>
                <a:latin typeface="+mn-lt"/>
                <a:ea typeface="Helvetica Neue" panose="020B0604020202020204"/>
                <a:cs typeface="+mn-lt"/>
                <a:sym typeface="Helvetica Neue" panose="020B0604020202020204"/>
              </a:rPr>
              <a:t>[5] The Ultimate Guide to User Interviews (2024) </a:t>
            </a:r>
            <a:r>
              <a:rPr lang="en-GB" sz="1700" u="sng">
                <a:solidFill>
                  <a:schemeClr val="hlink"/>
                </a:solidFill>
                <a:latin typeface="+mn-lt"/>
                <a:ea typeface="Helvetica Neue" panose="020B0604020202020204"/>
                <a:cs typeface="+mn-lt"/>
                <a:sym typeface="Helvetica Neue" panose="020B0604020202020204"/>
                <a:hlinkClick r:id="rId5"/>
              </a:rPr>
              <a:t>https://www.looppanel.com/blog/user-interviews</a:t>
            </a:r>
            <a:r>
              <a:rPr lang="en-GB" sz="1700">
                <a:solidFill>
                  <a:schemeClr val="dk1"/>
                </a:solidFill>
                <a:latin typeface="+mn-lt"/>
                <a:ea typeface="Helvetica Neue" panose="020B0604020202020204"/>
                <a:cs typeface="+mn-lt"/>
                <a:sym typeface="Helvetica Neue" panose="020B0604020202020204"/>
              </a:rPr>
              <a:t> </a:t>
            </a:r>
            <a:endParaRPr sz="1700">
              <a:solidFill>
                <a:schemeClr val="dk1"/>
              </a:solidFill>
              <a:latin typeface="+mn-lt"/>
              <a:ea typeface="Helvetica Neue" panose="020B0604020202020204"/>
              <a:cs typeface="+mn-lt"/>
              <a:sym typeface="Helvetica Neue" panose="020B0604020202020204"/>
            </a:endParaRPr>
          </a:p>
          <a:p>
            <a:pPr marL="457200" lvl="0" indent="0" algn="just" rtl="0">
              <a:lnSpc>
                <a:spcPct val="150000"/>
              </a:lnSpc>
              <a:spcBef>
                <a:spcPts val="49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1700">
                <a:solidFill>
                  <a:schemeClr val="dk1"/>
                </a:solidFill>
                <a:latin typeface="+mn-lt"/>
                <a:ea typeface="Helvetica Neue" panose="020B0604020202020204"/>
                <a:cs typeface="+mn-lt"/>
                <a:sym typeface="Helvetica Neue" panose="020B0604020202020204"/>
              </a:rPr>
              <a:t>[6] Lesson 1: Welcome to design systems – Figma Learn (2024) </a:t>
            </a:r>
            <a:r>
              <a:rPr lang="en-GB" sz="1700" u="sng">
                <a:solidFill>
                  <a:schemeClr val="hlink"/>
                </a:solidFill>
                <a:latin typeface="+mn-lt"/>
                <a:ea typeface="Helvetica Neue" panose="020B0604020202020204"/>
                <a:cs typeface="+mn-lt"/>
                <a:sym typeface="Helvetica Neue" panose="020B0604020202020204"/>
                <a:hlinkClick r:id="rId6"/>
              </a:rPr>
              <a:t>https://help.figma.com/hc/en-us/articles/14552802134807-Lesson-1-Welcome-to-design-systems</a:t>
            </a:r>
            <a:r>
              <a:rPr lang="en-GB" sz="1700">
                <a:solidFill>
                  <a:schemeClr val="dk1"/>
                </a:solidFill>
                <a:latin typeface="+mn-lt"/>
                <a:ea typeface="Helvetica Neue" panose="020B0604020202020204"/>
                <a:cs typeface="+mn-lt"/>
                <a:sym typeface="Helvetica Neue" panose="020B0604020202020204"/>
              </a:rPr>
              <a:t> </a:t>
            </a:r>
            <a:endParaRPr lang="en-GB" sz="1700">
              <a:solidFill>
                <a:schemeClr val="dk1"/>
              </a:solidFill>
              <a:latin typeface="+mn-lt"/>
              <a:ea typeface="Helvetica Neue" panose="020B0604020202020204"/>
              <a:cs typeface="+mn-lt"/>
              <a:sym typeface="Helvetica Neue" panose="020B0604020202020204"/>
            </a:endParaRPr>
          </a:p>
          <a:p>
            <a:pPr marL="457200" lvl="0" indent="0" algn="just" rtl="0">
              <a:lnSpc>
                <a:spcPct val="150000"/>
              </a:lnSpc>
              <a:spcBef>
                <a:spcPts val="49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lang="en-IN" sz="1700" dirty="0">
              <a:ea typeface="Palatino" pitchFamily="2" charset="77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 noChangeArrowheads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[7] A. Raimondi, R. Quinn, G. R. Abhijith, G. Becciu and A. Ostfeld, “Rainwater Harvesting and Treatment: State of the Art and Perspectives,” Water, vol. 15, no. 8, p. 1518, </a:t>
            </a:r>
            <a:r>
              <a:rPr lang="en-GB" altLang="en-US"/>
              <a:t>(</a:t>
            </a:r>
            <a:r>
              <a:rPr lang="en-US" altLang="en-US"/>
              <a:t>2023</a:t>
            </a:r>
            <a:r>
              <a:rPr lang="en-GB" altLang="en-US"/>
              <a:t>)</a:t>
            </a:r>
            <a:r>
              <a:rPr lang="en-US" altLang="en-US"/>
              <a:t>. </a:t>
            </a:r>
            <a:r>
              <a:rPr lang="en-US" altLang="en-US">
                <a:hlinkClick r:id="rId1" tooltip="" action="ppaction://hlinkfile">
                  <a:extLst>
                    <a:ext uri="{DAF060AB-1E55-43B9-8AAB-6FB025537F2F}">
                      <wpsdc:hlinkClr xmlns:wpsdc="http://www.wps.cn/officeDocument/2017/drawingmlCustomData" val="002060"/>
                      <wpsdc:folHlinkClr xmlns:wpsdc="http://www.wps.cn/officeDocument/2017/drawingmlCustomData" val="0070C0"/>
                      <wpsdc:hlinkUnderline xmlns:wpsdc="http://www.wps.cn/officeDocument/2017/drawingmlCustomData" val="1"/>
                    </a:ext>
                  </a:extLst>
                </a:hlinkClick>
              </a:rPr>
              <a:t>https://doi.org/10.3390/w15081518</a:t>
            </a:r>
            <a:endParaRPr lang="en-US" altLang="en-US"/>
          </a:p>
          <a:p>
            <a:r>
              <a:rPr lang="en-US" altLang="en-US"/>
              <a:t>[8] H. Y. Teh, A. W. Kempa-Liehr and K. I.-K. Wang, “Sensor data quality: a systematic review,” Journal of Big Data, vol. 7, art. no. 11, </a:t>
            </a:r>
            <a:r>
              <a:rPr lang="en-GB" altLang="en-US"/>
              <a:t>(</a:t>
            </a:r>
            <a:r>
              <a:rPr lang="en-US" altLang="en-US"/>
              <a:t>2020</a:t>
            </a:r>
            <a:r>
              <a:rPr lang="en-GB" altLang="en-US"/>
              <a:t>)</a:t>
            </a:r>
            <a:r>
              <a:rPr lang="en-US" altLang="en-US"/>
              <a:t>. </a:t>
            </a:r>
            <a:r>
              <a:rPr lang="en-US" altLang="en-US">
                <a:hlinkClick r:id="rId2" tooltip="" action="ppaction://hlinkfile">
                  <a:extLst>
                    <a:ext uri="{DAF060AB-1E55-43B9-8AAB-6FB025537F2F}">
                      <wpsdc:hlinkClr xmlns:wpsdc="http://www.wps.cn/officeDocument/2017/drawingmlCustomData" val="002060"/>
                      <wpsdc:folHlinkClr xmlns:wpsdc="http://www.wps.cn/officeDocument/2017/drawingmlCustomData" val="0070C0"/>
                      <wpsdc:hlinkUnderline xmlns:wpsdc="http://www.wps.cn/officeDocument/2017/drawingmlCustomData" val="1"/>
                    </a:ext>
                  </a:extLst>
                </a:hlinkClick>
              </a:rPr>
              <a:t>https://doi.org/10.1186/s40537-020-0285-1</a:t>
            </a:r>
            <a:endParaRPr lang="en-US" alt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 txBox="1"/>
          <p:nvPr/>
        </p:nvSpPr>
        <p:spPr bwMode="auto">
          <a:xfrm>
            <a:off x="77118" y="804231"/>
            <a:ext cx="8956714" cy="5960125"/>
          </a:xfrm>
          <a:prstGeom prst="rect">
            <a:avLst/>
          </a:prstGeom>
          <a:noFill/>
          <a:ln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  <a:defRPr kumimoji="1" sz="1800">
                <a:solidFill>
                  <a:schemeClr val="tx1"/>
                </a:solidFill>
                <a:latin typeface="Helvetica" panose="020B060402020202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  <a:defRPr kumimoji="1" sz="1600">
                <a:solidFill>
                  <a:schemeClr val="tx1"/>
                </a:solidFill>
                <a:latin typeface="Helvetica" panose="020B060402020202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 sz="1600">
                <a:solidFill>
                  <a:schemeClr val="tx1"/>
                </a:solidFill>
                <a:latin typeface="Helvetica" panose="020B060402020202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4287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1600">
                <a:solidFill>
                  <a:schemeClr val="tx1"/>
                </a:solidFill>
                <a:latin typeface="Helvetica" panose="020B060402020202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7716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9pPr>
          </a:lstStyle>
          <a:p>
            <a:pPr marL="95250" indent="0" algn="just">
              <a:lnSpc>
                <a:spcPct val="150000"/>
              </a:lnSpc>
              <a:buNone/>
            </a:pPr>
            <a:endParaRPr lang="en-IN" sz="1400" dirty="0">
              <a:ea typeface="Palatino" pitchFamily="2" charset="77"/>
            </a:endParaRPr>
          </a:p>
          <a:p>
            <a:pPr marL="95250" indent="0" algn="just">
              <a:lnSpc>
                <a:spcPct val="150000"/>
              </a:lnSpc>
              <a:buNone/>
            </a:pPr>
            <a:endParaRPr lang="en-IN" sz="1400" dirty="0">
              <a:ea typeface="Palatino" pitchFamily="2" charset="77"/>
            </a:endParaRPr>
          </a:p>
          <a:p>
            <a:pPr marL="95250" indent="0" algn="just">
              <a:lnSpc>
                <a:spcPct val="150000"/>
              </a:lnSpc>
              <a:buNone/>
            </a:pPr>
            <a:endParaRPr lang="en-IN" sz="1400" dirty="0">
              <a:ea typeface="Palatino" pitchFamily="2" charset="77"/>
            </a:endParaRPr>
          </a:p>
          <a:p>
            <a:pPr marL="95250" indent="0" algn="just">
              <a:lnSpc>
                <a:spcPct val="150000"/>
              </a:lnSpc>
              <a:buNone/>
            </a:pPr>
            <a:endParaRPr lang="en-IN" sz="1400" dirty="0">
              <a:ea typeface="Palatino" pitchFamily="2" charset="77"/>
            </a:endParaRPr>
          </a:p>
          <a:p>
            <a:pPr marL="95250" indent="0" algn="just">
              <a:lnSpc>
                <a:spcPct val="150000"/>
              </a:lnSpc>
              <a:buNone/>
            </a:pPr>
            <a:endParaRPr lang="en-IN" sz="1400" dirty="0">
              <a:ea typeface="Palatino" pitchFamily="2" charset="77"/>
            </a:endParaRPr>
          </a:p>
          <a:p>
            <a:pPr marL="95250" indent="0" algn="ctr">
              <a:lnSpc>
                <a:spcPct val="150000"/>
              </a:lnSpc>
              <a:buNone/>
            </a:pPr>
            <a:endParaRPr lang="en-IN" sz="2000" b="1" dirty="0">
              <a:ea typeface="Palatino" pitchFamily="2" charset="77"/>
            </a:endParaRPr>
          </a:p>
          <a:p>
            <a:pPr marL="95250" indent="0" algn="ctr">
              <a:lnSpc>
                <a:spcPct val="150000"/>
              </a:lnSpc>
              <a:buNone/>
            </a:pPr>
            <a:r>
              <a:rPr lang="en-IN" sz="2000" b="1" dirty="0">
                <a:ea typeface="Palatino" pitchFamily="2" charset="77"/>
              </a:rPr>
              <a:t>Thanks</a:t>
            </a:r>
            <a:r>
              <a:rPr lang="en-IN" sz="1400" dirty="0">
                <a:ea typeface="Palatino" pitchFamily="2" charset="77"/>
              </a:rPr>
              <a:t>.</a:t>
            </a:r>
            <a:endParaRPr lang="en-IN" sz="1400" dirty="0">
              <a:ea typeface="Palatino" pitchFamily="2" charset="77"/>
            </a:endParaRPr>
          </a:p>
        </p:txBody>
      </p:sp>
      <p:pic>
        <p:nvPicPr>
          <p:cNvPr id="1034" name="Picture 10" descr="🙏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9164" y="2663328"/>
            <a:ext cx="765672" cy="7656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702*251"/>
  <p:tag name="TABLE_ENDDRAG_RECT" val="8*69*702*251"/>
</p:tagLst>
</file>

<file path=ppt/tags/tag2.xml><?xml version="1.0" encoding="utf-8"?>
<p:tagLst xmlns:p="http://schemas.openxmlformats.org/presentationml/2006/main">
  <p:tag name="TABLE_ENDDRAG_ORIGIN_RECT" val="706*434"/>
  <p:tag name="TABLE_ENDDRAG_RECT" val="8*69*706*434"/>
</p:tagLst>
</file>

<file path=ppt/tags/tag3.xml><?xml version="1.0" encoding="utf-8"?>
<p:tagLst xmlns:p="http://schemas.openxmlformats.org/presentationml/2006/main">
  <p:tag name="TABLE_ENDDRAG_ORIGIN_RECT" val="705*424"/>
  <p:tag name="TABLE_ENDDRAG_RECT" val="6*57*705*424"/>
</p:tagLst>
</file>

<file path=ppt/tags/tag4.xml><?xml version="1.0" encoding="utf-8"?>
<p:tagLst xmlns:p="http://schemas.openxmlformats.org/presentationml/2006/main">
  <p:tag name="MMPROD_NEXTUNIQUEID" val="10009"/>
  <p:tag name="MMPROD_UIDATA" val="&lt;database version=&quot;11.0&quot;&gt;&lt;object type=&quot;1&quot; unique_id=&quot;10001&quot;&gt;&lt;object type=&quot;2&quot; unique_id=&quot;10316&quot;&gt;&lt;object type=&quot;3&quot; unique_id=&quot;10317&quot;&gt;&lt;property id=&quot;20148&quot; value=&quot;5&quot;/&gt;&lt;property id=&quot;20300&quot; value=&quot;Slide 1 - &amp;quot;A Novel Framework for Analysis of Big Data&amp;quot;&quot;/&gt;&lt;property id=&quot;20307&quot; value=&quot;325&quot;/&gt;&lt;/object&gt;&lt;object type=&quot;3&quot; unique_id=&quot;10325&quot;&gt;&lt;property id=&quot;20148&quot; value=&quot;5&quot;/&gt;&lt;property id=&quot;20300&quot; value=&quot;Slide 3 - &amp;quot;Introduction&amp;quot;&quot;/&gt;&lt;property id=&quot;20307&quot; value=&quot;392&quot;/&gt;&lt;/object&gt;&lt;object type=&quot;3&quot; unique_id=&quot;10327&quot;&gt;&lt;property id=&quot;20148&quot; value=&quot;5&quot;/&gt;&lt;property id=&quot;20300&quot; value=&quot;Slide 4 - &amp;quot;Introduction (cont…)&amp;quot;&quot;/&gt;&lt;property id=&quot;20307&quot; value=&quot;395&quot;/&gt;&lt;/object&gt;&lt;object type=&quot;3&quot; unique_id=&quot;10333&quot;&gt;&lt;property id=&quot;20148&quot; value=&quot;5&quot;/&gt;&lt;property id=&quot;20300&quot; value=&quot;Slide 5 - &amp;quot;Big Data – A Definition&amp;quot;&quot;/&gt;&lt;property id=&quot;20307&quot; value=&quot;386&quot;/&gt;&lt;/object&gt;&lt;object type=&quot;3&quot; unique_id=&quot;10334&quot;&gt;&lt;property id=&quot;20148&quot; value=&quot;5&quot;/&gt;&lt;property id=&quot;20300&quot; value=&quot;Slide 6 - &amp;quot;Characteristics of Big Data&amp;quot;&quot;/&gt;&lt;property id=&quot;20307&quot; value=&quot;355&quot;/&gt;&lt;/object&gt;&lt;object type=&quot;3&quot; unique_id=&quot;10339&quot;&gt;&lt;property id=&quot;20148&quot; value=&quot;5&quot;/&gt;&lt;property id=&quot;20300&quot; value=&quot;Slide 7 - &amp;quot;Big Data Analytics&amp;quot;&quot;/&gt;&lt;property id=&quot;20307&quot; value=&quot;387&quot;/&gt;&lt;/object&gt;&lt;object type=&quot;3&quot; unique_id=&quot;10369&quot;&gt;&lt;property id=&quot;20148&quot; value=&quot;5&quot;/&gt;&lt;property id=&quot;20300&quot; value=&quot;Slide 8 - &amp;quot;List of Development Tools&amp;quot;&quot;/&gt;&lt;property id=&quot;20307&quot; value=&quot;505&quot;/&gt;&lt;/object&gt;&lt;object type=&quot;3&quot; unique_id=&quot;10371&quot;&gt;&lt;property id=&quot;20148&quot; value=&quot;5&quot;/&gt;&lt;property id=&quot;20300&quot; value=&quot;Slide 11 - &amp;quot;Malware Classification: A Case Study&amp;quot;&quot;/&gt;&lt;property id=&quot;20307&quot; value=&quot;514&quot;/&gt;&lt;/object&gt;&lt;object type=&quot;3&quot; unique_id=&quot;10372&quot;&gt;&lt;property id=&quot;20148&quot; value=&quot;5&quot;/&gt;&lt;property id=&quot;20300&quot; value=&quot;Slide 55&quot;/&gt;&lt;property id=&quot;20307&quot; value=&quot;452&quot;/&gt;&lt;/object&gt;&lt;object type=&quot;3&quot; unique_id=&quot;11475&quot;&gt;&lt;property id=&quot;20148&quot; value=&quot;5&quot;/&gt;&lt;property id=&quot;20300&quot; value=&quot;Slide 2 - &amp;quot;Outline&amp;quot;&quot;/&gt;&lt;property id=&quot;20307&quot; value=&quot;516&quot;/&gt;&lt;/object&gt;&lt;object type=&quot;3&quot; unique_id=&quot;11477&quot;&gt;&lt;property id=&quot;20148&quot; value=&quot;5&quot;/&gt;&lt;property id=&quot;20300&quot; value=&quot;Slide 21 - &amp;quot;Research Gaps&amp;quot;&quot;/&gt;&lt;property id=&quot;20307&quot; value=&quot;517&quot;/&gt;&lt;/object&gt;&lt;object type=&quot;3&quot; unique_id=&quot;11478&quot;&gt;&lt;property id=&quot;20148&quot; value=&quot;5&quot;/&gt;&lt;property id=&quot;20300&quot; value=&quot;Slide 22 - &amp;quot;Research Gaps (Cont…)&amp;quot;&quot;/&gt;&lt;property id=&quot;20307&quot; value=&quot;528&quot;/&gt;&lt;/object&gt;&lt;object type=&quot;3&quot; unique_id=&quot;11479&quot;&gt;&lt;property id=&quot;20148&quot; value=&quot;5&quot;/&gt;&lt;property id=&quot;20300&quot; value=&quot;Slide 23 - &amp;quot;Problem Definition&amp;quot;&quot;/&gt;&lt;property id=&quot;20307&quot; value=&quot;519&quot;/&gt;&lt;/object&gt;&lt;object type=&quot;3&quot; unique_id=&quot;11480&quot;&gt;&lt;property id=&quot;20148&quot; value=&quot;5&quot;/&gt;&lt;property id=&quot;20300&quot; value=&quot;Slide 24 - &amp;quot;Research Objectives&amp;quot;&quot;/&gt;&lt;property id=&quot;20307&quot; value=&quot;518&quot;/&gt;&lt;/object&gt;&lt;object type=&quot;3&quot; unique_id=&quot;11481&quot;&gt;&lt;property id=&quot;20148&quot; value=&quot;5&quot;/&gt;&lt;property id=&quot;20300&quot; value=&quot;Slide 25 - &amp;quot;Research Objectives 1&amp;quot;&quot;/&gt;&lt;property id=&quot;20307&quot; value=&quot;520&quot;/&gt;&lt;/object&gt;&lt;object type=&quot;3&quot; unique_id=&quot;11482&quot;&gt;&lt;property id=&quot;20148&quot; value=&quot;5&quot;/&gt;&lt;property id=&quot;20300&quot; value=&quot;Slide 26 - &amp;quot;Research Objectives 2&amp;quot;&quot;/&gt;&lt;property id=&quot;20307&quot; value=&quot;530&quot;/&gt;&lt;/object&gt;&lt;object type=&quot;3&quot; unique_id=&quot;11483&quot;&gt;&lt;property id=&quot;20148&quot; value=&quot;5&quot;/&gt;&lt;property id=&quot;20300&quot; value=&quot;Slide 27 - &amp;quot;Research Objectives 3&amp;quot;&quot;/&gt;&lt;property id=&quot;20307&quot; value=&quot;531&quot;/&gt;&lt;/object&gt;&lt;object type=&quot;3&quot; unique_id=&quot;11484&quot;&gt;&lt;property id=&quot;20148&quot; value=&quot;5&quot;/&gt;&lt;property id=&quot;20300&quot; value=&quot;Slide 28 - &amp;quot;Architecture for Big Data Analytics&amp;quot;&quot;/&gt;&lt;property id=&quot;20307&quot; value=&quot;522&quot;/&gt;&lt;/object&gt;&lt;object type=&quot;3&quot; unique_id=&quot;11485&quot;&gt;&lt;property id=&quot;20148&quot; value=&quot;5&quot;/&gt;&lt;property id=&quot;20300&quot; value=&quot;Slide 50 - &amp;quot;Key Contributions&amp;quot;&quot;/&gt;&lt;property id=&quot;20307&quot; value=&quot;523&quot;/&gt;&lt;/object&gt;&lt;object type=&quot;3&quot; unique_id=&quot;11486&quot;&gt;&lt;property id=&quot;20148&quot; value=&quot;5&quot;/&gt;&lt;property id=&quot;20300&quot; value=&quot;Slide 51 - &amp;quot;Key Contributions&amp;quot;&quot;/&gt;&lt;property id=&quot;20307&quot; value=&quot;529&quot;/&gt;&lt;/object&gt;&lt;object type=&quot;3&quot; unique_id=&quot;11487&quot;&gt;&lt;property id=&quot;20148&quot; value=&quot;5&quot;/&gt;&lt;property id=&quot;20300&quot; value=&quot;Slide 52 - &amp;quot;Future Scope&amp;quot;&quot;/&gt;&lt;property id=&quot;20307&quot; value=&quot;524&quot;/&gt;&lt;/object&gt;&lt;object type=&quot;3&quot; unique_id=&quot;11488&quot;&gt;&lt;property id=&quot;20148&quot; value=&quot;5&quot;/&gt;&lt;property id=&quot;20300&quot; value=&quot;Slide 53 - &amp;quot;List of Publications&amp;quot;&quot;/&gt;&lt;property id=&quot;20307&quot; value=&quot;525&quot;/&gt;&lt;/object&gt;&lt;object type=&quot;3&quot; unique_id=&quot;11489&quot;&gt;&lt;property id=&quot;20148&quot; value=&quot;5&quot;/&gt;&lt;property id=&quot;20300&quot; value=&quot;Slide 54 - &amp;quot;References&amp;quot;&quot;/&gt;&lt;property id=&quot;20307&quot; value=&quot;526&quot;/&gt;&lt;/object&gt;&lt;object type=&quot;3&quot; unique_id=&quot;12645&quot;&gt;&lt;property id=&quot;20148&quot; value=&quot;5&quot;/&gt;&lt;property id=&quot;20300&quot; value=&quot;Slide 31&quot;/&gt;&lt;property id=&quot;20307&quot; value=&quot;533&quot;/&gt;&lt;/object&gt;&lt;object type=&quot;3&quot; unique_id=&quot;12646&quot;&gt;&lt;property id=&quot;20148&quot; value=&quot;5&quot;/&gt;&lt;property id=&quot;20300&quot; value=&quot;Slide 32&quot;/&gt;&lt;property id=&quot;20307&quot; value=&quot;534&quot;/&gt;&lt;/object&gt;&lt;object type=&quot;3&quot; unique_id=&quot;12647&quot;&gt;&lt;property id=&quot;20148&quot; value=&quot;5&quot;/&gt;&lt;property id=&quot;20300&quot; value=&quot;Slide 33&quot;/&gt;&lt;property id=&quot;20307&quot; value=&quot;535&quot;/&gt;&lt;/object&gt;&lt;object type=&quot;3&quot; unique_id=&quot;13251&quot;&gt;&lt;property id=&quot;20148&quot; value=&quot;5&quot;/&gt;&lt;property id=&quot;20300&quot; value=&quot;Slide 29 - &amp;quot;Data Preparation&amp;quot;&quot;/&gt;&lt;property id=&quot;20307&quot; value=&quot;537&quot;/&gt;&lt;/object&gt;&lt;object type=&quot;3&quot; unique_id=&quot;13252&quot;&gt;&lt;property id=&quot;20148&quot; value=&quot;5&quot;/&gt;&lt;property id=&quot;20300&quot; value=&quot;Slide 30 - &amp;quot;Functional Flow of Malware Trend Analysis&amp;quot;&quot;/&gt;&lt;property id=&quot;20307&quot; value=&quot;536&quot;/&gt;&lt;/object&gt;&lt;object type=&quot;3&quot; unique_id=&quot;13253&quot;&gt;&lt;property id=&quot;20148&quot; value=&quot;5&quot;/&gt;&lt;property id=&quot;20300&quot; value=&quot;Slide 34 - &amp;quot;Conclusion&amp;quot;&quot;/&gt;&lt;property id=&quot;20307&quot; value=&quot;538&quot;/&gt;&lt;/object&gt;&lt;object type=&quot;3&quot; unique_id=&quot;14250&quot;&gt;&lt;property id=&quot;20148&quot; value=&quot;5&quot;/&gt;&lt;property id=&quot;20300&quot; value=&quot;Slide 16 - &amp;quot;Comparison of open source big data stream processing frameworks&amp;quot;&quot;/&gt;&lt;property id=&quot;20307&quot; value=&quot;542&quot;/&gt;&lt;/object&gt;&lt;object type=&quot;3&quot; unique_id=&quot;14251&quot;&gt;&lt;property id=&quot;20148&quot; value=&quot;5&quot;/&gt;&lt;property id=&quot;20300&quot; value=&quot;Slide 17 - &amp;quot;Comparison of open source big data stream processing frameworks&amp;quot;&quot;/&gt;&lt;property id=&quot;20307&quot; value=&quot;545&quot;/&gt;&lt;/object&gt;&lt;object type=&quot;3&quot; unique_id=&quot;15004&quot;&gt;&lt;property id=&quot;20148&quot; value=&quot;5&quot;/&gt;&lt;property id=&quot;20300&quot; value=&quot;Slide 18 - &amp;quot;Malware Detection and Classification Techniques&amp;quot;&quot;/&gt;&lt;property id=&quot;20307&quot; value=&quot;548&quot;/&gt;&lt;/object&gt;&lt;object type=&quot;3&quot; unique_id=&quot;15005&quot;&gt;&lt;property id=&quot;20148&quot; value=&quot;5&quot;/&gt;&lt;property id=&quot;20300&quot; value=&quot;Slide 19 - &amp;quot;Malware Detection and Classification Techniques&amp;quot;&quot;/&gt;&lt;property id=&quot;20307&quot; value=&quot;549&quot;/&gt;&lt;/object&gt;&lt;object type=&quot;3&quot; unique_id=&quot;15006&quot;&gt;&lt;property id=&quot;20148&quot; value=&quot;5&quot;/&gt;&lt;property id=&quot;20300&quot; value=&quot;Slide 20 - &amp;quot;Malware Detection and Classification Techniques&amp;quot;&quot;/&gt;&lt;property id=&quot;20307&quot; value=&quot;550&quot;/&gt;&lt;/object&gt;&lt;object type=&quot;3&quot; unique_id=&quot;15624&quot;&gt;&lt;property id=&quot;20148&quot; value=&quot;5&quot;/&gt;&lt;property id=&quot;20300&quot; value=&quot;Slide 12 - &amp;quot;Literature Review&amp;quot;&quot;/&gt;&lt;property id=&quot;20307&quot; value=&quot;552&quot;/&gt;&lt;/object&gt;&lt;object type=&quot;3&quot; unique_id=&quot;15625&quot;&gt;&lt;property id=&quot;20148&quot; value=&quot;5&quot;/&gt;&lt;property id=&quot;20300&quot; value=&quot;Slide 13 - &amp;quot;A bibliometric study of relevant literature in academics/industry&amp;quot;&quot;/&gt;&lt;property id=&quot;20307&quot; value=&quot;553&quot;/&gt;&lt;/object&gt;&lt;object type=&quot;3&quot; unique_id=&quot;15626&quot;&gt;&lt;property id=&quot;20148&quot; value=&quot;5&quot;/&gt;&lt;property id=&quot;20300&quot; value=&quot;Slide 14 - &amp;quot;Literature Review&amp;quot;&quot;/&gt;&lt;property id=&quot;20307&quot; value=&quot;551&quot;/&gt;&lt;/object&gt;&lt;object type=&quot;3&quot; unique_id=&quot;15627&quot;&gt;&lt;property id=&quot;20148&quot; value=&quot;5&quot;/&gt;&lt;property id=&quot;20300&quot; value=&quot;Slide 15 - &amp;quot;Comparison of open source big data stream processing frameworks&amp;quot;&quot;/&gt;&lt;property id=&quot;20307&quot; value=&quot;556&quot;/&gt;&lt;/object&gt;&lt;object type=&quot;3&quot; unique_id=&quot;16029&quot;&gt;&lt;property id=&quot;20148&quot; value=&quot;5&quot;/&gt;&lt;property id=&quot;20300&quot; value=&quot;Slide 35 - &amp;quot;Big Data Framework for Zero-Day Malware Classification&amp;quot;&quot;/&gt;&lt;property id=&quot;20307&quot; value=&quot;557&quot;/&gt;&lt;/object&gt;&lt;object type=&quot;3&quot; unique_id=&quot;16030&quot;&gt;&lt;property id=&quot;20148&quot; value=&quot;5&quot;/&gt;&lt;property id=&quot;20300&quot; value=&quot;Slide 42 - &amp;quot;Improving Malware Detection using Big Data and EL&amp;quot;&quot;/&gt;&lt;property id=&quot;20307&quot; value=&quot;558&quot;/&gt;&lt;/object&gt;&lt;object type=&quot;3&quot; unique_id=&quot;16031&quot;&gt;&lt;property id=&quot;20148&quot; value=&quot;5&quot;/&gt;&lt;property id=&quot;20300&quot; value=&quot;Slide 49 - &amp;quot;Malware Classification using Big Data and Deep Neural Network&amp;quot;&quot;/&gt;&lt;property id=&quot;20307&quot; value=&quot;559&quot;/&gt;&lt;/object&gt;&lt;object type=&quot;3&quot; unique_id=&quot;16282&quot;&gt;&lt;property id=&quot;20148&quot; value=&quot;5&quot;/&gt;&lt;property id=&quot;20300&quot; value=&quot;Slide 44 - &amp;quot;Proposed Schemes&amp;quot;&quot;/&gt;&lt;property id=&quot;20307&quot; value=&quot;560&quot;/&gt;&lt;/object&gt;&lt;object type=&quot;3&quot; unique_id=&quot;16872&quot;&gt;&lt;property id=&quot;20148&quot; value=&quot;5&quot;/&gt;&lt;property id=&quot;20300&quot; value=&quot;Slide 43 - &amp;quot;Feature Vectorization&amp;quot;&quot;/&gt;&lt;property id=&quot;20307&quot; value=&quot;562&quot;/&gt;&lt;/object&gt;&lt;object type=&quot;3&quot; unique_id=&quot;16873&quot;&gt;&lt;property id=&quot;20148&quot; value=&quot;5&quot;/&gt;&lt;property id=&quot;20300&quot; value=&quot;Slide 45 - &amp;quot;Experimental Results and Evaluation&amp;quot;&quot;/&gt;&lt;property id=&quot;20307&quot; value=&quot;561&quot;/&gt;&lt;/object&gt;&lt;object type=&quot;3&quot; unique_id=&quot;16874&quot;&gt;&lt;property id=&quot;20148&quot; value=&quot;5&quot;/&gt;&lt;property id=&quot;20300&quot; value=&quot;Slide 46 - &amp;quot;Evaluation Results&amp;quot;&quot;/&gt;&lt;property id=&quot;20307&quot; value=&quot;563&quot;/&gt;&lt;/object&gt;&lt;object type=&quot;3&quot; unique_id=&quot;16875&quot;&gt;&lt;property id=&quot;20148&quot; value=&quot;5&quot;/&gt;&lt;property id=&quot;20300&quot; value=&quot;Slide 47 - &amp;quot;Evaluation Results&amp;quot;&quot;/&gt;&lt;property id=&quot;20307&quot; value=&quot;564&quot;/&gt;&lt;/object&gt;&lt;object type=&quot;3&quot; unique_id=&quot;16876&quot;&gt;&lt;property id=&quot;20148&quot; value=&quot;5&quot;/&gt;&lt;property id=&quot;20300&quot; value=&quot;Slide 48 - &amp;quot;Conclusion&amp;quot;&quot;/&gt;&lt;property id=&quot;20307&quot; value=&quot;565&quot;/&gt;&lt;/object&gt;&lt;object type=&quot;3&quot; unique_id=&quot;17661&quot;&gt;&lt;property id=&quot;20148&quot; value=&quot;5&quot;/&gt;&lt;property id=&quot;20300&quot; value=&quot;Slide 36 - &amp;quot;Data Preparation&amp;quot;&quot;/&gt;&lt;property id=&quot;20307&quot; value=&quot;566&quot;/&gt;&lt;/object&gt;&lt;object type=&quot;3&quot; unique_id=&quot;17662&quot;&gt;&lt;property id=&quot;20148&quot; value=&quot;5&quot;/&gt;&lt;property id=&quot;20300&quot; value=&quot;Slide 37 - &amp;quot;Big Data Framework for Malware Classification&amp;quot;&quot;/&gt;&lt;property id=&quot;20307&quot; value=&quot;568&quot;/&gt;&lt;/object&gt;&lt;object type=&quot;3&quot; unique_id=&quot;17663&quot;&gt;&lt;property id=&quot;20148&quot; value=&quot;5&quot;/&gt;&lt;property id=&quot;20300&quot; value=&quot;Slide 38 - &amp;quot;Feature Extraction&amp;quot;&quot;/&gt;&lt;property id=&quot;20307&quot; value=&quot;571&quot;/&gt;&lt;/object&gt;&lt;object type=&quot;3&quot; unique_id=&quot;17664&quot;&gt;&lt;property id=&quot;20148&quot; value=&quot;5&quot;/&gt;&lt;property id=&quot;20300&quot; value=&quot;Slide 39 - &amp;quot;Impact of Features on Malware Classification&amp;quot;&quot;/&gt;&lt;property id=&quot;20307&quot; value=&quot;569&quot;/&gt;&lt;/object&gt;&lt;object type=&quot;3&quot; unique_id=&quot;17665&quot;&gt;&lt;property id=&quot;20148&quot; value=&quot;5&quot;/&gt;&lt;property id=&quot;20300&quot; value=&quot;Slide 40 - &amp;quot;Experimental Results&amp;quot;&quot;/&gt;&lt;property id=&quot;20307&quot; value=&quot;570&quot;/&gt;&lt;/object&gt;&lt;object type=&quot;3&quot; unique_id=&quot;18034&quot;&gt;&lt;property id=&quot;20148&quot; value=&quot;5&quot;/&gt;&lt;property id=&quot;20300&quot; value=&quot;Slide 41 - &amp;quot;Conclusion&amp;quot;&quot;/&gt;&lt;property id=&quot;20307&quot; value=&quot;572&quot;/&gt;&lt;/object&gt;&lt;object type=&quot;3&quot; unique_id=&quot;20918&quot;&gt;&lt;property id=&quot;20148&quot; value=&quot;5&quot;/&gt;&lt;property id=&quot;20300&quot; value=&quot;Slide 9 - &amp;quot;Scalable Machine Learning Libraries&amp;quot;&quot;/&gt;&lt;property id=&quot;20307&quot; value=&quot;575&quot;/&gt;&lt;/object&gt;&lt;object type=&quot;3&quot; unique_id=&quot;20919&quot;&gt;&lt;property id=&quot;20148&quot; value=&quot;5&quot;/&gt;&lt;property id=&quot;20300&quot; value=&quot;Slide 10 - &amp;quot;High Level Conceptual Architecture of Big Data Security Analytics&amp;quot;&quot;/&gt;&lt;property id=&quot;20307&quot; value=&quot;576&quot;/&gt;&lt;/object&gt;&lt;/object&gt;&lt;object type=&quot;8&quot; unique_id=&quot;10430&quot;&gt;&lt;/object&gt;&lt;/object&gt;&lt;/database&gt;"/>
  <p:tag name="SECTOMILLISECCONVERTED" val="1"/>
</p:tagLst>
</file>

<file path=ppt/theme/theme1.xml><?xml version="1.0" encoding="utf-8"?>
<a:theme xmlns:a="http://schemas.openxmlformats.org/drawingml/2006/main" name="1_os-8">
  <a:themeElements>
    <a:clrScheme name="Custom 1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002060"/>
      </a:hlink>
      <a:folHlink>
        <a:srgbClr val="0070C0"/>
      </a:folHlink>
    </a:clrScheme>
    <a:fontScheme name="1_os-8">
      <a:majorFont>
        <a:latin typeface="Arial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panose="020B060403050404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panose="020B0604030504040204" pitchFamily="34" charset="0"/>
          </a:defRPr>
        </a:defPPr>
      </a:lstStyle>
    </a:lnDef>
  </a:objectDefaults>
  <a:extraClrSchemeLst>
    <a:extraClrScheme>
      <a:clrScheme name="1_os-8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os-8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os-8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os-8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os-8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os-8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os-8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os-8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17577</Words>
  <Application>WPS Presentation</Application>
  <PresentationFormat>On-screen Show (4:3)</PresentationFormat>
  <Paragraphs>595</Paragraphs>
  <Slides>27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27</vt:i4>
      </vt:variant>
    </vt:vector>
  </HeadingPairs>
  <TitlesOfParts>
    <vt:vector size="47" baseType="lpstr">
      <vt:lpstr>Arial</vt:lpstr>
      <vt:lpstr>SimSun</vt:lpstr>
      <vt:lpstr>Wingdings</vt:lpstr>
      <vt:lpstr>Verdana</vt:lpstr>
      <vt:lpstr>MS PGothic</vt:lpstr>
      <vt:lpstr>Helvetica</vt:lpstr>
      <vt:lpstr>Palatino</vt:lpstr>
      <vt:lpstr>Palatino Linotype</vt:lpstr>
      <vt:lpstr>Tahoma</vt:lpstr>
      <vt:lpstr>Courier New</vt:lpstr>
      <vt:lpstr>Webdings</vt:lpstr>
      <vt:lpstr>Times New Roman</vt:lpstr>
      <vt:lpstr>Helvetica Neue</vt:lpstr>
      <vt:lpstr>Arial</vt:lpstr>
      <vt:lpstr>Tahoma</vt:lpstr>
      <vt:lpstr>Microsoft YaHei</vt:lpstr>
      <vt:lpstr>Arial Unicode MS</vt:lpstr>
      <vt:lpstr>Cambria</vt:lpstr>
      <vt:lpstr>1_os-8</vt:lpstr>
      <vt:lpstr>Custom Design</vt:lpstr>
      <vt:lpstr>Product Management &amp; Data-Driven Solutions For Industrial Water Management</vt:lpstr>
      <vt:lpstr>Outline</vt:lpstr>
      <vt:lpstr>Introduction</vt:lpstr>
      <vt:lpstr>Problem Statement</vt:lpstr>
      <vt:lpstr>Objectives</vt:lpstr>
      <vt:lpstr>Literature Review</vt:lpstr>
      <vt:lpstr>Literature Review (cont…)</vt:lpstr>
      <vt:lpstr>Work Done (after Mid-Term Evaluation)</vt:lpstr>
      <vt:lpstr>Product Design &amp; Development</vt:lpstr>
      <vt:lpstr>Product Design &amp; Development (cont…)</vt:lpstr>
      <vt:lpstr>Product Design &amp; Development (cont…)</vt:lpstr>
      <vt:lpstr>Tools, Technologies and Languages</vt:lpstr>
      <vt:lpstr>Tools, Technologies and Languages (cont...)</vt:lpstr>
      <vt:lpstr>Data Sources and Field Inputs</vt:lpstr>
      <vt:lpstr>Implementation</vt:lpstr>
      <vt:lpstr>Implementation</vt:lpstr>
      <vt:lpstr>Experimental Results and Evaluation</vt:lpstr>
      <vt:lpstr>Client Engagement and Business Analysis</vt:lpstr>
      <vt:lpstr>Key Learnings</vt:lpstr>
      <vt:lpstr>Work Contribution and Attendance</vt:lpstr>
      <vt:lpstr>Supervisor Interactions (as mentioned in weekly log)</vt:lpstr>
      <vt:lpstr>Supervisor Interactions (cont…)</vt:lpstr>
      <vt:lpstr>Future Work</vt:lpstr>
      <vt:lpstr>Project Plan</vt:lpstr>
      <vt:lpstr>References</vt:lpstr>
      <vt:lpstr>PowerPoint 演示文稿</vt:lpstr>
      <vt:lpstr>PowerPoint 演示文稿</vt:lpstr>
    </vt:vector>
  </TitlesOfParts>
  <Company>Lucent Technologies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4:  Processes</dc:title>
  <dc:creator>Marilyn Turnamian</dc:creator>
  <cp:lastModifiedBy>Bhavya Anand</cp:lastModifiedBy>
  <cp:revision>1501</cp:revision>
  <cp:lastPrinted>2025-09-08T06:45:00Z</cp:lastPrinted>
  <dcterms:created xsi:type="dcterms:W3CDTF">2008-07-20T15:16:00Z</dcterms:created>
  <dcterms:modified xsi:type="dcterms:W3CDTF">2025-12-05T14:54:40Z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6A99C6E577B54D0A8AC9E4491F59BE4A_12</vt:lpwstr>
  </property>
  <property fmtid="{D5CDD505-2E9C-101B-9397-08002B2CF9AE}" pid="3" name="KSOProductBuildVer">
    <vt:lpwstr>1033-12.2.0.23155</vt:lpwstr>
  </property>
</Properties>
</file>